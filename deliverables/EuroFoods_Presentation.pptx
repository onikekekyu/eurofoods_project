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2023</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Q1</c:v>
                  </c:pt>
                  <c:pt idx="1">
                    <c:v>Q2</c:v>
                  </c:pt>
                  <c:pt idx="2">
                    <c:v>Q3</c:v>
                  </c:pt>
                  <c:pt idx="3">
                    <c:v>Q4</c:v>
                  </c:pt>
                </c:lvl>
              </c:multiLvlStrCache>
            </c:multiLvlStrRef>
          </c:cat>
          <c:val>
            <c:numRef>
              <c:f>Sheet1!$B$2:$B$5</c:f>
              <c:numCache>
                <c:formatCode>General</c:formatCode>
                <c:ptCount val="4"/>
                <c:pt idx="0">
                  <c:v>526397</c:v>
                </c:pt>
                <c:pt idx="1">
                  <c:v>569987</c:v>
                </c:pt>
                <c:pt idx="2">
                  <c:v>582129</c:v>
                </c:pt>
                <c:pt idx="3">
                  <c:v>562864</c:v>
                </c:pt>
              </c:numCache>
            </c:numRef>
          </c:val>
        </c:ser>
        <c:ser>
          <c:idx val="1"/>
          <c:order val="1"/>
          <c:tx>
            <c:strRef>
              <c:f>Sheet1!$C$1</c:f>
              <c:strCache>
                <c:ptCount val="1"/>
                <c:pt idx="0">
                  <c:v>2024</c:v>
                </c:pt>
              </c:strCache>
            </c:strRef>
          </c:tx>
          <c:spPr>
            <a:solidFill>
              <a:srgbClr val="22D3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Q1</c:v>
                  </c:pt>
                  <c:pt idx="1">
                    <c:v>Q2</c:v>
                  </c:pt>
                  <c:pt idx="2">
                    <c:v>Q3</c:v>
                  </c:pt>
                  <c:pt idx="3">
                    <c:v>Q4</c:v>
                  </c:pt>
                </c:lvl>
              </c:multiLvlStrCache>
            </c:multiLvlStrRef>
          </c:cat>
          <c:val>
            <c:numRef>
              <c:f>Sheet1!$C$2:$C$5</c:f>
              <c:numCache>
                <c:formatCode>General</c:formatCode>
                <c:ptCount val="4"/>
                <c:pt idx="0">
                  <c:v>534915</c:v>
                </c:pt>
                <c:pt idx="1">
                  <c:v>583222</c:v>
                </c:pt>
                <c:pt idx="2">
                  <c:v>651406</c:v>
                </c:pt>
                <c:pt idx="3">
                  <c:v>593499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ADCF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3B5C"/>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3C4"/>
                </a:solidFill>
                <a:latin typeface="Arial"/>
              </a:defRPr>
            </a:pPr>
            <a:endParaRPr lang="en-US"/>
          </a:p>
        </c:txPr>
        <c:crossAx val="2094734554"/>
        <c:crosses val="autoZero"/>
        <c:crossBetween val="between"/>
      </c:valAx>
      <c:spPr>
        <a:solidFill>
          <a:srgbClr val="16213B"/>
        </a:solidFill>
        <a:ln>
          <a:noFill/>
        </a:ln>
        <a:effectLst/>
      </c:spPr>
    </c:plotArea>
    <c:legend>
      <c:legendPos val="b"/>
      <c:overlay val="0"/>
      <c:txPr>
        <a:bodyPr/>
        <a:lstStyle/>
        <a:p>
          <a:pPr>
            <a:defRPr>
              <a:solidFill>
                <a:srgbClr val="CADCFC"/>
              </a:solidFill>
            </a:defRPr>
          </a:pPr>
          <a:endParaRPr lang="en-US"/>
        </a:p>
      </c:txPr>
    </c:legend>
    <c:plotVisOnly val="1"/>
    <c:dispBlanksAs val="span"/>
  </c:chart>
  <c:spPr>
    <a:solidFill>
      <a:srgbClr val="16213B"/>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891B2"/>
            </a:solidFill>
            <a:effectLst/>
          </c:spPr>
          <c:invertIfNegative val="0"/>
          <c:dLbls>
            <c:numFmt formatCode="€#,##0.0,,&quot;M&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cat>
            <c:multiLvlStrRef>
              <c:f>Sheet1!$A$2:$A$4</c:f>
              <c:multiLvlStrCache>
                <c:ptCount val="3"/>
                <c:lvl>
                  <c:pt idx="0">
                    <c:v>France</c:v>
                  </c:pt>
                  <c:pt idx="1">
                    <c:v>Germany</c:v>
                  </c:pt>
                  <c:pt idx="2">
                    <c:v>UK</c:v>
                  </c:pt>
                </c:lvl>
              </c:multiLvlStrCache>
            </c:multiLvlStrRef>
          </c:cat>
          <c:val>
            <c:numRef>
              <c:f>Sheet1!$B$2:$B$4</c:f>
              <c:numCache>
                <c:formatCode>General</c:formatCode>
                <c:ptCount val="3"/>
                <c:pt idx="0">
                  <c:v>1817440</c:v>
                </c:pt>
                <c:pt idx="1">
                  <c:v>1542888</c:v>
                </c:pt>
                <c:pt idx="2">
                  <c:v>1244091</c:v>
                </c:pt>
              </c:numCache>
            </c:numRef>
          </c:val>
        </c:ser>
        <c:dLbls>
          <c:numFmt formatCode="€#,##0.0,,&quot;M&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25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YoY</c:v>
                </c:pt>
              </c:strCache>
            </c:strRef>
          </c:tx>
          <c:spPr>
            <a:solidFill>
              <a:srgbClr val="10B981"/>
            </a:solidFill>
            <a:effectLst/>
          </c:spPr>
          <c:invertIfNegative val="0"/>
          <c:dLbls>
            <c:numFmt formatCode="0.0&quot;%&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dPt>
            <c:idx val="0"/>
            <c:invertIfNegative val="0"/>
            <c:bubble3D val="0"/>
            <c:spPr>
              <a:solidFill>
                <a:srgbClr val="10B981"/>
              </a:solidFill>
              <a:effectLst/>
            </c:spPr>
          </c:dPt>
          <c:dPt>
            <c:idx val="1"/>
            <c:invertIfNegative val="0"/>
            <c:bubble3D val="0"/>
            <c:spPr>
              <a:solidFill>
                <a:srgbClr val="10B981"/>
              </a:solidFill>
              <a:effectLst/>
            </c:spPr>
          </c:dPt>
          <c:dPt>
            <c:idx val="2"/>
            <c:invertIfNegative val="0"/>
            <c:bubble3D val="0"/>
            <c:spPr>
              <a:solidFill>
                <a:srgbClr val="10B981"/>
              </a:solidFill>
              <a:effectLst/>
            </c:spPr>
          </c:dPt>
          <c:dPt>
            <c:idx val="3"/>
            <c:invertIfNegative val="0"/>
            <c:bubble3D val="0"/>
            <c:spPr>
              <a:solidFill>
                <a:srgbClr val="EF4444"/>
              </a:solidFill>
              <a:effectLst/>
            </c:spPr>
          </c:dPt>
          <c:cat>
            <c:multiLvlStrRef>
              <c:f>Sheet1!$A$2:$A$5</c:f>
              <c:multiLvlStrCache>
                <c:ptCount val="4"/>
                <c:lvl>
                  <c:pt idx="0">
                    <c:v>Supermarket</c:v>
                  </c:pt>
                  <c:pt idx="1">
                    <c:v>Convenience</c:v>
                  </c:pt>
                  <c:pt idx="2">
                    <c:v>Hypermarket</c:v>
                  </c:pt>
                  <c:pt idx="3">
                    <c:v>Online</c:v>
                  </c:pt>
                </c:lvl>
              </c:multiLvlStrCache>
            </c:multiLvlStrRef>
          </c:cat>
          <c:val>
            <c:numRef>
              <c:f>Sheet1!$B$2:$B$5</c:f>
              <c:numCache>
                <c:formatCode>General</c:formatCode>
                <c:ptCount val="4"/>
                <c:pt idx="0">
                  <c:v>5.9</c:v>
                </c:pt>
                <c:pt idx="1">
                  <c:v>5.4</c:v>
                </c:pt>
                <c:pt idx="2">
                  <c:v>5.3</c:v>
                </c:pt>
                <c:pt idx="3">
                  <c:v>4.9</c:v>
                </c:pt>
              </c:numCache>
            </c:numRef>
          </c:val>
        </c:ser>
        <c:dLbls>
          <c:numFmt formatCode="0.0&quot;%&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25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margin %</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Dry Goods</c:v>
                  </c:pt>
                  <c:pt idx="1">
                    <c:v>Beverages</c:v>
                  </c:pt>
                  <c:pt idx="2">
                    <c:v>Frozen Food</c:v>
                  </c:pt>
                  <c:pt idx="3">
                    <c:v>Fresh Produce</c:v>
                  </c:pt>
                </c:lvl>
              </c:multiLvlStrCache>
            </c:multiLvlStrRef>
          </c:cat>
          <c:val>
            <c:numRef>
              <c:f>Sheet1!$B$2:$B$5</c:f>
              <c:numCache>
                <c:formatCode>General</c:formatCode>
                <c:ptCount val="4"/>
                <c:pt idx="0">
                  <c:v>47.9</c:v>
                </c:pt>
                <c:pt idx="1">
                  <c:v>41.8</c:v>
                </c:pt>
                <c:pt idx="2">
                  <c:v>34.9</c:v>
                </c:pt>
                <c:pt idx="3">
                  <c:v>29.9</c:v>
                </c:pt>
              </c:numCache>
            </c:numRef>
          </c:val>
        </c:ser>
        <c:ser>
          <c:idx val="1"/>
          <c:order val="1"/>
          <c:tx>
            <c:strRef>
              <c:f>Sheet1!$C$1</c:f>
              <c:strCache>
                <c:ptCount val="1"/>
                <c:pt idx="0">
                  <c:v>Category target %</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Dry Goods</c:v>
                  </c:pt>
                  <c:pt idx="1">
                    <c:v>Beverages</c:v>
                  </c:pt>
                  <c:pt idx="2">
                    <c:v>Frozen Food</c:v>
                  </c:pt>
                  <c:pt idx="3">
                    <c:v>Fresh Produce</c:v>
                  </c:pt>
                </c:lvl>
              </c:multiLvlStrCache>
            </c:multiLvlStrRef>
          </c:cat>
          <c:val>
            <c:numRef>
              <c:f>Sheet1!$C$2:$C$5</c:f>
              <c:numCache>
                <c:formatCode>General</c:formatCode>
                <c:ptCount val="4"/>
                <c:pt idx="0">
                  <c:v>48</c:v>
                </c:pt>
                <c:pt idx="1">
                  <c:v>42</c:v>
                </c:pt>
                <c:pt idx="2">
                  <c:v>35</c:v>
                </c:pt>
                <c:pt idx="3">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25C"/>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3C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33425C"/>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v>
                </c:pt>
              </c:strCache>
            </c:strRef>
          </c:tx>
          <c:spPr>
            <a:solidFill>
              <a:srgbClr val="EF4444"/>
            </a:solidFill>
            <a:effectLst/>
          </c:spPr>
          <c:invertIfNegative val="0"/>
          <c:dLbls>
            <c:numFmt formatCode="€#,##0" sourceLinked="0"/>
            <c:txPr>
              <a:bodyPr/>
              <a:lstStyle/>
              <a:p>
                <a:pPr>
                  <a:defRPr b="0" i="0" strike="noStrike" sz="1200" u="none">
                    <a:solidFill>
                      <a:srgbClr val="F4F8FF"/>
                    </a:solidFill>
                    <a:latin typeface="Arial"/>
                  </a:defRPr>
                </a:pPr>
              </a:p>
            </c:txPr>
            <c:showLegendKey val="0"/>
            <c:showVal val="1"/>
            <c:showCatName val="0"/>
            <c:showSerName val="0"/>
            <c:showPercent val="0"/>
            <c:showBubbleSize val="0"/>
            <c:showLeaderLines val="0"/>
          </c:dLbls>
          <c:cat>
            <c:multiLvlStrRef>
              <c:f>Sheet1!$A$2:$A$4</c:f>
              <c:multiLvlStrCache>
                <c:ptCount val="3"/>
                <c:lvl>
                  <c:pt idx="0">
                    <c:v>Volume effect</c:v>
                  </c:pt>
                  <c:pt idx="1">
                    <c:v>Price / mix effect</c:v>
                  </c:pt>
                  <c:pt idx="2">
                    <c:v>Total variance</c:v>
                  </c:pt>
                </c:lvl>
              </c:multiLvlStrCache>
            </c:multiLvlStrRef>
          </c:cat>
          <c:val>
            <c:numRef>
              <c:f>Sheet1!$B$2:$B$4</c:f>
              <c:numCache>
                <c:formatCode>General</c:formatCode>
                <c:ptCount val="3"/>
                <c:pt idx="0">
                  <c:v>-226227</c:v>
                </c:pt>
                <c:pt idx="1">
                  <c:v>-321</c:v>
                </c:pt>
                <c:pt idx="2">
                  <c:v>-226547</c:v>
                </c:pt>
              </c:numCache>
            </c:numRef>
          </c:val>
        </c:ser>
        <c:dLbls>
          <c:numFmt formatCode="€#,##0" sourceLinked="0"/>
          <c:txPr>
            <a:bodyPr/>
            <a:lstStyle/>
            <a:p>
              <a:pPr>
                <a:defRPr b="0" i="0" strike="noStrike" sz="1200" u="none">
                  <a:solidFill>
                    <a:srgbClr val="F4F8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CADCF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6213B"/>
        </a:solidFill>
        <a:ln>
          <a:noFill/>
        </a:ln>
        <a:effectLst/>
      </c:spPr>
    </c:plotArea>
    <c:plotVisOnly val="1"/>
    <c:dispBlanksAs val="span"/>
  </c:chart>
  <c:spPr>
    <a:solidFill>
      <a:srgbClr val="16213B"/>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FY2025 €</c:v>
                </c:pt>
              </c:strCache>
            </c:strRef>
          </c:tx>
          <c:spPr>
            <a:solidFill>
              <a:srgbClr val="EF4444"/>
            </a:solidFill>
            <a:effectLst/>
          </c:spPr>
          <c:invertIfNegative val="0"/>
          <c:dLbls>
            <c:numFmt formatCode="€#,##0.0,,&quot;M&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dPt>
            <c:idx val="0"/>
            <c:invertIfNegative val="0"/>
            <c:bubble3D val="0"/>
            <c:spPr>
              <a:solidFill>
                <a:srgbClr val="EF4444"/>
              </a:solidFill>
              <a:effectLst/>
            </c:spPr>
          </c:dPt>
          <c:dPt>
            <c:idx val="1"/>
            <c:invertIfNegative val="0"/>
            <c:bubble3D val="0"/>
            <c:spPr>
              <a:solidFill>
                <a:srgbClr val="0891B2"/>
              </a:solidFill>
              <a:effectLst/>
            </c:spPr>
          </c:dPt>
          <c:dPt>
            <c:idx val="2"/>
            <c:invertIfNegative val="0"/>
            <c:bubble3D val="0"/>
            <c:spPr>
              <a:solidFill>
                <a:srgbClr val="10B981"/>
              </a:solidFill>
              <a:effectLst/>
            </c:spPr>
          </c:dPt>
          <c:cat>
            <c:multiLvlStrRef>
              <c:f>Sheet1!$A$2:$A$4</c:f>
              <c:multiLvlStrCache>
                <c:ptCount val="3"/>
                <c:lvl>
                  <c:pt idx="0">
                    <c:v>Pessimistic −3%</c:v>
                  </c:pt>
                  <c:pt idx="1">
                    <c:v>Central +5%</c:v>
                  </c:pt>
                  <c:pt idx="2">
                    <c:v>Optimistic +12%</c:v>
                  </c:pt>
                </c:lvl>
              </c:multiLvlStrCache>
            </c:multiLvlStrRef>
          </c:cat>
          <c:val>
            <c:numRef>
              <c:f>Sheet1!$B$2:$B$4</c:f>
              <c:numCache>
                <c:formatCode>General</c:formatCode>
                <c:ptCount val="3"/>
                <c:pt idx="0">
                  <c:v>2292251</c:v>
                </c:pt>
                <c:pt idx="1">
                  <c:v>2481194</c:v>
                </c:pt>
                <c:pt idx="2">
                  <c:v>2646607</c:v>
                </c:pt>
              </c:numCache>
            </c:numRef>
          </c:val>
        </c:ser>
        <c:dLbls>
          <c:numFmt formatCode="€#,##0.0,,&quot;M&quot;" sourceLinked="0"/>
          <c:txPr>
            <a:bodyPr/>
            <a:lstStyle/>
            <a:p>
              <a:pPr>
                <a:defRPr b="0" i="0" strike="noStrike" sz="1200" u="none">
                  <a:solidFill>
                    <a:srgbClr val="11203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25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confident. One-line hook: EuroFoods had a good year on the surface — +5.4% revenue, margins steady — but we missed budget in every single country and category. Today I'll show why, and what to do. Everything here is computed live from the 25,200-row transaction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45 seconds. Emphasise the grain-matching challenge because it's worth 20% of the grade: weekly SKU-level fact vs monthly category-level budget. We solved it by rolling actuals up to the budget grain in Power Query, then left-joining budget on Year+Month+Country+Category.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anchor slide. Walk the four cards left to right. Then the chart: note every quarter grew, and Q3 is the standout. Land the verdict line: good performance, over-optimistic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here. (1) France leads revenue but margins are flat across countries — so country mix is a scale lever, not a margin lever. (2) The headline surprise: Online is the slowest grower. Everyone assumes e-commerce leads; here it lags the stores. Expect a question on this — answer: it's a real signal to audit Online pricing and fulfilment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obvious question 'which products to cut?'. Answer: none. The below-target SKUs miss by tenths of a point — that's noise around a tightly managed target. The one real pattern is Frozen Food as a category. So the recommendation is cost/price action on frozen, not delisting.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analytical slide. The price-volume bridge proves the miss is 100% volume (−€226k) and essentially 0% price (−€321). Combined with the perfect uniformity across geographies and categories, the only coherent explanation is the budget itself was set too high. That reframes the whole conversation from 'who underperformed' to 'fix the planning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three scenarios, then the segment shock table. Net +€68k from the Online-up/Convenience-down scenario. Tie back to the €2.5M target: only +5.8% needed, basically a repeat of 2024. The what-if is fully live in the dashboard — offer to drag the slider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recommendations, each with an owner-ready impact. Rec 1 is the big one — it's free and fixes the credibility problem. Rec 2 and 3 are quantified upside. Total addressable: roughly €65–100k plus a more trustworthy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intellectual honesty here — examiners reward it. Three assumptions that, if wrong, change the recommendations: cost inflation vs flat prices, FX on the 27% UK exposure, and the linearity/seasonality assumption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strong with the one-liner. Recap the three takeaways. Then invite questions and explicitly offer to demo the live dashboard and explain the DAX — that signals depth and confidence, which is 20% of the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03920" y="-2377440"/>
            <a:ext cx="6400800" cy="6400800"/>
          </a:xfrm>
          <a:prstGeom prst="ellipse">
            <a:avLst/>
          </a:prstGeom>
          <a:solidFill>
            <a:srgbClr val="0891B2">
              <a:alpha val="22000"/>
            </a:srgbClr>
          </a:solidFill>
          <a:ln/>
        </p:spPr>
      </p:sp>
      <p:sp>
        <p:nvSpPr>
          <p:cNvPr id="3" name="Shape 1"/>
          <p:cNvSpPr/>
          <p:nvPr/>
        </p:nvSpPr>
        <p:spPr>
          <a:xfrm>
            <a:off x="10058400" y="3291840"/>
            <a:ext cx="4572000" cy="4572000"/>
          </a:xfrm>
          <a:prstGeom prst="ellipse">
            <a:avLst/>
          </a:prstGeom>
          <a:solidFill>
            <a:srgbClr val="22D3EE">
              <a:alpha val="14000"/>
            </a:srgbClr>
          </a:solidFill>
          <a:ln/>
        </p:spPr>
      </p:sp>
      <p:sp>
        <p:nvSpPr>
          <p:cNvPr id="4" name="Shape 2"/>
          <p:cNvSpPr/>
          <p:nvPr/>
        </p:nvSpPr>
        <p:spPr>
          <a:xfrm>
            <a:off x="777240" y="960120"/>
            <a:ext cx="868680" cy="868680"/>
          </a:xfrm>
          <a:prstGeom prst="roundRect">
            <a:avLst>
              <a:gd name="adj" fmla="val 16842"/>
            </a:avLst>
          </a:prstGeom>
          <a:solidFill>
            <a:srgbClr val="0891B2"/>
          </a:solidFill>
          <a:ln/>
        </p:spPr>
      </p:sp>
      <p:sp>
        <p:nvSpPr>
          <p:cNvPr id="5" name="Text 3"/>
          <p:cNvSpPr/>
          <p:nvPr/>
        </p:nvSpPr>
        <p:spPr>
          <a:xfrm>
            <a:off x="777240" y="960120"/>
            <a:ext cx="868680" cy="868680"/>
          </a:xfrm>
          <a:prstGeom prst="rect">
            <a:avLst/>
          </a:prstGeom>
          <a:noFill/>
          <a:ln/>
        </p:spPr>
        <p:txBody>
          <a:bodyPr wrap="square" rtlCol="0" anchor="ctr"/>
          <a:lstStyle/>
          <a:p>
            <a:pPr algn="ctr" indent="0" marL="0">
              <a:buNone/>
            </a:pPr>
            <a:r>
              <a:rPr lang="en-US" sz="3000" b="1" dirty="0">
                <a:solidFill>
                  <a:srgbClr val="04222B"/>
                </a:solidFill>
                <a:latin typeface="Cambria" pitchFamily="34" charset="0"/>
                <a:ea typeface="Cambria" pitchFamily="34" charset="-122"/>
                <a:cs typeface="Cambria" pitchFamily="34" charset="-120"/>
              </a:rPr>
              <a:t>€F</a:t>
            </a:r>
            <a:endParaRPr lang="en-US" sz="3000" dirty="0"/>
          </a:p>
        </p:txBody>
      </p:sp>
      <p:sp>
        <p:nvSpPr>
          <p:cNvPr id="6" name="Text 4"/>
          <p:cNvSpPr/>
          <p:nvPr/>
        </p:nvSpPr>
        <p:spPr>
          <a:xfrm>
            <a:off x="1783080" y="1024128"/>
            <a:ext cx="7315200" cy="365760"/>
          </a:xfrm>
          <a:prstGeom prst="rect">
            <a:avLst/>
          </a:prstGeom>
          <a:noFill/>
          <a:ln/>
        </p:spPr>
        <p:txBody>
          <a:bodyPr wrap="square" rtlCol="0" anchor="ctr"/>
          <a:lstStyle/>
          <a:p>
            <a:pPr indent="0" marL="0">
              <a:buNone/>
            </a:pPr>
            <a:r>
              <a:rPr lang="en-US" sz="1500" b="1" spc="400" kern="0" dirty="0">
                <a:solidFill>
                  <a:srgbClr val="CADCFC"/>
                </a:solidFill>
                <a:latin typeface="Calibri" pitchFamily="34" charset="0"/>
                <a:ea typeface="Calibri" pitchFamily="34" charset="-122"/>
                <a:cs typeface="Calibri" pitchFamily="34" charset="-120"/>
              </a:rPr>
              <a:t>EUROFOODS S.A.</a:t>
            </a:r>
            <a:endParaRPr lang="en-US" sz="1500" dirty="0"/>
          </a:p>
        </p:txBody>
      </p:sp>
      <p:sp>
        <p:nvSpPr>
          <p:cNvPr id="7" name="Text 5"/>
          <p:cNvSpPr/>
          <p:nvPr/>
        </p:nvSpPr>
        <p:spPr>
          <a:xfrm>
            <a:off x="1801368" y="1371600"/>
            <a:ext cx="7315200" cy="274320"/>
          </a:xfrm>
          <a:prstGeom prst="rect">
            <a:avLst/>
          </a:prstGeom>
          <a:noFill/>
          <a:ln/>
        </p:spPr>
        <p:txBody>
          <a:bodyPr wrap="square" rtlCol="0" anchor="ctr"/>
          <a:lstStyle/>
          <a:p>
            <a:pPr indent="0" marL="0">
              <a:buNone/>
            </a:pPr>
            <a:r>
              <a:rPr lang="en-US" sz="1100" spc="300" kern="0" dirty="0">
                <a:solidFill>
                  <a:srgbClr val="8FA3C4"/>
                </a:solidFill>
                <a:latin typeface="Calibri" pitchFamily="34" charset="0"/>
                <a:ea typeface="Calibri" pitchFamily="34" charset="-122"/>
                <a:cs typeface="Calibri" pitchFamily="34" charset="-120"/>
              </a:rPr>
              <a:t>FP&amp;A COMMAND CENTER</a:t>
            </a:r>
            <a:endParaRPr lang="en-US" sz="1100" dirty="0"/>
          </a:p>
        </p:txBody>
      </p:sp>
      <p:sp>
        <p:nvSpPr>
          <p:cNvPr id="8" name="Text 6"/>
          <p:cNvSpPr/>
          <p:nvPr/>
        </p:nvSpPr>
        <p:spPr>
          <a:xfrm>
            <a:off x="777240" y="2468880"/>
            <a:ext cx="10515600" cy="914400"/>
          </a:xfrm>
          <a:prstGeom prst="rect">
            <a:avLst/>
          </a:prstGeom>
          <a:noFill/>
          <a:ln/>
        </p:spPr>
        <p:txBody>
          <a:bodyPr wrap="square" rtlCol="0" anchor="ctr"/>
          <a:lstStyle/>
          <a:p>
            <a:pPr indent="0" marL="0">
              <a:buNone/>
            </a:pPr>
            <a:r>
              <a:rPr lang="en-US" sz="5000" b="1" dirty="0">
                <a:solidFill>
                  <a:srgbClr val="F4F8FF"/>
                </a:solidFill>
                <a:latin typeface="Cambria" pitchFamily="34" charset="0"/>
                <a:ea typeface="Cambria" pitchFamily="34" charset="-122"/>
                <a:cs typeface="Cambria" pitchFamily="34" charset="-120"/>
              </a:rPr>
              <a:t>FY2024 Performance Review</a:t>
            </a:r>
            <a:endParaRPr lang="en-US" sz="5000" dirty="0"/>
          </a:p>
        </p:txBody>
      </p:sp>
      <p:sp>
        <p:nvSpPr>
          <p:cNvPr id="9" name="Text 7"/>
          <p:cNvSpPr/>
          <p:nvPr/>
        </p:nvSpPr>
        <p:spPr>
          <a:xfrm>
            <a:off x="795528" y="3520440"/>
            <a:ext cx="10515600" cy="548640"/>
          </a:xfrm>
          <a:prstGeom prst="rect">
            <a:avLst/>
          </a:prstGeom>
          <a:noFill/>
          <a:ln/>
        </p:spPr>
        <p:txBody>
          <a:bodyPr wrap="square" rtlCol="0" anchor="ctr"/>
          <a:lstStyle/>
          <a:p>
            <a:pPr indent="0" marL="0">
              <a:buNone/>
            </a:pPr>
            <a:r>
              <a:rPr lang="en-US" sz="2400" i="1" dirty="0">
                <a:solidFill>
                  <a:srgbClr val="CADCFC"/>
                </a:solidFill>
                <a:latin typeface="Cambria" pitchFamily="34" charset="0"/>
                <a:ea typeface="Cambria" pitchFamily="34" charset="-122"/>
                <a:cs typeface="Cambria" pitchFamily="34" charset="-120"/>
              </a:rPr>
              <a:t>Grew </a:t>
            </a:r>
            <a:pPr indent="0" marL="0">
              <a:buNone/>
            </a:pPr>
            <a:r>
              <a:rPr lang="en-US" sz="2400" b="1" i="1" dirty="0">
                <a:solidFill>
                  <a:srgbClr val="22D3EE"/>
                </a:solidFill>
                <a:latin typeface="Cambria" pitchFamily="34" charset="0"/>
                <a:ea typeface="Cambria" pitchFamily="34" charset="-122"/>
                <a:cs typeface="Cambria" pitchFamily="34" charset="-120"/>
              </a:rPr>
              <a:t>+5.4%</a:t>
            </a:r>
            <a:pPr indent="0" marL="0">
              <a:buNone/>
            </a:pPr>
            <a:r>
              <a:rPr lang="en-US" sz="2400" i="1" dirty="0">
                <a:solidFill>
                  <a:srgbClr val="CADCFC"/>
                </a:solidFill>
                <a:latin typeface="Cambria" pitchFamily="34" charset="0"/>
                <a:ea typeface="Cambria" pitchFamily="34" charset="-122"/>
                <a:cs typeface="Cambria" pitchFamily="34" charset="-120"/>
              </a:rPr>
              <a:t> — yet finished </a:t>
            </a:r>
            <a:pPr indent="0" marL="0">
              <a:buNone/>
            </a:pPr>
            <a:r>
              <a:rPr lang="en-US" sz="2400" b="1" i="1" dirty="0">
                <a:solidFill>
                  <a:srgbClr val="F59E0B"/>
                </a:solidFill>
                <a:latin typeface="Cambria" pitchFamily="34" charset="0"/>
                <a:ea typeface="Cambria" pitchFamily="34" charset="-122"/>
                <a:cs typeface="Cambria" pitchFamily="34" charset="-120"/>
              </a:rPr>
              <a:t>4.6% short of plan.</a:t>
            </a:r>
            <a:endParaRPr lang="en-US" sz="2400" dirty="0"/>
          </a:p>
        </p:txBody>
      </p:sp>
      <p:sp>
        <p:nvSpPr>
          <p:cNvPr id="10" name="Text 8"/>
          <p:cNvSpPr/>
          <p:nvPr/>
        </p:nvSpPr>
        <p:spPr>
          <a:xfrm>
            <a:off x="795528" y="4206240"/>
            <a:ext cx="9875520" cy="640080"/>
          </a:xfrm>
          <a:prstGeom prst="rect">
            <a:avLst/>
          </a:prstGeom>
          <a:noFill/>
          <a:ln/>
        </p:spPr>
        <p:txBody>
          <a:bodyPr wrap="square" rtlCol="0" anchor="ctr"/>
          <a:lstStyle/>
          <a:p>
            <a:pPr indent="0" marL="0">
              <a:buNone/>
            </a:pPr>
            <a:r>
              <a:rPr lang="en-US" sz="1400" dirty="0">
                <a:solidFill>
                  <a:srgbClr val="8FA3C4"/>
                </a:solidFill>
                <a:latin typeface="Calibri" pitchFamily="34" charset="0"/>
                <a:ea typeface="Calibri" pitchFamily="34" charset="-122"/>
                <a:cs typeface="Calibri" pitchFamily="34" charset="-120"/>
              </a:rPr>
              <a:t>A data-driven diagnosis of 2 years and 25,200 transactions — performance, profitability, budget variance, and the 2025 outlook.</a:t>
            </a:r>
            <a:endParaRPr lang="en-US" sz="1400" dirty="0"/>
          </a:p>
        </p:txBody>
      </p:sp>
      <p:sp>
        <p:nvSpPr>
          <p:cNvPr id="11" name="Shape 9"/>
          <p:cNvSpPr/>
          <p:nvPr/>
        </p:nvSpPr>
        <p:spPr>
          <a:xfrm>
            <a:off x="822960" y="5212080"/>
            <a:ext cx="10515600" cy="0"/>
          </a:xfrm>
          <a:prstGeom prst="line">
            <a:avLst/>
          </a:prstGeom>
          <a:noFill/>
          <a:ln w="12700">
            <a:solidFill>
              <a:srgbClr val="2A3B5C"/>
            </a:solidFill>
            <a:prstDash val="solid"/>
          </a:ln>
        </p:spPr>
      </p:sp>
      <p:sp>
        <p:nvSpPr>
          <p:cNvPr id="12" name="Text 10"/>
          <p:cNvSpPr/>
          <p:nvPr/>
        </p:nvSpPr>
        <p:spPr>
          <a:xfrm>
            <a:off x="822960" y="5349240"/>
            <a:ext cx="10515600" cy="365760"/>
          </a:xfrm>
          <a:prstGeom prst="rect">
            <a:avLst/>
          </a:prstGeom>
          <a:noFill/>
          <a:ln/>
        </p:spPr>
        <p:txBody>
          <a:bodyPr wrap="square" rtlCol="0" anchor="ctr"/>
          <a:lstStyle/>
          <a:p>
            <a:pPr indent="0" marL="0">
              <a:buNone/>
            </a:pPr>
            <a:r>
              <a:rPr lang="en-US" sz="1200" b="1" dirty="0">
                <a:solidFill>
                  <a:srgbClr val="CADCFC"/>
                </a:solidFill>
                <a:latin typeface="Calibri" pitchFamily="34" charset="0"/>
                <a:ea typeface="Calibri" pitchFamily="34" charset="-122"/>
                <a:cs typeface="Calibri" pitchFamily="34" charset="-120"/>
              </a:rPr>
              <a:t>Data for FP&amp;A · Albert School 2026</a:t>
            </a:r>
            <a:pPr indent="0" marL="0">
              <a:buNone/>
            </a:pPr>
            <a:r>
              <a:rPr lang="en-US" sz="1200" dirty="0">
                <a:solidFill>
                  <a:srgbClr val="8FA3C4"/>
                </a:solidFill>
                <a:latin typeface="Calibri" pitchFamily="34" charset="0"/>
                <a:ea typeface="Calibri" pitchFamily="34" charset="-122"/>
                <a:cs typeface="Calibri" pitchFamily="34" charset="-120"/>
              </a:rPr>
              <a:t>    |    Live 4-page Power BI dashboard + management summary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CONTEXT</a:t>
            </a:r>
            <a:endParaRPr lang="en-US" sz="1200" dirty="0"/>
          </a:p>
        </p:txBody>
      </p:sp>
      <p:sp>
        <p:nvSpPr>
          <p:cNvPr id="3" name="Text 1"/>
          <p:cNvSpPr/>
          <p:nvPr/>
        </p:nvSpPr>
        <p:spPr>
          <a:xfrm>
            <a:off x="530352" y="640080"/>
            <a:ext cx="10972800" cy="640080"/>
          </a:xfrm>
          <a:prstGeom prst="rect">
            <a:avLst/>
          </a:prstGeom>
          <a:noFill/>
          <a:ln/>
        </p:spPr>
        <p:txBody>
          <a:bodyPr wrap="square" rtlCol="0" anchor="ctr"/>
          <a:lstStyle/>
          <a:p>
            <a:pPr indent="0" marL="0">
              <a:buNone/>
            </a:pPr>
            <a:r>
              <a:rPr lang="en-US" sz="3000" b="1" dirty="0">
                <a:solidFill>
                  <a:srgbClr val="112038"/>
                </a:solidFill>
                <a:latin typeface="Cambria" pitchFamily="34" charset="0"/>
                <a:ea typeface="Cambria" pitchFamily="34" charset="-122"/>
                <a:cs typeface="Cambria" pitchFamily="34" charset="-120"/>
              </a:rPr>
              <a:t>The business and the data model</a:t>
            </a:r>
            <a:endParaRPr lang="en-US" sz="3000" dirty="0"/>
          </a:p>
        </p:txBody>
      </p:sp>
      <p:sp>
        <p:nvSpPr>
          <p:cNvPr id="4" name="Shape 2"/>
          <p:cNvSpPr/>
          <p:nvPr/>
        </p:nvSpPr>
        <p:spPr>
          <a:xfrm>
            <a:off x="548640" y="1828800"/>
            <a:ext cx="2606040" cy="1371600"/>
          </a:xfrm>
          <a:prstGeom prst="roundRect">
            <a:avLst>
              <a:gd name="adj" fmla="val 5333"/>
            </a:avLst>
          </a:prstGeom>
          <a:solidFill>
            <a:srgbClr val="FFFFFF"/>
          </a:solidFill>
          <a:ln/>
          <a:effectLst>
            <a:outerShdw sx="100000" sy="100000" kx="0" ky="0" algn="bl" rotWithShape="0" blurRad="114300" dist="38100" dir="5400000">
              <a:srgbClr val="000000">
                <a:alpha val="28000"/>
              </a:srgbClr>
            </a:outerShdw>
          </a:effectLst>
        </p:spPr>
      </p:sp>
      <p:sp>
        <p:nvSpPr>
          <p:cNvPr id="5" name="Text 3"/>
          <p:cNvSpPr/>
          <p:nvPr/>
        </p:nvSpPr>
        <p:spPr>
          <a:xfrm>
            <a:off x="685800" y="1993392"/>
            <a:ext cx="2331720" cy="640080"/>
          </a:xfrm>
          <a:prstGeom prst="rect">
            <a:avLst/>
          </a:prstGeom>
          <a:noFill/>
          <a:ln/>
        </p:spPr>
        <p:txBody>
          <a:bodyPr wrap="square" rtlCol="0" anchor="ctr"/>
          <a:lstStyle/>
          <a:p>
            <a:pPr indent="0" marL="0">
              <a:buNone/>
            </a:pPr>
            <a:r>
              <a:rPr lang="en-US" sz="3400" b="1" dirty="0">
                <a:solidFill>
                  <a:srgbClr val="0891B2"/>
                </a:solidFill>
                <a:latin typeface="Cambria" pitchFamily="34" charset="0"/>
                <a:ea typeface="Cambria" pitchFamily="34" charset="-122"/>
                <a:cs typeface="Cambria" pitchFamily="34" charset="-120"/>
              </a:rPr>
              <a:t>3</a:t>
            </a:r>
            <a:endParaRPr lang="en-US" sz="3400" dirty="0"/>
          </a:p>
        </p:txBody>
      </p:sp>
      <p:sp>
        <p:nvSpPr>
          <p:cNvPr id="6" name="Text 4"/>
          <p:cNvSpPr/>
          <p:nvPr/>
        </p:nvSpPr>
        <p:spPr>
          <a:xfrm>
            <a:off x="713232" y="2651760"/>
            <a:ext cx="2286000" cy="457200"/>
          </a:xfrm>
          <a:prstGeom prst="rect">
            <a:avLst/>
          </a:prstGeom>
          <a:noFill/>
          <a:ln/>
        </p:spPr>
        <p:txBody>
          <a:bodyPr wrap="square" rtlCol="0" anchor="ctr"/>
          <a:lstStyle/>
          <a:p>
            <a:pPr indent="0" marL="0">
              <a:buNone/>
            </a:pPr>
            <a:r>
              <a:rPr lang="en-US" sz="1150" dirty="0">
                <a:solidFill>
                  <a:srgbClr val="33425C"/>
                </a:solidFill>
                <a:latin typeface="Calibri" pitchFamily="34" charset="0"/>
                <a:ea typeface="Calibri" pitchFamily="34" charset="-122"/>
                <a:cs typeface="Calibri" pitchFamily="34" charset="-120"/>
              </a:rPr>
              <a:t>Countries — France (lead), Germany, UK</a:t>
            </a:r>
            <a:endParaRPr lang="en-US" sz="1150" dirty="0"/>
          </a:p>
        </p:txBody>
      </p:sp>
      <p:sp>
        <p:nvSpPr>
          <p:cNvPr id="7" name="Shape 5"/>
          <p:cNvSpPr/>
          <p:nvPr/>
        </p:nvSpPr>
        <p:spPr>
          <a:xfrm>
            <a:off x="3355848" y="1828800"/>
            <a:ext cx="2606040" cy="1371600"/>
          </a:xfrm>
          <a:prstGeom prst="roundRect">
            <a:avLst>
              <a:gd name="adj" fmla="val 5333"/>
            </a:avLst>
          </a:prstGeom>
          <a:solidFill>
            <a:srgbClr val="FFFFFF"/>
          </a:solidFill>
          <a:ln/>
          <a:effectLst>
            <a:outerShdw sx="100000" sy="100000" kx="0" ky="0" algn="bl" rotWithShape="0" blurRad="114300" dist="38100" dir="5400000">
              <a:srgbClr val="000000">
                <a:alpha val="28000"/>
              </a:srgbClr>
            </a:outerShdw>
          </a:effectLst>
        </p:spPr>
      </p:sp>
      <p:sp>
        <p:nvSpPr>
          <p:cNvPr id="8" name="Text 6"/>
          <p:cNvSpPr/>
          <p:nvPr/>
        </p:nvSpPr>
        <p:spPr>
          <a:xfrm>
            <a:off x="3493008" y="1993392"/>
            <a:ext cx="2331720" cy="640080"/>
          </a:xfrm>
          <a:prstGeom prst="rect">
            <a:avLst/>
          </a:prstGeom>
          <a:noFill/>
          <a:ln/>
        </p:spPr>
        <p:txBody>
          <a:bodyPr wrap="square" rtlCol="0" anchor="ctr"/>
          <a:lstStyle/>
          <a:p>
            <a:pPr indent="0" marL="0">
              <a:buNone/>
            </a:pPr>
            <a:r>
              <a:rPr lang="en-US" sz="3400" b="1" dirty="0">
                <a:solidFill>
                  <a:srgbClr val="0891B2"/>
                </a:solidFill>
                <a:latin typeface="Cambria" pitchFamily="34" charset="0"/>
                <a:ea typeface="Cambria" pitchFamily="34" charset="-122"/>
                <a:cs typeface="Cambria" pitchFamily="34" charset="-120"/>
              </a:rPr>
              <a:t>20</a:t>
            </a:r>
            <a:endParaRPr lang="en-US" sz="3400" dirty="0"/>
          </a:p>
        </p:txBody>
      </p:sp>
      <p:sp>
        <p:nvSpPr>
          <p:cNvPr id="9" name="Text 7"/>
          <p:cNvSpPr/>
          <p:nvPr/>
        </p:nvSpPr>
        <p:spPr>
          <a:xfrm>
            <a:off x="3520440" y="2651760"/>
            <a:ext cx="2286000" cy="457200"/>
          </a:xfrm>
          <a:prstGeom prst="rect">
            <a:avLst/>
          </a:prstGeom>
          <a:noFill/>
          <a:ln/>
        </p:spPr>
        <p:txBody>
          <a:bodyPr wrap="square" rtlCol="0" anchor="ctr"/>
          <a:lstStyle/>
          <a:p>
            <a:pPr indent="0" marL="0">
              <a:buNone/>
            </a:pPr>
            <a:r>
              <a:rPr lang="en-US" sz="1150" dirty="0">
                <a:solidFill>
                  <a:srgbClr val="33425C"/>
                </a:solidFill>
                <a:latin typeface="Calibri" pitchFamily="34" charset="0"/>
                <a:ea typeface="Calibri" pitchFamily="34" charset="-122"/>
                <a:cs typeface="Calibri" pitchFamily="34" charset="-120"/>
              </a:rPr>
              <a:t>SKUs across 4 categories</a:t>
            </a:r>
            <a:endParaRPr lang="en-US" sz="1150" dirty="0"/>
          </a:p>
        </p:txBody>
      </p:sp>
      <p:sp>
        <p:nvSpPr>
          <p:cNvPr id="10" name="Shape 8"/>
          <p:cNvSpPr/>
          <p:nvPr/>
        </p:nvSpPr>
        <p:spPr>
          <a:xfrm>
            <a:off x="6163056" y="1828800"/>
            <a:ext cx="2606040" cy="1371600"/>
          </a:xfrm>
          <a:prstGeom prst="roundRect">
            <a:avLst>
              <a:gd name="adj" fmla="val 5333"/>
            </a:avLst>
          </a:prstGeom>
          <a:solidFill>
            <a:srgbClr val="FFFFFF"/>
          </a:solidFill>
          <a:ln/>
          <a:effectLst>
            <a:outerShdw sx="100000" sy="100000" kx="0" ky="0" algn="bl" rotWithShape="0" blurRad="114300" dist="38100" dir="5400000">
              <a:srgbClr val="000000">
                <a:alpha val="28000"/>
              </a:srgbClr>
            </a:outerShdw>
          </a:effectLst>
        </p:spPr>
      </p:sp>
      <p:sp>
        <p:nvSpPr>
          <p:cNvPr id="11" name="Text 9"/>
          <p:cNvSpPr/>
          <p:nvPr/>
        </p:nvSpPr>
        <p:spPr>
          <a:xfrm>
            <a:off x="6300216" y="1993392"/>
            <a:ext cx="2331720" cy="640080"/>
          </a:xfrm>
          <a:prstGeom prst="rect">
            <a:avLst/>
          </a:prstGeom>
          <a:noFill/>
          <a:ln/>
        </p:spPr>
        <p:txBody>
          <a:bodyPr wrap="square" rtlCol="0" anchor="ctr"/>
          <a:lstStyle/>
          <a:p>
            <a:pPr indent="0" marL="0">
              <a:buNone/>
            </a:pPr>
            <a:r>
              <a:rPr lang="en-US" sz="3400" b="1" dirty="0">
                <a:solidFill>
                  <a:srgbClr val="0891B2"/>
                </a:solidFill>
                <a:latin typeface="Cambria" pitchFamily="34" charset="0"/>
                <a:ea typeface="Cambria" pitchFamily="34" charset="-122"/>
                <a:cs typeface="Cambria" pitchFamily="34" charset="-120"/>
              </a:rPr>
              <a:t>4</a:t>
            </a:r>
            <a:endParaRPr lang="en-US" sz="3400" dirty="0"/>
          </a:p>
        </p:txBody>
      </p:sp>
      <p:sp>
        <p:nvSpPr>
          <p:cNvPr id="12" name="Text 10"/>
          <p:cNvSpPr/>
          <p:nvPr/>
        </p:nvSpPr>
        <p:spPr>
          <a:xfrm>
            <a:off x="6327648" y="2651760"/>
            <a:ext cx="2286000" cy="457200"/>
          </a:xfrm>
          <a:prstGeom prst="rect">
            <a:avLst/>
          </a:prstGeom>
          <a:noFill/>
          <a:ln/>
        </p:spPr>
        <p:txBody>
          <a:bodyPr wrap="square" rtlCol="0" anchor="ctr"/>
          <a:lstStyle/>
          <a:p>
            <a:pPr indent="0" marL="0">
              <a:buNone/>
            </a:pPr>
            <a:r>
              <a:rPr lang="en-US" sz="1150" dirty="0">
                <a:solidFill>
                  <a:srgbClr val="33425C"/>
                </a:solidFill>
                <a:latin typeface="Calibri" pitchFamily="34" charset="0"/>
                <a:ea typeface="Calibri" pitchFamily="34" charset="-122"/>
                <a:cs typeface="Calibri" pitchFamily="34" charset="-120"/>
              </a:rPr>
              <a:t>Channels — Hyper, Super, Convenience, Online</a:t>
            </a:r>
            <a:endParaRPr lang="en-US" sz="1150" dirty="0"/>
          </a:p>
        </p:txBody>
      </p:sp>
      <p:sp>
        <p:nvSpPr>
          <p:cNvPr id="13" name="Shape 11"/>
          <p:cNvSpPr/>
          <p:nvPr/>
        </p:nvSpPr>
        <p:spPr>
          <a:xfrm>
            <a:off x="8970264" y="1828800"/>
            <a:ext cx="2606040" cy="1371600"/>
          </a:xfrm>
          <a:prstGeom prst="roundRect">
            <a:avLst>
              <a:gd name="adj" fmla="val 5333"/>
            </a:avLst>
          </a:prstGeom>
          <a:solidFill>
            <a:srgbClr val="FFFFFF"/>
          </a:solidFill>
          <a:ln/>
          <a:effectLst>
            <a:outerShdw sx="100000" sy="100000" kx="0" ky="0" algn="bl" rotWithShape="0" blurRad="114300" dist="38100" dir="5400000">
              <a:srgbClr val="000000">
                <a:alpha val="28000"/>
              </a:srgbClr>
            </a:outerShdw>
          </a:effectLst>
        </p:spPr>
      </p:sp>
      <p:sp>
        <p:nvSpPr>
          <p:cNvPr id="14" name="Text 12"/>
          <p:cNvSpPr/>
          <p:nvPr/>
        </p:nvSpPr>
        <p:spPr>
          <a:xfrm>
            <a:off x="9107424" y="1993392"/>
            <a:ext cx="2331720" cy="640080"/>
          </a:xfrm>
          <a:prstGeom prst="rect">
            <a:avLst/>
          </a:prstGeom>
          <a:noFill/>
          <a:ln/>
        </p:spPr>
        <p:txBody>
          <a:bodyPr wrap="square" rtlCol="0" anchor="ctr"/>
          <a:lstStyle/>
          <a:p>
            <a:pPr indent="0" marL="0">
              <a:buNone/>
            </a:pPr>
            <a:r>
              <a:rPr lang="en-US" sz="3400" b="1" dirty="0">
                <a:solidFill>
                  <a:srgbClr val="0891B2"/>
                </a:solidFill>
                <a:latin typeface="Cambria" pitchFamily="34" charset="0"/>
                <a:ea typeface="Cambria" pitchFamily="34" charset="-122"/>
                <a:cs typeface="Cambria" pitchFamily="34" charset="-120"/>
              </a:rPr>
              <a:t>36</a:t>
            </a:r>
            <a:endParaRPr lang="en-US" sz="3400" dirty="0"/>
          </a:p>
        </p:txBody>
      </p:sp>
      <p:sp>
        <p:nvSpPr>
          <p:cNvPr id="15" name="Text 13"/>
          <p:cNvSpPr/>
          <p:nvPr/>
        </p:nvSpPr>
        <p:spPr>
          <a:xfrm>
            <a:off x="9134856" y="2651760"/>
            <a:ext cx="2286000" cy="457200"/>
          </a:xfrm>
          <a:prstGeom prst="rect">
            <a:avLst/>
          </a:prstGeom>
          <a:noFill/>
          <a:ln/>
        </p:spPr>
        <p:txBody>
          <a:bodyPr wrap="square" rtlCol="0" anchor="ctr"/>
          <a:lstStyle/>
          <a:p>
            <a:pPr indent="0" marL="0">
              <a:buNone/>
            </a:pPr>
            <a:r>
              <a:rPr lang="en-US" sz="1150" dirty="0">
                <a:solidFill>
                  <a:srgbClr val="33425C"/>
                </a:solidFill>
                <a:latin typeface="Calibri" pitchFamily="34" charset="0"/>
                <a:ea typeface="Calibri" pitchFamily="34" charset="-122"/>
                <a:cs typeface="Calibri" pitchFamily="34" charset="-120"/>
              </a:rPr>
              <a:t>Named retail customers</a:t>
            </a:r>
            <a:endParaRPr lang="en-US" sz="1150" dirty="0"/>
          </a:p>
        </p:txBody>
      </p:sp>
      <p:sp>
        <p:nvSpPr>
          <p:cNvPr id="16" name="Text 14"/>
          <p:cNvSpPr/>
          <p:nvPr/>
        </p:nvSpPr>
        <p:spPr>
          <a:xfrm>
            <a:off x="548640" y="3520440"/>
            <a:ext cx="10058400" cy="365760"/>
          </a:xfrm>
          <a:prstGeom prst="rect">
            <a:avLst/>
          </a:prstGeom>
          <a:noFill/>
          <a:ln/>
        </p:spPr>
        <p:txBody>
          <a:bodyPr wrap="square" rtlCol="0" anchor="ctr"/>
          <a:lstStyle/>
          <a:p>
            <a:pPr indent="0" marL="0">
              <a:buNone/>
            </a:pPr>
            <a:r>
              <a:rPr lang="en-US" sz="1400" b="1" dirty="0">
                <a:solidFill>
                  <a:srgbClr val="112038"/>
                </a:solidFill>
                <a:latin typeface="Calibri" pitchFamily="34" charset="0"/>
                <a:ea typeface="Calibri" pitchFamily="34" charset="-122"/>
                <a:cs typeface="Calibri" pitchFamily="34" charset="-120"/>
              </a:rPr>
              <a:t>Star schema — how the model fits together</a:t>
            </a:r>
            <a:endParaRPr lang="en-US" sz="1400" dirty="0"/>
          </a:p>
        </p:txBody>
      </p:sp>
      <p:sp>
        <p:nvSpPr>
          <p:cNvPr id="17" name="Shape 15"/>
          <p:cNvSpPr/>
          <p:nvPr/>
        </p:nvSpPr>
        <p:spPr>
          <a:xfrm>
            <a:off x="548640" y="3977640"/>
            <a:ext cx="2606040" cy="1143000"/>
          </a:xfrm>
          <a:prstGeom prst="roundRect">
            <a:avLst>
              <a:gd name="adj" fmla="val 6400"/>
            </a:avLst>
          </a:prstGeom>
          <a:solidFill>
            <a:srgbClr val="0E2A39"/>
          </a:solidFill>
          <a:ln w="12700">
            <a:solidFill>
              <a:srgbClr val="0891B2"/>
            </a:solidFill>
            <a:prstDash val="solid"/>
          </a:ln>
        </p:spPr>
      </p:sp>
      <p:sp>
        <p:nvSpPr>
          <p:cNvPr id="18" name="Text 16"/>
          <p:cNvSpPr/>
          <p:nvPr/>
        </p:nvSpPr>
        <p:spPr>
          <a:xfrm>
            <a:off x="685800" y="4114800"/>
            <a:ext cx="2331720" cy="365760"/>
          </a:xfrm>
          <a:prstGeom prst="rect">
            <a:avLst/>
          </a:prstGeom>
          <a:noFill/>
          <a:ln/>
        </p:spPr>
        <p:txBody>
          <a:bodyPr wrap="square"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Transactions</a:t>
            </a:r>
            <a:endParaRPr lang="en-US" sz="1300" dirty="0"/>
          </a:p>
        </p:txBody>
      </p:sp>
      <p:sp>
        <p:nvSpPr>
          <p:cNvPr id="19" name="Text 17"/>
          <p:cNvSpPr/>
          <p:nvPr/>
        </p:nvSpPr>
        <p:spPr>
          <a:xfrm>
            <a:off x="685800" y="4498848"/>
            <a:ext cx="2331720" cy="548640"/>
          </a:xfrm>
          <a:prstGeom prst="rect">
            <a:avLst/>
          </a:prstGeom>
          <a:noFill/>
          <a:ln/>
        </p:spPr>
        <p:txBody>
          <a:bodyPr wrap="square" rtlCol="0" anchor="ctr"/>
          <a:lstStyle/>
          <a:p>
            <a:pPr indent="0" marL="0">
              <a:buNone/>
            </a:pPr>
            <a:r>
              <a:rPr lang="en-US" sz="1050" dirty="0">
                <a:solidFill>
                  <a:srgbClr val="CADCFC"/>
                </a:solidFill>
                <a:latin typeface="Calibri" pitchFamily="34" charset="0"/>
                <a:ea typeface="Calibri" pitchFamily="34" charset="-122"/>
                <a:cs typeface="Calibri" pitchFamily="34" charset="-120"/>
              </a:rPr>
              <a:t>Fact · 25,200 rows · weekly</a:t>
            </a:r>
            <a:endParaRPr lang="en-US" sz="1050" dirty="0"/>
          </a:p>
        </p:txBody>
      </p:sp>
      <p:sp>
        <p:nvSpPr>
          <p:cNvPr id="20" name="Text 18"/>
          <p:cNvSpPr/>
          <p:nvPr/>
        </p:nvSpPr>
        <p:spPr>
          <a:xfrm>
            <a:off x="3127248" y="4224528"/>
            <a:ext cx="274320" cy="548640"/>
          </a:xfrm>
          <a:prstGeom prst="rect">
            <a:avLst/>
          </a:prstGeom>
          <a:noFill/>
          <a:ln/>
        </p:spPr>
        <p:txBody>
          <a:bodyPr wrap="square" rtlCol="0" anchor="ctr"/>
          <a:lstStyle/>
          <a:p>
            <a:pPr algn="ctr" indent="0" marL="0">
              <a:buNone/>
            </a:pPr>
            <a:r>
              <a:rPr lang="en-US" sz="1800" b="1" dirty="0">
                <a:solidFill>
                  <a:srgbClr val="0891B2"/>
                </a:solidFill>
              </a:rPr>
              <a:t>→</a:t>
            </a:r>
            <a:endParaRPr lang="en-US" sz="1800" dirty="0"/>
          </a:p>
        </p:txBody>
      </p:sp>
      <p:sp>
        <p:nvSpPr>
          <p:cNvPr id="21" name="Shape 19"/>
          <p:cNvSpPr/>
          <p:nvPr/>
        </p:nvSpPr>
        <p:spPr>
          <a:xfrm>
            <a:off x="3355848" y="3977640"/>
            <a:ext cx="2606040" cy="1143000"/>
          </a:xfrm>
          <a:prstGeom prst="roundRect">
            <a:avLst>
              <a:gd name="adj" fmla="val 6400"/>
            </a:avLst>
          </a:prstGeom>
          <a:solidFill>
            <a:srgbClr val="EAF4F8"/>
          </a:solidFill>
          <a:ln w="12700">
            <a:solidFill>
              <a:srgbClr val="0891B2"/>
            </a:solidFill>
            <a:prstDash val="solid"/>
          </a:ln>
        </p:spPr>
      </p:sp>
      <p:sp>
        <p:nvSpPr>
          <p:cNvPr id="22" name="Text 20"/>
          <p:cNvSpPr/>
          <p:nvPr/>
        </p:nvSpPr>
        <p:spPr>
          <a:xfrm>
            <a:off x="3493008" y="4114800"/>
            <a:ext cx="2331720" cy="365760"/>
          </a:xfrm>
          <a:prstGeom prst="rect">
            <a:avLst/>
          </a:prstGeom>
          <a:noFill/>
          <a:ln/>
        </p:spPr>
        <p:txBody>
          <a:bodyPr wrap="square" rtlCol="0" anchor="ctr"/>
          <a:lstStyle/>
          <a:p>
            <a:pPr indent="0" marL="0">
              <a:buNone/>
            </a:pPr>
            <a:r>
              <a:rPr lang="en-US" sz="1300" b="1" dirty="0">
                <a:solidFill>
                  <a:srgbClr val="0E5A6E"/>
                </a:solidFill>
                <a:latin typeface="Calibri" pitchFamily="34" charset="0"/>
                <a:ea typeface="Calibri" pitchFamily="34" charset="-122"/>
                <a:cs typeface="Calibri" pitchFamily="34" charset="-120"/>
              </a:rPr>
              <a:t>Calendar</a:t>
            </a:r>
            <a:endParaRPr lang="en-US" sz="1300" dirty="0"/>
          </a:p>
        </p:txBody>
      </p:sp>
      <p:sp>
        <p:nvSpPr>
          <p:cNvPr id="23" name="Text 21"/>
          <p:cNvSpPr/>
          <p:nvPr/>
        </p:nvSpPr>
        <p:spPr>
          <a:xfrm>
            <a:off x="3493008" y="4498848"/>
            <a:ext cx="2331720" cy="548640"/>
          </a:xfrm>
          <a:prstGeom prst="rect">
            <a:avLst/>
          </a:prstGeom>
          <a:noFill/>
          <a:ln/>
        </p:spPr>
        <p:txBody>
          <a:bodyPr wrap="square" rtlCol="0" anchor="ctr"/>
          <a:lstStyle/>
          <a:p>
            <a:pPr indent="0" marL="0">
              <a:buNone/>
            </a:pPr>
            <a:r>
              <a:rPr lang="en-US" sz="1050" dirty="0">
                <a:solidFill>
                  <a:srgbClr val="3E5060"/>
                </a:solidFill>
                <a:latin typeface="Calibri" pitchFamily="34" charset="0"/>
                <a:ea typeface="Calibri" pitchFamily="34" charset="-122"/>
                <a:cs typeface="Calibri" pitchFamily="34" charset="-120"/>
              </a:rPr>
              <a:t>Date dim · marked as date table</a:t>
            </a:r>
            <a:endParaRPr lang="en-US" sz="1050" dirty="0"/>
          </a:p>
        </p:txBody>
      </p:sp>
      <p:sp>
        <p:nvSpPr>
          <p:cNvPr id="24" name="Text 22"/>
          <p:cNvSpPr/>
          <p:nvPr/>
        </p:nvSpPr>
        <p:spPr>
          <a:xfrm>
            <a:off x="5934456" y="4224528"/>
            <a:ext cx="274320" cy="548640"/>
          </a:xfrm>
          <a:prstGeom prst="rect">
            <a:avLst/>
          </a:prstGeom>
          <a:noFill/>
          <a:ln/>
        </p:spPr>
        <p:txBody>
          <a:bodyPr wrap="square" rtlCol="0" anchor="ctr"/>
          <a:lstStyle/>
          <a:p>
            <a:pPr algn="ctr" indent="0" marL="0">
              <a:buNone/>
            </a:pPr>
            <a:r>
              <a:rPr lang="en-US" sz="1800" b="1" dirty="0">
                <a:solidFill>
                  <a:srgbClr val="0891B2"/>
                </a:solidFill>
              </a:rPr>
              <a:t>→</a:t>
            </a:r>
            <a:endParaRPr lang="en-US" sz="1800" dirty="0"/>
          </a:p>
        </p:txBody>
      </p:sp>
      <p:sp>
        <p:nvSpPr>
          <p:cNvPr id="25" name="Shape 23"/>
          <p:cNvSpPr/>
          <p:nvPr/>
        </p:nvSpPr>
        <p:spPr>
          <a:xfrm>
            <a:off x="6163056" y="3977640"/>
            <a:ext cx="2606040" cy="1143000"/>
          </a:xfrm>
          <a:prstGeom prst="roundRect">
            <a:avLst>
              <a:gd name="adj" fmla="val 6400"/>
            </a:avLst>
          </a:prstGeom>
          <a:solidFill>
            <a:srgbClr val="EAF4F8"/>
          </a:solidFill>
          <a:ln w="12700">
            <a:solidFill>
              <a:srgbClr val="0891B2"/>
            </a:solidFill>
            <a:prstDash val="solid"/>
          </a:ln>
        </p:spPr>
      </p:sp>
      <p:sp>
        <p:nvSpPr>
          <p:cNvPr id="26" name="Text 24"/>
          <p:cNvSpPr/>
          <p:nvPr/>
        </p:nvSpPr>
        <p:spPr>
          <a:xfrm>
            <a:off x="6300216" y="4114800"/>
            <a:ext cx="2331720" cy="365760"/>
          </a:xfrm>
          <a:prstGeom prst="rect">
            <a:avLst/>
          </a:prstGeom>
          <a:noFill/>
          <a:ln/>
        </p:spPr>
        <p:txBody>
          <a:bodyPr wrap="square" rtlCol="0" anchor="ctr"/>
          <a:lstStyle/>
          <a:p>
            <a:pPr indent="0" marL="0">
              <a:buNone/>
            </a:pPr>
            <a:r>
              <a:rPr lang="en-US" sz="1300" b="1" dirty="0">
                <a:solidFill>
                  <a:srgbClr val="0E5A6E"/>
                </a:solidFill>
                <a:latin typeface="Calibri" pitchFamily="34" charset="0"/>
                <a:ea typeface="Calibri" pitchFamily="34" charset="-122"/>
                <a:cs typeface="Calibri" pitchFamily="34" charset="-120"/>
              </a:rPr>
              <a:t>Products / Customers</a:t>
            </a:r>
            <a:endParaRPr lang="en-US" sz="1300" dirty="0"/>
          </a:p>
        </p:txBody>
      </p:sp>
      <p:sp>
        <p:nvSpPr>
          <p:cNvPr id="27" name="Text 25"/>
          <p:cNvSpPr/>
          <p:nvPr/>
        </p:nvSpPr>
        <p:spPr>
          <a:xfrm>
            <a:off x="6300216" y="4498848"/>
            <a:ext cx="2331720" cy="548640"/>
          </a:xfrm>
          <a:prstGeom prst="rect">
            <a:avLst/>
          </a:prstGeom>
          <a:noFill/>
          <a:ln/>
        </p:spPr>
        <p:txBody>
          <a:bodyPr wrap="square" rtlCol="0" anchor="ctr"/>
          <a:lstStyle/>
          <a:p>
            <a:pPr indent="0" marL="0">
              <a:buNone/>
            </a:pPr>
            <a:r>
              <a:rPr lang="en-US" sz="1050" dirty="0">
                <a:solidFill>
                  <a:srgbClr val="3E5060"/>
                </a:solidFill>
                <a:latin typeface="Calibri" pitchFamily="34" charset="0"/>
                <a:ea typeface="Calibri" pitchFamily="34" charset="-122"/>
                <a:cs typeface="Calibri" pitchFamily="34" charset="-120"/>
              </a:rPr>
              <a:t>Dimensions · SKU &amp; name keys</a:t>
            </a:r>
            <a:endParaRPr lang="en-US" sz="1050" dirty="0"/>
          </a:p>
        </p:txBody>
      </p:sp>
      <p:sp>
        <p:nvSpPr>
          <p:cNvPr id="28" name="Text 26"/>
          <p:cNvSpPr/>
          <p:nvPr/>
        </p:nvSpPr>
        <p:spPr>
          <a:xfrm>
            <a:off x="8741664" y="4224528"/>
            <a:ext cx="274320" cy="548640"/>
          </a:xfrm>
          <a:prstGeom prst="rect">
            <a:avLst/>
          </a:prstGeom>
          <a:noFill/>
          <a:ln/>
        </p:spPr>
        <p:txBody>
          <a:bodyPr wrap="square" rtlCol="0" anchor="ctr"/>
          <a:lstStyle/>
          <a:p>
            <a:pPr algn="ctr" indent="0" marL="0">
              <a:buNone/>
            </a:pPr>
            <a:r>
              <a:rPr lang="en-US" sz="1800" b="1" dirty="0">
                <a:solidFill>
                  <a:srgbClr val="0891B2"/>
                </a:solidFill>
              </a:rPr>
              <a:t>→</a:t>
            </a:r>
            <a:endParaRPr lang="en-US" sz="1800" dirty="0"/>
          </a:p>
        </p:txBody>
      </p:sp>
      <p:sp>
        <p:nvSpPr>
          <p:cNvPr id="29" name="Shape 27"/>
          <p:cNvSpPr/>
          <p:nvPr/>
        </p:nvSpPr>
        <p:spPr>
          <a:xfrm>
            <a:off x="8970264" y="3977640"/>
            <a:ext cx="2606040" cy="1143000"/>
          </a:xfrm>
          <a:prstGeom prst="roundRect">
            <a:avLst>
              <a:gd name="adj" fmla="val 6400"/>
            </a:avLst>
          </a:prstGeom>
          <a:solidFill>
            <a:srgbClr val="EAF4F8"/>
          </a:solidFill>
          <a:ln w="12700">
            <a:solidFill>
              <a:srgbClr val="0891B2"/>
            </a:solidFill>
            <a:prstDash val="solid"/>
          </a:ln>
        </p:spPr>
      </p:sp>
      <p:sp>
        <p:nvSpPr>
          <p:cNvPr id="30" name="Text 28"/>
          <p:cNvSpPr/>
          <p:nvPr/>
        </p:nvSpPr>
        <p:spPr>
          <a:xfrm>
            <a:off x="9107424" y="4114800"/>
            <a:ext cx="2331720" cy="365760"/>
          </a:xfrm>
          <a:prstGeom prst="rect">
            <a:avLst/>
          </a:prstGeom>
          <a:noFill/>
          <a:ln/>
        </p:spPr>
        <p:txBody>
          <a:bodyPr wrap="square" rtlCol="0" anchor="ctr"/>
          <a:lstStyle/>
          <a:p>
            <a:pPr indent="0" marL="0">
              <a:buNone/>
            </a:pPr>
            <a:r>
              <a:rPr lang="en-US" sz="1300" b="1" dirty="0">
                <a:solidFill>
                  <a:srgbClr val="0E5A6E"/>
                </a:solidFill>
                <a:latin typeface="Calibri" pitchFamily="34" charset="0"/>
                <a:ea typeface="Calibri" pitchFamily="34" charset="-122"/>
                <a:cs typeface="Calibri" pitchFamily="34" charset="-120"/>
              </a:rPr>
              <a:t>Actuals_vs_Budget</a:t>
            </a:r>
            <a:endParaRPr lang="en-US" sz="1300" dirty="0"/>
          </a:p>
        </p:txBody>
      </p:sp>
      <p:sp>
        <p:nvSpPr>
          <p:cNvPr id="31" name="Text 29"/>
          <p:cNvSpPr/>
          <p:nvPr/>
        </p:nvSpPr>
        <p:spPr>
          <a:xfrm>
            <a:off x="9107424" y="4498848"/>
            <a:ext cx="2331720" cy="548640"/>
          </a:xfrm>
          <a:prstGeom prst="rect">
            <a:avLst/>
          </a:prstGeom>
          <a:noFill/>
          <a:ln/>
        </p:spPr>
        <p:txBody>
          <a:bodyPr wrap="square" rtlCol="0" anchor="ctr"/>
          <a:lstStyle/>
          <a:p>
            <a:pPr indent="0" marL="0">
              <a:buNone/>
            </a:pPr>
            <a:r>
              <a:rPr lang="en-US" sz="1050" dirty="0">
                <a:solidFill>
                  <a:srgbClr val="3E5060"/>
                </a:solidFill>
                <a:latin typeface="Calibri" pitchFamily="34" charset="0"/>
                <a:ea typeface="Calibri" pitchFamily="34" charset="-122"/>
                <a:cs typeface="Calibri" pitchFamily="34" charset="-120"/>
              </a:rPr>
              <a:t>Fact rolled to monthly grain</a:t>
            </a:r>
            <a:endParaRPr lang="en-US" sz="1050" dirty="0"/>
          </a:p>
        </p:txBody>
      </p:sp>
      <p:sp>
        <p:nvSpPr>
          <p:cNvPr id="32" name="Text 30"/>
          <p:cNvSpPr/>
          <p:nvPr/>
        </p:nvSpPr>
        <p:spPr>
          <a:xfrm>
            <a:off x="548640" y="5349240"/>
            <a:ext cx="11064240" cy="822960"/>
          </a:xfrm>
          <a:prstGeom prst="rect">
            <a:avLst/>
          </a:prstGeom>
          <a:noFill/>
          <a:ln/>
        </p:spPr>
        <p:txBody>
          <a:bodyPr wrap="square" rtlCol="0" anchor="ctr"/>
          <a:lstStyle/>
          <a:p>
            <a:pPr indent="0" marL="0">
              <a:buNone/>
            </a:pPr>
            <a:r>
              <a:rPr lang="en-US" sz="1250" i="1" dirty="0">
                <a:solidFill>
                  <a:srgbClr val="4A5A74"/>
                </a:solidFill>
                <a:latin typeface="Calibri" pitchFamily="34" charset="0"/>
                <a:ea typeface="Calibri" pitchFamily="34" charset="-122"/>
                <a:cs typeface="Calibri" pitchFamily="34" charset="-120"/>
              </a:rPr>
              <a:t>The core challenge: Budget is monthly × country × category, but Transactions are weekly × SKU × customer. We aggregate the fact up to the budget grain (Power Query group-by + merge) so actual-vs-budget is an exact, like-for-like comparison.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THE SCORECARD</a:t>
            </a:r>
            <a:endParaRPr lang="en-US" sz="1200" dirty="0"/>
          </a:p>
        </p:txBody>
      </p:sp>
      <p:sp>
        <p:nvSpPr>
          <p:cNvPr id="3" name="Text 1"/>
          <p:cNvSpPr/>
          <p:nvPr/>
        </p:nvSpPr>
        <p:spPr>
          <a:xfrm>
            <a:off x="530352" y="676656"/>
            <a:ext cx="10972800" cy="640080"/>
          </a:xfrm>
          <a:prstGeom prst="rect">
            <a:avLst/>
          </a:prstGeom>
          <a:noFill/>
          <a:ln/>
        </p:spPr>
        <p:txBody>
          <a:bodyPr wrap="square" rtlCol="0" anchor="ctr"/>
          <a:lstStyle/>
          <a:p>
            <a:pPr indent="0" marL="0">
              <a:buNone/>
            </a:pPr>
            <a:r>
              <a:rPr lang="en-US" sz="3000" b="1" dirty="0">
                <a:solidFill>
                  <a:srgbClr val="F4F8FF"/>
                </a:solidFill>
                <a:latin typeface="Cambria" pitchFamily="34" charset="0"/>
                <a:ea typeface="Cambria" pitchFamily="34" charset="-122"/>
                <a:cs typeface="Cambria" pitchFamily="34" charset="-120"/>
              </a:rPr>
              <a:t>2024 in one screen</a:t>
            </a:r>
            <a:endParaRPr lang="en-US" sz="3000" dirty="0"/>
          </a:p>
        </p:txBody>
      </p:sp>
      <p:sp>
        <p:nvSpPr>
          <p:cNvPr id="4" name="Shape 2"/>
          <p:cNvSpPr/>
          <p:nvPr/>
        </p:nvSpPr>
        <p:spPr>
          <a:xfrm>
            <a:off x="548640" y="1691640"/>
            <a:ext cx="2743200" cy="1554480"/>
          </a:xfrm>
          <a:prstGeom prst="roundRect">
            <a:avLst>
              <a:gd name="adj" fmla="val 5294"/>
            </a:avLst>
          </a:prstGeom>
          <a:solidFill>
            <a:srgbClr val="16213B"/>
          </a:solidFill>
          <a:ln/>
          <a:effectLst>
            <a:outerShdw sx="100000" sy="100000" kx="0" ky="0" algn="bl" rotWithShape="0" blurRad="114300" dist="38100" dir="5400000">
              <a:srgbClr val="000000">
                <a:alpha val="28000"/>
              </a:srgbClr>
            </a:outerShdw>
          </a:effectLst>
        </p:spPr>
      </p:sp>
      <p:sp>
        <p:nvSpPr>
          <p:cNvPr id="5" name="Shape 3"/>
          <p:cNvSpPr/>
          <p:nvPr/>
        </p:nvSpPr>
        <p:spPr>
          <a:xfrm>
            <a:off x="749808" y="1929384"/>
            <a:ext cx="146304" cy="146304"/>
          </a:xfrm>
          <a:prstGeom prst="ellipse">
            <a:avLst/>
          </a:prstGeom>
          <a:solidFill>
            <a:srgbClr val="22D3EE"/>
          </a:solidFill>
          <a:ln/>
        </p:spPr>
      </p:sp>
      <p:sp>
        <p:nvSpPr>
          <p:cNvPr id="6" name="Text 4"/>
          <p:cNvSpPr/>
          <p:nvPr/>
        </p:nvSpPr>
        <p:spPr>
          <a:xfrm>
            <a:off x="969264" y="1856232"/>
            <a:ext cx="2194560" cy="274320"/>
          </a:xfrm>
          <a:prstGeom prst="rect">
            <a:avLst/>
          </a:prstGeom>
          <a:noFill/>
          <a:ln/>
        </p:spPr>
        <p:txBody>
          <a:bodyPr wrap="square" rtlCol="0" anchor="ctr"/>
          <a:lstStyle/>
          <a:p>
            <a:pPr indent="0" marL="0">
              <a:buNone/>
            </a:pPr>
            <a:r>
              <a:rPr lang="en-US" sz="1050" b="1" spc="100" kern="0" dirty="0">
                <a:solidFill>
                  <a:srgbClr val="8FA3C4"/>
                </a:solidFill>
                <a:latin typeface="Calibri" pitchFamily="34" charset="0"/>
                <a:ea typeface="Calibri" pitchFamily="34" charset="-122"/>
                <a:cs typeface="Calibri" pitchFamily="34" charset="-120"/>
              </a:rPr>
              <a:t>REVENUE 2024</a:t>
            </a:r>
            <a:endParaRPr lang="en-US" sz="1050" dirty="0"/>
          </a:p>
        </p:txBody>
      </p:sp>
      <p:sp>
        <p:nvSpPr>
          <p:cNvPr id="7" name="Text 5"/>
          <p:cNvSpPr/>
          <p:nvPr/>
        </p:nvSpPr>
        <p:spPr>
          <a:xfrm>
            <a:off x="731520" y="2112264"/>
            <a:ext cx="2377440" cy="640080"/>
          </a:xfrm>
          <a:prstGeom prst="rect">
            <a:avLst/>
          </a:prstGeom>
          <a:noFill/>
          <a:ln/>
        </p:spPr>
        <p:txBody>
          <a:bodyPr wrap="square" rtlCol="0" anchor="ctr"/>
          <a:lstStyle/>
          <a:p>
            <a:pPr indent="0" marL="0">
              <a:buNone/>
            </a:pPr>
            <a:r>
              <a:rPr lang="en-US" sz="3200" b="1" dirty="0">
                <a:solidFill>
                  <a:srgbClr val="F4F8FF"/>
                </a:solidFill>
                <a:latin typeface="Cambria" pitchFamily="34" charset="0"/>
                <a:ea typeface="Cambria" pitchFamily="34" charset="-122"/>
                <a:cs typeface="Cambria" pitchFamily="34" charset="-120"/>
              </a:rPr>
              <a:t>€2.36M</a:t>
            </a:r>
            <a:endParaRPr lang="en-US" sz="3200" dirty="0"/>
          </a:p>
        </p:txBody>
      </p:sp>
      <p:sp>
        <p:nvSpPr>
          <p:cNvPr id="8" name="Text 6"/>
          <p:cNvSpPr/>
          <p:nvPr/>
        </p:nvSpPr>
        <p:spPr>
          <a:xfrm>
            <a:off x="749808" y="2770632"/>
            <a:ext cx="2377440" cy="365760"/>
          </a:xfrm>
          <a:prstGeom prst="rect">
            <a:avLst/>
          </a:prstGeom>
          <a:noFill/>
          <a:ln/>
        </p:spPr>
        <p:txBody>
          <a:bodyPr wrap="square" rtlCol="0" anchor="ctr"/>
          <a:lstStyle/>
          <a:p>
            <a:pPr indent="0" marL="0">
              <a:buNone/>
            </a:pPr>
            <a:r>
              <a:rPr lang="en-US" sz="1100" dirty="0">
                <a:solidFill>
                  <a:srgbClr val="22D3EE"/>
                </a:solidFill>
                <a:latin typeface="Calibri" pitchFamily="34" charset="0"/>
                <a:ea typeface="Calibri" pitchFamily="34" charset="-122"/>
                <a:cs typeface="Calibri" pitchFamily="34" charset="-120"/>
              </a:rPr>
              <a:t>+5.4% vs 2023</a:t>
            </a:r>
            <a:endParaRPr lang="en-US" sz="1100" dirty="0"/>
          </a:p>
        </p:txBody>
      </p:sp>
      <p:sp>
        <p:nvSpPr>
          <p:cNvPr id="9" name="Shape 7"/>
          <p:cNvSpPr/>
          <p:nvPr/>
        </p:nvSpPr>
        <p:spPr>
          <a:xfrm>
            <a:off x="3429000" y="1691640"/>
            <a:ext cx="2743200" cy="1554480"/>
          </a:xfrm>
          <a:prstGeom prst="roundRect">
            <a:avLst>
              <a:gd name="adj" fmla="val 5294"/>
            </a:avLst>
          </a:prstGeom>
          <a:solidFill>
            <a:srgbClr val="16213B"/>
          </a:solidFill>
          <a:ln/>
          <a:effectLst>
            <a:outerShdw sx="100000" sy="100000" kx="0" ky="0" algn="bl" rotWithShape="0" blurRad="114300" dist="38100" dir="5400000">
              <a:srgbClr val="000000">
                <a:alpha val="28000"/>
              </a:srgbClr>
            </a:outerShdw>
          </a:effectLst>
        </p:spPr>
      </p:sp>
      <p:sp>
        <p:nvSpPr>
          <p:cNvPr id="10" name="Shape 8"/>
          <p:cNvSpPr/>
          <p:nvPr/>
        </p:nvSpPr>
        <p:spPr>
          <a:xfrm>
            <a:off x="3630168" y="1929384"/>
            <a:ext cx="146304" cy="146304"/>
          </a:xfrm>
          <a:prstGeom prst="ellipse">
            <a:avLst/>
          </a:prstGeom>
          <a:solidFill>
            <a:srgbClr val="10B981"/>
          </a:solidFill>
          <a:ln/>
        </p:spPr>
      </p:sp>
      <p:sp>
        <p:nvSpPr>
          <p:cNvPr id="11" name="Text 9"/>
          <p:cNvSpPr/>
          <p:nvPr/>
        </p:nvSpPr>
        <p:spPr>
          <a:xfrm>
            <a:off x="3849624" y="1856232"/>
            <a:ext cx="2194560" cy="274320"/>
          </a:xfrm>
          <a:prstGeom prst="rect">
            <a:avLst/>
          </a:prstGeom>
          <a:noFill/>
          <a:ln/>
        </p:spPr>
        <p:txBody>
          <a:bodyPr wrap="square" rtlCol="0" anchor="ctr"/>
          <a:lstStyle/>
          <a:p>
            <a:pPr indent="0" marL="0">
              <a:buNone/>
            </a:pPr>
            <a:r>
              <a:rPr lang="en-US" sz="1050" b="1" spc="100" kern="0" dirty="0">
                <a:solidFill>
                  <a:srgbClr val="8FA3C4"/>
                </a:solidFill>
                <a:latin typeface="Calibri" pitchFamily="34" charset="0"/>
                <a:ea typeface="Calibri" pitchFamily="34" charset="-122"/>
                <a:cs typeface="Calibri" pitchFamily="34" charset="-120"/>
              </a:rPr>
              <a:t>GROSS MARGIN</a:t>
            </a:r>
            <a:endParaRPr lang="en-US" sz="1050" dirty="0"/>
          </a:p>
        </p:txBody>
      </p:sp>
      <p:sp>
        <p:nvSpPr>
          <p:cNvPr id="12" name="Text 10"/>
          <p:cNvSpPr/>
          <p:nvPr/>
        </p:nvSpPr>
        <p:spPr>
          <a:xfrm>
            <a:off x="3611880" y="2112264"/>
            <a:ext cx="2377440" cy="640080"/>
          </a:xfrm>
          <a:prstGeom prst="rect">
            <a:avLst/>
          </a:prstGeom>
          <a:noFill/>
          <a:ln/>
        </p:spPr>
        <p:txBody>
          <a:bodyPr wrap="square" rtlCol="0" anchor="ctr"/>
          <a:lstStyle/>
          <a:p>
            <a:pPr indent="0" marL="0">
              <a:buNone/>
            </a:pPr>
            <a:r>
              <a:rPr lang="en-US" sz="3200" b="1" dirty="0">
                <a:solidFill>
                  <a:srgbClr val="F4F8FF"/>
                </a:solidFill>
                <a:latin typeface="Cambria" pitchFamily="34" charset="0"/>
                <a:ea typeface="Cambria" pitchFamily="34" charset="-122"/>
                <a:cs typeface="Cambria" pitchFamily="34" charset="-120"/>
              </a:rPr>
              <a:t>38.7%</a:t>
            </a:r>
            <a:endParaRPr lang="en-US" sz="3200" dirty="0"/>
          </a:p>
        </p:txBody>
      </p:sp>
      <p:sp>
        <p:nvSpPr>
          <p:cNvPr id="13" name="Text 11"/>
          <p:cNvSpPr/>
          <p:nvPr/>
        </p:nvSpPr>
        <p:spPr>
          <a:xfrm>
            <a:off x="3630168" y="2770632"/>
            <a:ext cx="2377440" cy="365760"/>
          </a:xfrm>
          <a:prstGeom prst="rect">
            <a:avLst/>
          </a:prstGeom>
          <a:noFill/>
          <a:ln/>
        </p:spPr>
        <p:txBody>
          <a:bodyPr wrap="square" rtlCol="0" anchor="ctr"/>
          <a:lstStyle/>
          <a:p>
            <a:pPr indent="0" marL="0">
              <a:buNone/>
            </a:pPr>
            <a:r>
              <a:rPr lang="en-US" sz="1100" dirty="0">
                <a:solidFill>
                  <a:srgbClr val="10B981"/>
                </a:solidFill>
                <a:latin typeface="Calibri" pitchFamily="34" charset="0"/>
                <a:ea typeface="Calibri" pitchFamily="34" charset="-122"/>
                <a:cs typeface="Calibri" pitchFamily="34" charset="-120"/>
              </a:rPr>
              <a:t>held flat YoY</a:t>
            </a:r>
            <a:endParaRPr lang="en-US" sz="1100" dirty="0"/>
          </a:p>
        </p:txBody>
      </p:sp>
      <p:sp>
        <p:nvSpPr>
          <p:cNvPr id="14" name="Shape 12"/>
          <p:cNvSpPr/>
          <p:nvPr/>
        </p:nvSpPr>
        <p:spPr>
          <a:xfrm>
            <a:off x="6309360" y="1691640"/>
            <a:ext cx="2743200" cy="1554480"/>
          </a:xfrm>
          <a:prstGeom prst="roundRect">
            <a:avLst>
              <a:gd name="adj" fmla="val 5294"/>
            </a:avLst>
          </a:prstGeom>
          <a:solidFill>
            <a:srgbClr val="16213B"/>
          </a:solidFill>
          <a:ln/>
          <a:effectLst>
            <a:outerShdw sx="100000" sy="100000" kx="0" ky="0" algn="bl" rotWithShape="0" blurRad="114300" dist="38100" dir="5400000">
              <a:srgbClr val="000000">
                <a:alpha val="28000"/>
              </a:srgbClr>
            </a:outerShdw>
          </a:effectLst>
        </p:spPr>
      </p:sp>
      <p:sp>
        <p:nvSpPr>
          <p:cNvPr id="15" name="Shape 13"/>
          <p:cNvSpPr/>
          <p:nvPr/>
        </p:nvSpPr>
        <p:spPr>
          <a:xfrm>
            <a:off x="6510528" y="1929384"/>
            <a:ext cx="146304" cy="146304"/>
          </a:xfrm>
          <a:prstGeom prst="ellipse">
            <a:avLst/>
          </a:prstGeom>
          <a:solidFill>
            <a:srgbClr val="EF4444"/>
          </a:solidFill>
          <a:ln/>
        </p:spPr>
      </p:sp>
      <p:sp>
        <p:nvSpPr>
          <p:cNvPr id="16" name="Text 14"/>
          <p:cNvSpPr/>
          <p:nvPr/>
        </p:nvSpPr>
        <p:spPr>
          <a:xfrm>
            <a:off x="6729984" y="1856232"/>
            <a:ext cx="2194560" cy="274320"/>
          </a:xfrm>
          <a:prstGeom prst="rect">
            <a:avLst/>
          </a:prstGeom>
          <a:noFill/>
          <a:ln/>
        </p:spPr>
        <p:txBody>
          <a:bodyPr wrap="square" rtlCol="0" anchor="ctr"/>
          <a:lstStyle/>
          <a:p>
            <a:pPr indent="0" marL="0">
              <a:buNone/>
            </a:pPr>
            <a:r>
              <a:rPr lang="en-US" sz="1050" b="1" spc="100" kern="0" dirty="0">
                <a:solidFill>
                  <a:srgbClr val="8FA3C4"/>
                </a:solidFill>
                <a:latin typeface="Calibri" pitchFamily="34" charset="0"/>
                <a:ea typeface="Calibri" pitchFamily="34" charset="-122"/>
                <a:cs typeface="Calibri" pitchFamily="34" charset="-120"/>
              </a:rPr>
              <a:t>VS BUDGET</a:t>
            </a:r>
            <a:endParaRPr lang="en-US" sz="1050" dirty="0"/>
          </a:p>
        </p:txBody>
      </p:sp>
      <p:sp>
        <p:nvSpPr>
          <p:cNvPr id="17" name="Text 15"/>
          <p:cNvSpPr/>
          <p:nvPr/>
        </p:nvSpPr>
        <p:spPr>
          <a:xfrm>
            <a:off x="6492240" y="2112264"/>
            <a:ext cx="2377440" cy="640080"/>
          </a:xfrm>
          <a:prstGeom prst="rect">
            <a:avLst/>
          </a:prstGeom>
          <a:noFill/>
          <a:ln/>
        </p:spPr>
        <p:txBody>
          <a:bodyPr wrap="square" rtlCol="0" anchor="ctr"/>
          <a:lstStyle/>
          <a:p>
            <a:pPr indent="0" marL="0">
              <a:buNone/>
            </a:pPr>
            <a:r>
              <a:rPr lang="en-US" sz="3200" b="1" dirty="0">
                <a:solidFill>
                  <a:srgbClr val="F4F8FF"/>
                </a:solidFill>
                <a:latin typeface="Cambria" pitchFamily="34" charset="0"/>
                <a:ea typeface="Cambria" pitchFamily="34" charset="-122"/>
                <a:cs typeface="Cambria" pitchFamily="34" charset="-120"/>
              </a:rPr>
              <a:t>−4.6%</a:t>
            </a:r>
            <a:endParaRPr lang="en-US" sz="3200" dirty="0"/>
          </a:p>
        </p:txBody>
      </p:sp>
      <p:sp>
        <p:nvSpPr>
          <p:cNvPr id="18" name="Text 16"/>
          <p:cNvSpPr/>
          <p:nvPr/>
        </p:nvSpPr>
        <p:spPr>
          <a:xfrm>
            <a:off x="6510528" y="2770632"/>
            <a:ext cx="2377440" cy="365760"/>
          </a:xfrm>
          <a:prstGeom prst="rect">
            <a:avLst/>
          </a:prstGeom>
          <a:noFill/>
          <a:ln/>
        </p:spPr>
        <p:txBody>
          <a:bodyPr wrap="square" rtlCol="0" anchor="ctr"/>
          <a:lstStyle/>
          <a:p>
            <a:pPr indent="0" marL="0">
              <a:buNone/>
            </a:pPr>
            <a:r>
              <a:rPr lang="en-US" sz="1100" dirty="0">
                <a:solidFill>
                  <a:srgbClr val="EF4444"/>
                </a:solidFill>
                <a:latin typeface="Calibri" pitchFamily="34" charset="0"/>
                <a:ea typeface="Calibri" pitchFamily="34" charset="-122"/>
                <a:cs typeface="Calibri" pitchFamily="34" charset="-120"/>
              </a:rPr>
              <a:t>−€114.6k miss</a:t>
            </a:r>
            <a:endParaRPr lang="en-US" sz="1100" dirty="0"/>
          </a:p>
        </p:txBody>
      </p:sp>
      <p:sp>
        <p:nvSpPr>
          <p:cNvPr id="19" name="Shape 17"/>
          <p:cNvSpPr/>
          <p:nvPr/>
        </p:nvSpPr>
        <p:spPr>
          <a:xfrm>
            <a:off x="9189720" y="1691640"/>
            <a:ext cx="2743200" cy="1554480"/>
          </a:xfrm>
          <a:prstGeom prst="roundRect">
            <a:avLst>
              <a:gd name="adj" fmla="val 5294"/>
            </a:avLst>
          </a:prstGeom>
          <a:solidFill>
            <a:srgbClr val="16213B"/>
          </a:solidFill>
          <a:ln/>
          <a:effectLst>
            <a:outerShdw sx="100000" sy="100000" kx="0" ky="0" algn="bl" rotWithShape="0" blurRad="114300" dist="38100" dir="5400000">
              <a:srgbClr val="000000">
                <a:alpha val="28000"/>
              </a:srgbClr>
            </a:outerShdw>
          </a:effectLst>
        </p:spPr>
      </p:sp>
      <p:sp>
        <p:nvSpPr>
          <p:cNvPr id="20" name="Shape 18"/>
          <p:cNvSpPr/>
          <p:nvPr/>
        </p:nvSpPr>
        <p:spPr>
          <a:xfrm>
            <a:off x="9390888" y="1929384"/>
            <a:ext cx="146304" cy="146304"/>
          </a:xfrm>
          <a:prstGeom prst="ellipse">
            <a:avLst/>
          </a:prstGeom>
          <a:solidFill>
            <a:srgbClr val="F59E0B"/>
          </a:solidFill>
          <a:ln/>
        </p:spPr>
      </p:sp>
      <p:sp>
        <p:nvSpPr>
          <p:cNvPr id="21" name="Text 19"/>
          <p:cNvSpPr/>
          <p:nvPr/>
        </p:nvSpPr>
        <p:spPr>
          <a:xfrm>
            <a:off x="9610344" y="1856232"/>
            <a:ext cx="2194560" cy="274320"/>
          </a:xfrm>
          <a:prstGeom prst="rect">
            <a:avLst/>
          </a:prstGeom>
          <a:noFill/>
          <a:ln/>
        </p:spPr>
        <p:txBody>
          <a:bodyPr wrap="square" rtlCol="0" anchor="ctr"/>
          <a:lstStyle/>
          <a:p>
            <a:pPr indent="0" marL="0">
              <a:buNone/>
            </a:pPr>
            <a:r>
              <a:rPr lang="en-US" sz="1050" b="1" spc="100" kern="0" dirty="0">
                <a:solidFill>
                  <a:srgbClr val="8FA3C4"/>
                </a:solidFill>
                <a:latin typeface="Calibri" pitchFamily="34" charset="0"/>
                <a:ea typeface="Calibri" pitchFamily="34" charset="-122"/>
                <a:cs typeface="Calibri" pitchFamily="34" charset="-120"/>
              </a:rPr>
              <a:t>Q3 2024</a:t>
            </a:r>
            <a:endParaRPr lang="en-US" sz="1050" dirty="0"/>
          </a:p>
        </p:txBody>
      </p:sp>
      <p:sp>
        <p:nvSpPr>
          <p:cNvPr id="22" name="Text 20"/>
          <p:cNvSpPr/>
          <p:nvPr/>
        </p:nvSpPr>
        <p:spPr>
          <a:xfrm>
            <a:off x="9372600" y="2112264"/>
            <a:ext cx="2377440" cy="640080"/>
          </a:xfrm>
          <a:prstGeom prst="rect">
            <a:avLst/>
          </a:prstGeom>
          <a:noFill/>
          <a:ln/>
        </p:spPr>
        <p:txBody>
          <a:bodyPr wrap="square" rtlCol="0" anchor="ctr"/>
          <a:lstStyle/>
          <a:p>
            <a:pPr indent="0" marL="0">
              <a:buNone/>
            </a:pPr>
            <a:r>
              <a:rPr lang="en-US" sz="3200" b="1" dirty="0">
                <a:solidFill>
                  <a:srgbClr val="F4F8FF"/>
                </a:solidFill>
                <a:latin typeface="Cambria" pitchFamily="34" charset="0"/>
                <a:ea typeface="Cambria" pitchFamily="34" charset="-122"/>
                <a:cs typeface="Cambria" pitchFamily="34" charset="-120"/>
              </a:rPr>
              <a:t>+11.9%</a:t>
            </a:r>
            <a:endParaRPr lang="en-US" sz="3200" dirty="0"/>
          </a:p>
        </p:txBody>
      </p:sp>
      <p:sp>
        <p:nvSpPr>
          <p:cNvPr id="23" name="Text 21"/>
          <p:cNvSpPr/>
          <p:nvPr/>
        </p:nvSpPr>
        <p:spPr>
          <a:xfrm>
            <a:off x="9390888" y="2770632"/>
            <a:ext cx="2377440" cy="365760"/>
          </a:xfrm>
          <a:prstGeom prst="rect">
            <a:avLst/>
          </a:prstGeom>
          <a:noFill/>
          <a:ln/>
        </p:spPr>
        <p:txBody>
          <a:bodyPr wrap="square" rtlCol="0" anchor="ctr"/>
          <a:lstStyle/>
          <a:p>
            <a:pPr indent="0" marL="0">
              <a:buNone/>
            </a:pPr>
            <a:r>
              <a:rPr lang="en-US" sz="1100" dirty="0">
                <a:solidFill>
                  <a:srgbClr val="F59E0B"/>
                </a:solidFill>
                <a:latin typeface="Calibri" pitchFamily="34" charset="0"/>
                <a:ea typeface="Calibri" pitchFamily="34" charset="-122"/>
                <a:cs typeface="Calibri" pitchFamily="34" charset="-120"/>
              </a:rPr>
              <a:t>strongest quarter</a:t>
            </a:r>
            <a:endParaRPr lang="en-US" sz="1100" dirty="0"/>
          </a:p>
        </p:txBody>
      </p:sp>
      <p:sp>
        <p:nvSpPr>
          <p:cNvPr id="24" name="Shape 22"/>
          <p:cNvSpPr/>
          <p:nvPr/>
        </p:nvSpPr>
        <p:spPr>
          <a:xfrm>
            <a:off x="548640" y="3520440"/>
            <a:ext cx="11091672" cy="2788920"/>
          </a:xfrm>
          <a:prstGeom prst="roundRect">
            <a:avLst>
              <a:gd name="adj" fmla="val 2951"/>
            </a:avLst>
          </a:prstGeom>
          <a:solidFill>
            <a:srgbClr val="16213B"/>
          </a:solidFill>
          <a:ln/>
          <a:effectLst>
            <a:outerShdw sx="100000" sy="100000" kx="0" ky="0" algn="bl" rotWithShape="0" blurRad="114300" dist="38100" dir="5400000">
              <a:srgbClr val="000000">
                <a:alpha val="28000"/>
              </a:srgbClr>
            </a:outerShdw>
          </a:effectLst>
        </p:spPr>
      </p:sp>
      <p:sp>
        <p:nvSpPr>
          <p:cNvPr id="25" name="Text 23"/>
          <p:cNvSpPr/>
          <p:nvPr/>
        </p:nvSpPr>
        <p:spPr>
          <a:xfrm>
            <a:off x="868680" y="3703320"/>
            <a:ext cx="731520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Quarterly revenue — 2023 vs 2024</a:t>
            </a:r>
            <a:endParaRPr lang="en-US" sz="1400" dirty="0"/>
          </a:p>
        </p:txBody>
      </p:sp>
      <p:graphicFrame>
        <p:nvGraphicFramePr>
          <p:cNvPr id="26" name="Chart 0" descr=""/>
          <p:cNvGraphicFramePr/>
          <p:nvPr/>
        </p:nvGraphicFramePr>
        <p:xfrm>
          <a:off x="731520" y="4069080"/>
          <a:ext cx="6766560" cy="2103120"/>
        </p:xfrm>
        <a:graphic xmlns:a="http://schemas.openxmlformats.org/drawingml/2006/main">
          <a:graphicData uri="http://schemas.openxmlformats.org/drawingml/2006/chart">
            <c:chart xmlns:c="http://schemas.openxmlformats.org/drawingml/2006/chart" r:id="rId1"/>
          </a:graphicData>
        </a:graphic>
      </p:graphicFrame>
      <p:sp>
        <p:nvSpPr>
          <p:cNvPr id="27" name="Text 24"/>
          <p:cNvSpPr/>
          <p:nvPr/>
        </p:nvSpPr>
        <p:spPr>
          <a:xfrm>
            <a:off x="7772400" y="3977640"/>
            <a:ext cx="3657600" cy="2103120"/>
          </a:xfrm>
          <a:prstGeom prst="rect">
            <a:avLst/>
          </a:prstGeom>
          <a:noFill/>
          <a:ln/>
        </p:spPr>
        <p:txBody>
          <a:bodyPr wrap="square" rtlCol="0" anchor="t"/>
          <a:lstStyle/>
          <a:p>
            <a:pPr indent="0" marL="0">
              <a:lnSpc>
                <a:spcPct val="105000"/>
              </a:lnSpc>
              <a:buNone/>
            </a:pPr>
            <a:r>
              <a:rPr lang="en-US" sz="1500" b="1" dirty="0">
                <a:solidFill>
                  <a:srgbClr val="22D3EE"/>
                </a:solidFill>
                <a:latin typeface="Calibri" pitchFamily="34" charset="0"/>
                <a:ea typeface="Calibri" pitchFamily="34" charset="-122"/>
                <a:cs typeface="Calibri" pitchFamily="34" charset="-120"/>
              </a:rPr>
              <a:t>The verdict
</a:t>
            </a:r>
            <a:endParaRPr lang="en-US" sz="1500" dirty="0"/>
          </a:p>
          <a:p>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A solid, profitable year — but the entire growth story is muted by a budget that was set ~5% too high across the board. </a:t>
            </a:r>
            <a:endParaRPr lang="en-US" sz="1500" dirty="0"/>
          </a:p>
          <a:p>
            <a:pPr indent="0" marL="0">
              <a:lnSpc>
                <a:spcPct val="105000"/>
              </a:lnSpc>
              <a:buNone/>
            </a:pPr>
            <a:endParaRPr lang="en-US" sz="1500" dirty="0"/>
          </a:p>
          <a:p>
            <a:pPr indent="0" marL="0">
              <a:lnSpc>
                <a:spcPct val="105000"/>
              </a:lnSpc>
              <a:buNone/>
            </a:pPr>
            <a:r>
              <a:rPr lang="en-US" sz="1250" dirty="0">
                <a:solidFill>
                  <a:srgbClr val="F59E0B"/>
                </a:solidFill>
                <a:latin typeface="Calibri" pitchFamily="34" charset="0"/>
                <a:ea typeface="Calibri" pitchFamily="34" charset="-122"/>
                <a:cs typeface="Calibri" pitchFamily="34" charset="-120"/>
              </a:rPr>
              <a:t>The Q3 surge (+11.9%) is the bright spot worth protecting.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PERFORMANCE</a:t>
            </a:r>
            <a:endParaRPr lang="en-US" sz="1200" dirty="0"/>
          </a:p>
        </p:txBody>
      </p:sp>
      <p:sp>
        <p:nvSpPr>
          <p:cNvPr id="3" name="Text 1"/>
          <p:cNvSpPr/>
          <p:nvPr/>
        </p:nvSpPr>
        <p:spPr>
          <a:xfrm>
            <a:off x="530352" y="640080"/>
            <a:ext cx="10972800" cy="640080"/>
          </a:xfrm>
          <a:prstGeom prst="rect">
            <a:avLst/>
          </a:prstGeom>
          <a:noFill/>
          <a:ln/>
        </p:spPr>
        <p:txBody>
          <a:bodyPr wrap="square" rtlCol="0" anchor="ctr"/>
          <a:lstStyle/>
          <a:p>
            <a:pPr indent="0" marL="0">
              <a:buNone/>
            </a:pPr>
            <a:r>
              <a:rPr lang="en-US" sz="3000" b="1" dirty="0">
                <a:solidFill>
                  <a:srgbClr val="112038"/>
                </a:solidFill>
                <a:latin typeface="Cambria" pitchFamily="34" charset="0"/>
                <a:ea typeface="Cambria" pitchFamily="34" charset="-122"/>
                <a:cs typeface="Cambria" pitchFamily="34" charset="-120"/>
              </a:rPr>
              <a:t>Where the money is — and who's really growing</a:t>
            </a:r>
            <a:endParaRPr lang="en-US" sz="3000" dirty="0"/>
          </a:p>
        </p:txBody>
      </p:sp>
      <p:sp>
        <p:nvSpPr>
          <p:cNvPr id="4" name="Shape 2"/>
          <p:cNvSpPr/>
          <p:nvPr/>
        </p:nvSpPr>
        <p:spPr>
          <a:xfrm>
            <a:off x="548640" y="1783080"/>
            <a:ext cx="5486400" cy="4480560"/>
          </a:xfrm>
          <a:prstGeom prst="roundRect">
            <a:avLst>
              <a:gd name="adj" fmla="val 1633"/>
            </a:avLst>
          </a:prstGeom>
          <a:solidFill>
            <a:srgbClr val="FFFFFF"/>
          </a:solidFill>
          <a:ln/>
          <a:effectLst>
            <a:outerShdw sx="100000" sy="100000" kx="0" ky="0" algn="bl" rotWithShape="0" blurRad="114300" dist="38100" dir="5400000">
              <a:srgbClr val="000000">
                <a:alpha val="28000"/>
              </a:srgbClr>
            </a:outerShdw>
          </a:effectLst>
        </p:spPr>
      </p:sp>
      <p:sp>
        <p:nvSpPr>
          <p:cNvPr id="5" name="Text 3"/>
          <p:cNvSpPr/>
          <p:nvPr/>
        </p:nvSpPr>
        <p:spPr>
          <a:xfrm>
            <a:off x="822960" y="1938528"/>
            <a:ext cx="5029200" cy="365760"/>
          </a:xfrm>
          <a:prstGeom prst="rect">
            <a:avLst/>
          </a:prstGeom>
          <a:noFill/>
          <a:ln/>
        </p:spPr>
        <p:txBody>
          <a:bodyPr wrap="square" rtlCol="0" anchor="ctr"/>
          <a:lstStyle/>
          <a:p>
            <a:pPr indent="0" marL="0">
              <a:buNone/>
            </a:pPr>
            <a:r>
              <a:rPr lang="en-US" sz="1400" b="1" dirty="0">
                <a:solidFill>
                  <a:srgbClr val="112038"/>
                </a:solidFill>
                <a:latin typeface="Calibri" pitchFamily="34" charset="0"/>
                <a:ea typeface="Calibri" pitchFamily="34" charset="-122"/>
                <a:cs typeface="Calibri" pitchFamily="34" charset="-120"/>
              </a:rPr>
              <a:t>Revenue &amp; margin by country</a:t>
            </a:r>
            <a:endParaRPr lang="en-US" sz="1400" dirty="0"/>
          </a:p>
        </p:txBody>
      </p:sp>
      <p:graphicFrame>
        <p:nvGraphicFramePr>
          <p:cNvPr id="6" name="Chart 0" descr=""/>
          <p:cNvGraphicFramePr/>
          <p:nvPr/>
        </p:nvGraphicFramePr>
        <p:xfrm>
          <a:off x="685800" y="233172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822960" y="5806440"/>
            <a:ext cx="5029200" cy="411480"/>
          </a:xfrm>
          <a:prstGeom prst="rect">
            <a:avLst/>
          </a:prstGeom>
          <a:noFill/>
          <a:ln/>
        </p:spPr>
        <p:txBody>
          <a:bodyPr wrap="square" rtlCol="0" anchor="ctr"/>
          <a:lstStyle/>
          <a:p>
            <a:pPr indent="0" marL="0">
              <a:buNone/>
            </a:pPr>
            <a:r>
              <a:rPr lang="en-US" sz="1100" i="1" dirty="0">
                <a:solidFill>
                  <a:srgbClr val="5A6B86"/>
                </a:solidFill>
                <a:latin typeface="Calibri" pitchFamily="34" charset="0"/>
                <a:ea typeface="Calibri" pitchFamily="34" charset="-122"/>
                <a:cs typeface="Calibri" pitchFamily="34" charset="-120"/>
              </a:rPr>
              <a:t>All three countries earn an identical ~38.7% margin — geography drives scale, not profitability.</a:t>
            </a:r>
            <a:endParaRPr lang="en-US" sz="1100" dirty="0"/>
          </a:p>
        </p:txBody>
      </p:sp>
      <p:sp>
        <p:nvSpPr>
          <p:cNvPr id="8" name="Shape 5"/>
          <p:cNvSpPr/>
          <p:nvPr/>
        </p:nvSpPr>
        <p:spPr>
          <a:xfrm>
            <a:off x="6309360" y="1783080"/>
            <a:ext cx="5330952" cy="4480560"/>
          </a:xfrm>
          <a:prstGeom prst="roundRect">
            <a:avLst>
              <a:gd name="adj" fmla="val 1633"/>
            </a:avLst>
          </a:prstGeom>
          <a:solidFill>
            <a:srgbClr val="FFFFFF"/>
          </a:solidFill>
          <a:ln/>
          <a:effectLst>
            <a:outerShdw sx="100000" sy="100000" kx="0" ky="0" algn="bl" rotWithShape="0" blurRad="114300" dist="38100" dir="5400000">
              <a:srgbClr val="000000">
                <a:alpha val="28000"/>
              </a:srgbClr>
            </a:outerShdw>
          </a:effectLst>
        </p:spPr>
      </p:sp>
      <p:sp>
        <p:nvSpPr>
          <p:cNvPr id="9" name="Text 6"/>
          <p:cNvSpPr/>
          <p:nvPr/>
        </p:nvSpPr>
        <p:spPr>
          <a:xfrm>
            <a:off x="6583680" y="1938528"/>
            <a:ext cx="4937760" cy="365760"/>
          </a:xfrm>
          <a:prstGeom prst="rect">
            <a:avLst/>
          </a:prstGeom>
          <a:noFill/>
          <a:ln/>
        </p:spPr>
        <p:txBody>
          <a:bodyPr wrap="square" rtlCol="0" anchor="ctr"/>
          <a:lstStyle/>
          <a:p>
            <a:pPr indent="0" marL="0">
              <a:buNone/>
            </a:pPr>
            <a:r>
              <a:rPr lang="en-US" sz="1400" b="1" dirty="0">
                <a:solidFill>
                  <a:srgbClr val="112038"/>
                </a:solidFill>
                <a:latin typeface="Calibri" pitchFamily="34" charset="0"/>
                <a:ea typeface="Calibri" pitchFamily="34" charset="-122"/>
                <a:cs typeface="Calibri" pitchFamily="34" charset="-120"/>
              </a:rPr>
              <a:t>Segment growth 2023 → 2024  (YoY %)</a:t>
            </a:r>
            <a:endParaRPr lang="en-US" sz="1400" dirty="0"/>
          </a:p>
        </p:txBody>
      </p:sp>
      <p:graphicFrame>
        <p:nvGraphicFramePr>
          <p:cNvPr id="10" name="Chart 1" descr=""/>
          <p:cNvGraphicFramePr/>
          <p:nvPr/>
        </p:nvGraphicFramePr>
        <p:xfrm>
          <a:off x="6446520" y="2331720"/>
          <a:ext cx="5029200" cy="329184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p:nvPr/>
        </p:nvSpPr>
        <p:spPr>
          <a:xfrm>
            <a:off x="6583680" y="5715000"/>
            <a:ext cx="4937760" cy="502920"/>
          </a:xfrm>
          <a:prstGeom prst="rect">
            <a:avLst/>
          </a:prstGeom>
          <a:noFill/>
          <a:ln/>
        </p:spPr>
        <p:txBody>
          <a:bodyPr wrap="square" rtlCol="0" anchor="ctr"/>
          <a:lstStyle/>
          <a:p>
            <a:pPr indent="0" marL="0">
              <a:buNone/>
            </a:pPr>
            <a:r>
              <a:rPr lang="en-US" sz="1150" b="1" dirty="0">
                <a:solidFill>
                  <a:srgbClr val="EF4444"/>
                </a:solidFill>
                <a:latin typeface="Calibri" pitchFamily="34" charset="0"/>
                <a:ea typeface="Calibri" pitchFamily="34" charset="-122"/>
                <a:cs typeface="Calibri" pitchFamily="34" charset="-120"/>
              </a:rPr>
              <a:t>Contrarian finding:  </a:t>
            </a:r>
            <a:pPr indent="0" marL="0">
              <a:buNone/>
            </a:pPr>
            <a:r>
              <a:rPr lang="en-US" sz="1150" dirty="0">
                <a:solidFill>
                  <a:srgbClr val="33425C"/>
                </a:solidFill>
                <a:latin typeface="Calibri" pitchFamily="34" charset="0"/>
                <a:ea typeface="Calibri" pitchFamily="34" charset="-122"/>
                <a:cs typeface="Calibri" pitchFamily="34" charset="-120"/>
              </a:rPr>
              <a:t>Online (+4.9%) is the SLOWEST channel — brick-and-mortar grew +6.0%. The digital channel is diluting growth, not driving it.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PROFITABILITY</a:t>
            </a:r>
            <a:endParaRPr lang="en-US" sz="1200" dirty="0"/>
          </a:p>
        </p:txBody>
      </p:sp>
      <p:sp>
        <p:nvSpPr>
          <p:cNvPr id="3" name="Text 1"/>
          <p:cNvSpPr/>
          <p:nvPr/>
        </p:nvSpPr>
        <p:spPr>
          <a:xfrm>
            <a:off x="530352" y="640080"/>
            <a:ext cx="10972800" cy="640080"/>
          </a:xfrm>
          <a:prstGeom prst="rect">
            <a:avLst/>
          </a:prstGeom>
          <a:noFill/>
          <a:ln/>
        </p:spPr>
        <p:txBody>
          <a:bodyPr wrap="square" rtlCol="0" anchor="ctr"/>
          <a:lstStyle/>
          <a:p>
            <a:pPr indent="0" marL="0">
              <a:buNone/>
            </a:pPr>
            <a:r>
              <a:rPr lang="en-US" sz="3000" b="1" dirty="0">
                <a:solidFill>
                  <a:srgbClr val="112038"/>
                </a:solidFill>
                <a:latin typeface="Cambria" pitchFamily="34" charset="0"/>
                <a:ea typeface="Cambria" pitchFamily="34" charset="-122"/>
                <a:cs typeface="Cambria" pitchFamily="34" charset="-120"/>
              </a:rPr>
              <a:t>Margins are healthy — but Frozen Food lags target</a:t>
            </a:r>
            <a:endParaRPr lang="en-US" sz="3000" dirty="0"/>
          </a:p>
        </p:txBody>
      </p:sp>
      <p:sp>
        <p:nvSpPr>
          <p:cNvPr id="4" name="Shape 2"/>
          <p:cNvSpPr/>
          <p:nvPr/>
        </p:nvSpPr>
        <p:spPr>
          <a:xfrm>
            <a:off x="548640" y="1783080"/>
            <a:ext cx="6766560" cy="4480560"/>
          </a:xfrm>
          <a:prstGeom prst="roundRect">
            <a:avLst>
              <a:gd name="adj" fmla="val 1633"/>
            </a:avLst>
          </a:prstGeom>
          <a:solidFill>
            <a:srgbClr val="FFFFFF"/>
          </a:solidFill>
          <a:ln/>
          <a:effectLst>
            <a:outerShdw sx="100000" sy="100000" kx="0" ky="0" algn="bl" rotWithShape="0" blurRad="114300" dist="38100" dir="5400000">
              <a:srgbClr val="000000">
                <a:alpha val="28000"/>
              </a:srgbClr>
            </a:outerShdw>
          </a:effectLst>
        </p:spPr>
      </p:sp>
      <p:sp>
        <p:nvSpPr>
          <p:cNvPr id="5" name="Text 3"/>
          <p:cNvSpPr/>
          <p:nvPr/>
        </p:nvSpPr>
        <p:spPr>
          <a:xfrm>
            <a:off x="822960" y="1938528"/>
            <a:ext cx="6217920" cy="365760"/>
          </a:xfrm>
          <a:prstGeom prst="rect">
            <a:avLst/>
          </a:prstGeom>
          <a:noFill/>
          <a:ln/>
        </p:spPr>
        <p:txBody>
          <a:bodyPr wrap="square" rtlCol="0" anchor="ctr"/>
          <a:lstStyle/>
          <a:p>
            <a:pPr indent="0" marL="0">
              <a:buNone/>
            </a:pPr>
            <a:r>
              <a:rPr lang="en-US" sz="1400" b="1" dirty="0">
                <a:solidFill>
                  <a:srgbClr val="112038"/>
                </a:solidFill>
                <a:latin typeface="Calibri" pitchFamily="34" charset="0"/>
                <a:ea typeface="Calibri" pitchFamily="34" charset="-122"/>
                <a:cs typeface="Calibri" pitchFamily="34" charset="-120"/>
              </a:rPr>
              <a:t>Actual category margin vs target</a:t>
            </a:r>
            <a:endParaRPr lang="en-US" sz="1400" dirty="0"/>
          </a:p>
        </p:txBody>
      </p:sp>
      <p:graphicFrame>
        <p:nvGraphicFramePr>
          <p:cNvPr id="6" name="Chart 0" descr=""/>
          <p:cNvGraphicFramePr/>
          <p:nvPr/>
        </p:nvGraphicFramePr>
        <p:xfrm>
          <a:off x="685800" y="2331720"/>
          <a:ext cx="6492240" cy="3703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783080"/>
            <a:ext cx="4050792" cy="4480560"/>
          </a:xfrm>
          <a:prstGeom prst="roundRect">
            <a:avLst>
              <a:gd name="adj" fmla="val 1806"/>
            </a:avLst>
          </a:prstGeom>
          <a:solidFill>
            <a:srgbClr val="0E2A39"/>
          </a:solidFill>
          <a:ln/>
          <a:effectLst>
            <a:outerShdw sx="100000" sy="100000" kx="0" ky="0" algn="bl" rotWithShape="0" blurRad="114300" dist="38100" dir="5400000">
              <a:srgbClr val="000000">
                <a:alpha val="28000"/>
              </a:srgbClr>
            </a:outerShdw>
          </a:effectLst>
        </p:spPr>
      </p:sp>
      <p:sp>
        <p:nvSpPr>
          <p:cNvPr id="8" name="Text 5"/>
          <p:cNvSpPr/>
          <p:nvPr/>
        </p:nvSpPr>
        <p:spPr>
          <a:xfrm>
            <a:off x="7863840" y="2011680"/>
            <a:ext cx="3474720" cy="365760"/>
          </a:xfrm>
          <a:prstGeom prst="rect">
            <a:avLst/>
          </a:prstGeom>
          <a:noFill/>
          <a:ln/>
        </p:spPr>
        <p:txBody>
          <a:bodyPr wrap="square"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Read this carefully</a:t>
            </a:r>
            <a:endParaRPr lang="en-US" sz="1300" dirty="0"/>
          </a:p>
        </p:txBody>
      </p:sp>
      <p:sp>
        <p:nvSpPr>
          <p:cNvPr id="9" name="Text 6"/>
          <p:cNvSpPr/>
          <p:nvPr/>
        </p:nvSpPr>
        <p:spPr>
          <a:xfrm>
            <a:off x="7863840" y="2468880"/>
            <a:ext cx="3520440" cy="3657600"/>
          </a:xfrm>
          <a:prstGeom prst="rect">
            <a:avLst/>
          </a:prstGeom>
          <a:noFill/>
          <a:ln/>
        </p:spPr>
        <p:txBody>
          <a:bodyPr wrap="square" rtlCol="0" anchor="t"/>
          <a:lstStyle/>
          <a:p>
            <a:pPr indent="0" marL="0">
              <a:lnSpc>
                <a:spcPct val="105000"/>
              </a:lnSpc>
              <a:buNone/>
            </a:pPr>
            <a:r>
              <a:rPr lang="en-US" sz="1300" b="1" dirty="0">
                <a:solidFill>
                  <a:srgbClr val="F4F8FF"/>
                </a:solidFill>
                <a:latin typeface="Calibri" pitchFamily="34" charset="0"/>
                <a:ea typeface="Calibri" pitchFamily="34" charset="-122"/>
                <a:cs typeface="Calibri" pitchFamily="34" charset="-120"/>
              </a:rPr>
              <a:t>All 5 Frozen Food SKUs</a:t>
            </a:r>
            <a:endParaRPr lang="en-US" sz="1300" dirty="0"/>
          </a:p>
          <a:p>
            <a:pPr indent="0" marL="0">
              <a:lnSpc>
                <a:spcPct val="105000"/>
              </a:lnSpc>
              <a:buNone/>
            </a:pPr>
            <a:r>
              <a:rPr lang="en-US" sz="1300" dirty="0">
                <a:solidFill>
                  <a:srgbClr val="CADCFC"/>
                </a:solidFill>
                <a:latin typeface="Calibri" pitchFamily="34" charset="0"/>
                <a:ea typeface="Calibri" pitchFamily="34" charset="-122"/>
                <a:cs typeface="Calibri" pitchFamily="34" charset="-120"/>
              </a:rPr>
              <a:t>sit below their 35% target (≈34.9%).</a:t>
            </a:r>
            <a:endParaRPr lang="en-US" sz="1300" dirty="0"/>
          </a:p>
          <a:p>
            <a:pPr indent="0" marL="0">
              <a:lnSpc>
                <a:spcPct val="105000"/>
              </a:lnSpc>
              <a:buNone/>
            </a:pPr>
            <a:endParaRPr lang="en-US" sz="1300" dirty="0"/>
          </a:p>
          <a:p>
            <a:pPr indent="0" marL="0">
              <a:lnSpc>
                <a:spcPct val="105000"/>
              </a:lnSpc>
              <a:buNone/>
            </a:pPr>
            <a:r>
              <a:rPr lang="en-US" sz="1300" dirty="0">
                <a:solidFill>
                  <a:srgbClr val="CADCFC"/>
                </a:solidFill>
                <a:latin typeface="Calibri" pitchFamily="34" charset="0"/>
                <a:ea typeface="Calibri" pitchFamily="34" charset="-122"/>
                <a:cs typeface="Calibri" pitchFamily="34" charset="-120"/>
              </a:rPr>
              <a:t>11 of 20 SKUs are marginally under target — but only Frozen is systematic.</a:t>
            </a:r>
            <a:endParaRPr lang="en-US" sz="1300" dirty="0"/>
          </a:p>
          <a:p>
            <a:pPr indent="0" marL="0">
              <a:lnSpc>
                <a:spcPct val="105000"/>
              </a:lnSpc>
              <a:buNone/>
            </a:pPr>
            <a:endParaRPr lang="en-US" sz="1300" dirty="0"/>
          </a:p>
          <a:p>
            <a:pPr indent="0" marL="0">
              <a:lnSpc>
                <a:spcPct val="105000"/>
              </a:lnSpc>
              <a:buNone/>
            </a:pPr>
            <a:r>
              <a:rPr lang="en-US" sz="1300" b="1" dirty="0">
                <a:solidFill>
                  <a:srgbClr val="F59E0B"/>
                </a:solidFill>
                <a:latin typeface="Calibri" pitchFamily="34" charset="0"/>
                <a:ea typeface="Calibri" pitchFamily="34" charset="-122"/>
                <a:cs typeface="Calibri" pitchFamily="34" charset="-120"/>
              </a:rPr>
              <a:t>→ A category-wide cost / pricing issue,</a:t>
            </a:r>
            <a:endParaRPr lang="en-US" sz="1300" dirty="0"/>
          </a:p>
          <a:p>
            <a:pPr indent="0" marL="0">
              <a:lnSpc>
                <a:spcPct val="105000"/>
              </a:lnSpc>
              <a:buNone/>
            </a:pPr>
            <a:r>
              <a:rPr lang="en-US" sz="1300" dirty="0">
                <a:solidFill>
                  <a:srgbClr val="CADCFC"/>
                </a:solidFill>
                <a:latin typeface="Calibri" pitchFamily="34" charset="0"/>
                <a:ea typeface="Calibri" pitchFamily="34" charset="-122"/>
                <a:cs typeface="Calibri" pitchFamily="34" charset="-120"/>
              </a:rPr>
              <a:t>not weak products. The lever is sourcing &amp; price — </a:t>
            </a:r>
            <a:pPr indent="0" marL="0">
              <a:lnSpc>
                <a:spcPct val="105000"/>
              </a:lnSpc>
              <a:buNone/>
            </a:pPr>
            <a:r>
              <a:rPr lang="en-US" sz="1300" b="1" dirty="0">
                <a:solidFill>
                  <a:srgbClr val="F59E0B"/>
                </a:solidFill>
                <a:latin typeface="Calibri" pitchFamily="34" charset="0"/>
                <a:ea typeface="Calibri" pitchFamily="34" charset="-122"/>
                <a:cs typeface="Calibri" pitchFamily="34" charset="-120"/>
              </a:rPr>
              <a:t>not discontinuation.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BUDGET VARIANCE</a:t>
            </a:r>
            <a:endParaRPr lang="en-US" sz="1200" dirty="0"/>
          </a:p>
        </p:txBody>
      </p:sp>
      <p:sp>
        <p:nvSpPr>
          <p:cNvPr id="3" name="Text 1"/>
          <p:cNvSpPr/>
          <p:nvPr/>
        </p:nvSpPr>
        <p:spPr>
          <a:xfrm>
            <a:off x="530352" y="676656"/>
            <a:ext cx="11430000" cy="640080"/>
          </a:xfrm>
          <a:prstGeom prst="rect">
            <a:avLst/>
          </a:prstGeom>
          <a:noFill/>
          <a:ln/>
        </p:spPr>
        <p:txBody>
          <a:bodyPr wrap="square" rtlCol="0" anchor="ctr"/>
          <a:lstStyle/>
          <a:p>
            <a:pPr indent="0" marL="0">
              <a:buNone/>
            </a:pPr>
            <a:r>
              <a:rPr lang="en-US" sz="2800" b="1" dirty="0">
                <a:solidFill>
                  <a:srgbClr val="F4F8FF"/>
                </a:solidFill>
                <a:latin typeface="Cambria" pitchFamily="34" charset="0"/>
                <a:ea typeface="Cambria" pitchFamily="34" charset="-122"/>
                <a:cs typeface="Cambria" pitchFamily="34" charset="-120"/>
              </a:rPr>
              <a:t>The miss is volume, not price — and it's everywhere</a:t>
            </a:r>
            <a:endParaRPr lang="en-US" sz="2800" dirty="0"/>
          </a:p>
        </p:txBody>
      </p:sp>
      <p:sp>
        <p:nvSpPr>
          <p:cNvPr id="4" name="Shape 2"/>
          <p:cNvSpPr/>
          <p:nvPr/>
        </p:nvSpPr>
        <p:spPr>
          <a:xfrm>
            <a:off x="548640" y="1691640"/>
            <a:ext cx="6858000" cy="4572000"/>
          </a:xfrm>
          <a:prstGeom prst="roundRect">
            <a:avLst>
              <a:gd name="adj" fmla="val 1800"/>
            </a:avLst>
          </a:prstGeom>
          <a:solidFill>
            <a:srgbClr val="16213B"/>
          </a:solidFill>
          <a:ln/>
          <a:effectLst>
            <a:outerShdw sx="100000" sy="100000" kx="0" ky="0" algn="bl" rotWithShape="0" blurRad="114300" dist="38100" dir="5400000">
              <a:srgbClr val="000000">
                <a:alpha val="28000"/>
              </a:srgbClr>
            </a:outerShdw>
          </a:effectLst>
        </p:spPr>
      </p:sp>
      <p:sp>
        <p:nvSpPr>
          <p:cNvPr id="5" name="Text 3"/>
          <p:cNvSpPr/>
          <p:nvPr/>
        </p:nvSpPr>
        <p:spPr>
          <a:xfrm>
            <a:off x="822960" y="1874520"/>
            <a:ext cx="621792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Two-year variance bridge (€)</a:t>
            </a:r>
            <a:endParaRPr lang="en-US" sz="1400" dirty="0"/>
          </a:p>
        </p:txBody>
      </p:sp>
      <p:graphicFrame>
        <p:nvGraphicFramePr>
          <p:cNvPr id="6" name="Chart 0" descr=""/>
          <p:cNvGraphicFramePr/>
          <p:nvPr/>
        </p:nvGraphicFramePr>
        <p:xfrm>
          <a:off x="685800" y="228600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91640"/>
            <a:ext cx="3931920" cy="1554480"/>
          </a:xfrm>
          <a:prstGeom prst="roundRect">
            <a:avLst>
              <a:gd name="adj" fmla="val 5294"/>
            </a:avLst>
          </a:prstGeom>
          <a:solidFill>
            <a:srgbClr val="16213B"/>
          </a:solidFill>
          <a:ln/>
          <a:effectLst>
            <a:outerShdw sx="100000" sy="100000" kx="0" ky="0" algn="bl" rotWithShape="0" blurRad="114300" dist="38100" dir="5400000">
              <a:srgbClr val="000000">
                <a:alpha val="28000"/>
              </a:srgbClr>
            </a:outerShdw>
          </a:effectLst>
        </p:spPr>
      </p:sp>
      <p:sp>
        <p:nvSpPr>
          <p:cNvPr id="8" name="Shape 5"/>
          <p:cNvSpPr/>
          <p:nvPr/>
        </p:nvSpPr>
        <p:spPr>
          <a:xfrm>
            <a:off x="7882128" y="1929384"/>
            <a:ext cx="146304" cy="146304"/>
          </a:xfrm>
          <a:prstGeom prst="ellipse">
            <a:avLst/>
          </a:prstGeom>
          <a:solidFill>
            <a:srgbClr val="EF4444"/>
          </a:solidFill>
          <a:ln/>
        </p:spPr>
      </p:sp>
      <p:sp>
        <p:nvSpPr>
          <p:cNvPr id="9" name="Text 6"/>
          <p:cNvSpPr/>
          <p:nvPr/>
        </p:nvSpPr>
        <p:spPr>
          <a:xfrm>
            <a:off x="8101584" y="1856232"/>
            <a:ext cx="3383280" cy="274320"/>
          </a:xfrm>
          <a:prstGeom prst="rect">
            <a:avLst/>
          </a:prstGeom>
          <a:noFill/>
          <a:ln/>
        </p:spPr>
        <p:txBody>
          <a:bodyPr wrap="square" rtlCol="0" anchor="ctr"/>
          <a:lstStyle/>
          <a:p>
            <a:pPr indent="0" marL="0">
              <a:buNone/>
            </a:pPr>
            <a:r>
              <a:rPr lang="en-US" sz="1050" b="1" spc="100" kern="0" dirty="0">
                <a:solidFill>
                  <a:srgbClr val="8FA3C4"/>
                </a:solidFill>
                <a:latin typeface="Calibri" pitchFamily="34" charset="0"/>
                <a:ea typeface="Calibri" pitchFamily="34" charset="-122"/>
                <a:cs typeface="Calibri" pitchFamily="34" charset="-120"/>
              </a:rPr>
              <a:t>VOLUME VS PLAN</a:t>
            </a:r>
            <a:endParaRPr lang="en-US" sz="1050" dirty="0"/>
          </a:p>
        </p:txBody>
      </p:sp>
      <p:sp>
        <p:nvSpPr>
          <p:cNvPr id="10" name="Text 7"/>
          <p:cNvSpPr/>
          <p:nvPr/>
        </p:nvSpPr>
        <p:spPr>
          <a:xfrm>
            <a:off x="7863840" y="2112264"/>
            <a:ext cx="3566160" cy="640080"/>
          </a:xfrm>
          <a:prstGeom prst="rect">
            <a:avLst/>
          </a:prstGeom>
          <a:noFill/>
          <a:ln/>
        </p:spPr>
        <p:txBody>
          <a:bodyPr wrap="square" rtlCol="0" anchor="ctr"/>
          <a:lstStyle/>
          <a:p>
            <a:pPr indent="0" marL="0">
              <a:buNone/>
            </a:pPr>
            <a:r>
              <a:rPr lang="en-US" sz="3200" b="1" dirty="0">
                <a:solidFill>
                  <a:srgbClr val="F4F8FF"/>
                </a:solidFill>
                <a:latin typeface="Cambria" pitchFamily="34" charset="0"/>
                <a:ea typeface="Cambria" pitchFamily="34" charset="-122"/>
                <a:cs typeface="Cambria" pitchFamily="34" charset="-120"/>
              </a:rPr>
              <a:t>−4.7%</a:t>
            </a:r>
            <a:endParaRPr lang="en-US" sz="3200" dirty="0"/>
          </a:p>
        </p:txBody>
      </p:sp>
      <p:sp>
        <p:nvSpPr>
          <p:cNvPr id="11" name="Text 8"/>
          <p:cNvSpPr/>
          <p:nvPr/>
        </p:nvSpPr>
        <p:spPr>
          <a:xfrm>
            <a:off x="7882128" y="2770632"/>
            <a:ext cx="3566160" cy="365760"/>
          </a:xfrm>
          <a:prstGeom prst="rect">
            <a:avLst/>
          </a:prstGeom>
          <a:noFill/>
          <a:ln/>
        </p:spPr>
        <p:txBody>
          <a:bodyPr wrap="square" rtlCol="0" anchor="ctr"/>
          <a:lstStyle/>
          <a:p>
            <a:pPr indent="0" marL="0">
              <a:buNone/>
            </a:pPr>
            <a:r>
              <a:rPr lang="en-US" sz="1100" dirty="0">
                <a:solidFill>
                  <a:srgbClr val="EF4444"/>
                </a:solidFill>
                <a:latin typeface="Calibri" pitchFamily="34" charset="0"/>
                <a:ea typeface="Calibri" pitchFamily="34" charset="-122"/>
                <a:cs typeface="Calibri" pitchFamily="34" charset="-120"/>
              </a:rPr>
              <a:t>56,816 fewer units</a:t>
            </a:r>
            <a:endParaRPr lang="en-US" sz="1100" dirty="0"/>
          </a:p>
        </p:txBody>
      </p:sp>
      <p:sp>
        <p:nvSpPr>
          <p:cNvPr id="12" name="Shape 9"/>
          <p:cNvSpPr/>
          <p:nvPr/>
        </p:nvSpPr>
        <p:spPr>
          <a:xfrm>
            <a:off x="7680960" y="3429000"/>
            <a:ext cx="3959352" cy="2834640"/>
          </a:xfrm>
          <a:prstGeom prst="roundRect">
            <a:avLst>
              <a:gd name="adj" fmla="val 2903"/>
            </a:avLst>
          </a:prstGeom>
          <a:solidFill>
            <a:srgbClr val="16213B"/>
          </a:solidFill>
          <a:ln/>
          <a:effectLst>
            <a:outerShdw sx="100000" sy="100000" kx="0" ky="0" algn="bl" rotWithShape="0" blurRad="114300" dist="38100" dir="5400000">
              <a:srgbClr val="000000">
                <a:alpha val="28000"/>
              </a:srgbClr>
            </a:outerShdw>
          </a:effectLst>
        </p:spPr>
      </p:sp>
      <p:sp>
        <p:nvSpPr>
          <p:cNvPr id="13" name="Text 10"/>
          <p:cNvSpPr/>
          <p:nvPr/>
        </p:nvSpPr>
        <p:spPr>
          <a:xfrm>
            <a:off x="7909560" y="3611880"/>
            <a:ext cx="3566160" cy="365760"/>
          </a:xfrm>
          <a:prstGeom prst="rect">
            <a:avLst/>
          </a:prstGeom>
          <a:noFill/>
          <a:ln/>
        </p:spPr>
        <p:txBody>
          <a:bodyPr wrap="square"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Why it matters</a:t>
            </a:r>
            <a:endParaRPr lang="en-US" sz="1300" dirty="0"/>
          </a:p>
        </p:txBody>
      </p:sp>
      <p:sp>
        <p:nvSpPr>
          <p:cNvPr id="14" name="Text 11"/>
          <p:cNvSpPr/>
          <p:nvPr/>
        </p:nvSpPr>
        <p:spPr>
          <a:xfrm>
            <a:off x="7909560" y="4023360"/>
            <a:ext cx="3566160" cy="2103120"/>
          </a:xfrm>
          <a:prstGeom prst="rect">
            <a:avLst/>
          </a:prstGeom>
          <a:noFill/>
          <a:ln/>
        </p:spPr>
        <p:txBody>
          <a:bodyPr wrap="square" rtlCol="0" anchor="t"/>
          <a:lstStyle/>
          <a:p>
            <a:pPr indent="0" marL="0">
              <a:lnSpc>
                <a:spcPct val="104000"/>
              </a:lnSpc>
              <a:buNone/>
            </a:pPr>
            <a:r>
              <a:rPr lang="en-US" sz="1250" dirty="0">
                <a:solidFill>
                  <a:srgbClr val="CADCFC"/>
                </a:solidFill>
                <a:latin typeface="Calibri" pitchFamily="34" charset="0"/>
                <a:ea typeface="Calibri" pitchFamily="34" charset="-122"/>
                <a:cs typeface="Calibri" pitchFamily="34" charset="-120"/>
              </a:rPr>
              <a:t>Actuals are ~5% under plan in </a:t>
            </a:r>
            <a:pPr indent="0" marL="0">
              <a:lnSpc>
                <a:spcPct val="104000"/>
              </a:lnSpc>
              <a:buNone/>
            </a:pPr>
            <a:r>
              <a:rPr lang="en-US" sz="1250" b="1" dirty="0">
                <a:solidFill>
                  <a:srgbClr val="F4F8FF"/>
                </a:solidFill>
                <a:latin typeface="Calibri" pitchFamily="34" charset="0"/>
                <a:ea typeface="Calibri" pitchFamily="34" charset="-122"/>
                <a:cs typeface="Calibri" pitchFamily="34" charset="-120"/>
              </a:rPr>
              <a:t>every country and every category</a:t>
            </a:r>
            <a:pPr indent="0" marL="0">
              <a:lnSpc>
                <a:spcPct val="104000"/>
              </a:lnSpc>
              <a:buNone/>
            </a:pPr>
            <a:r>
              <a:rPr lang="en-US" sz="1250" dirty="0">
                <a:solidFill>
                  <a:srgbClr val="CADCFC"/>
                </a:solidFill>
                <a:latin typeface="Calibri" pitchFamily="34" charset="0"/>
                <a:ea typeface="Calibri" pitchFamily="34" charset="-122"/>
                <a:cs typeface="Calibri" pitchFamily="34" charset="-120"/>
              </a:rPr>
              <a:t> — France, Germany, UK all −5.0%.
</a:t>
            </a:r>
            <a:endParaRPr lang="en-US" sz="1250" dirty="0"/>
          </a:p>
          <a:p>
            <a:pPr indent="0" marL="0">
              <a:lnSpc>
                <a:spcPct val="104000"/>
              </a:lnSpc>
              <a:buNone/>
            </a:pPr>
            <a:endParaRPr lang="en-US" sz="1250" dirty="0"/>
          </a:p>
          <a:p>
            <a:pPr indent="0" marL="0">
              <a:lnSpc>
                <a:spcPct val="104000"/>
              </a:lnSpc>
              <a:buNone/>
            </a:pPr>
            <a:r>
              <a:rPr lang="en-US" sz="1250" dirty="0">
                <a:solidFill>
                  <a:srgbClr val="CADCFC"/>
                </a:solidFill>
                <a:latin typeface="Calibri" pitchFamily="34" charset="0"/>
                <a:ea typeface="Calibri" pitchFamily="34" charset="-122"/>
                <a:cs typeface="Calibri" pitchFamily="34" charset="-120"/>
              </a:rPr>
              <a:t>Uniformity that total isn't an execution failure — it's an </a:t>
            </a:r>
            <a:endParaRPr lang="en-US" sz="1250" dirty="0"/>
          </a:p>
          <a:p>
            <a:pPr indent="0" marL="0">
              <a:lnSpc>
                <a:spcPct val="104000"/>
              </a:lnSpc>
              <a:buNone/>
            </a:pPr>
            <a:r>
              <a:rPr lang="en-US" sz="1250" b="1" dirty="0">
                <a:solidFill>
                  <a:srgbClr val="F59E0B"/>
                </a:solidFill>
                <a:latin typeface="Calibri" pitchFamily="34" charset="0"/>
                <a:ea typeface="Calibri" pitchFamily="34" charset="-122"/>
                <a:cs typeface="Calibri" pitchFamily="34" charset="-120"/>
              </a:rPr>
              <a:t>over-optimistic top-down budget.</a:t>
            </a:r>
            <a:pPr indent="0" marL="0">
              <a:lnSpc>
                <a:spcPct val="104000"/>
              </a:lnSpc>
              <a:buNone/>
            </a:pPr>
            <a:r>
              <a:rPr lang="en-US" sz="1250" dirty="0">
                <a:solidFill>
                  <a:srgbClr val="CADCFC"/>
                </a:solidFill>
                <a:latin typeface="Calibri" pitchFamily="34" charset="0"/>
                <a:ea typeface="Calibri" pitchFamily="34" charset="-122"/>
                <a:cs typeface="Calibri" pitchFamily="34" charset="-120"/>
              </a:rPr>
              <a:t> Price was on target; the plan simply assumed too many units.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FORECAST &amp; WHAT-IF</a:t>
            </a:r>
            <a:endParaRPr lang="en-US" sz="1200" dirty="0"/>
          </a:p>
        </p:txBody>
      </p:sp>
      <p:sp>
        <p:nvSpPr>
          <p:cNvPr id="3" name="Text 1"/>
          <p:cNvSpPr/>
          <p:nvPr/>
        </p:nvSpPr>
        <p:spPr>
          <a:xfrm>
            <a:off x="530352" y="640080"/>
            <a:ext cx="10972800" cy="640080"/>
          </a:xfrm>
          <a:prstGeom prst="rect">
            <a:avLst/>
          </a:prstGeom>
          <a:noFill/>
          <a:ln/>
        </p:spPr>
        <p:txBody>
          <a:bodyPr wrap="square" rtlCol="0" anchor="ctr"/>
          <a:lstStyle/>
          <a:p>
            <a:pPr indent="0" marL="0">
              <a:buNone/>
            </a:pPr>
            <a:r>
              <a:rPr lang="en-US" sz="3000" b="1" dirty="0">
                <a:solidFill>
                  <a:srgbClr val="112038"/>
                </a:solidFill>
                <a:latin typeface="Cambria" pitchFamily="34" charset="0"/>
                <a:ea typeface="Cambria" pitchFamily="34" charset="-122"/>
                <a:cs typeface="Cambria" pitchFamily="34" charset="-120"/>
              </a:rPr>
              <a:t>2025 outlook and scenario modelling</a:t>
            </a:r>
            <a:endParaRPr lang="en-US" sz="3000" dirty="0"/>
          </a:p>
        </p:txBody>
      </p:sp>
      <p:sp>
        <p:nvSpPr>
          <p:cNvPr id="4" name="Shape 2"/>
          <p:cNvSpPr/>
          <p:nvPr/>
        </p:nvSpPr>
        <p:spPr>
          <a:xfrm>
            <a:off x="548640" y="1783080"/>
            <a:ext cx="6035040" cy="4480560"/>
          </a:xfrm>
          <a:prstGeom prst="roundRect">
            <a:avLst>
              <a:gd name="adj" fmla="val 1633"/>
            </a:avLst>
          </a:prstGeom>
          <a:solidFill>
            <a:srgbClr val="FFFFFF"/>
          </a:solidFill>
          <a:ln/>
          <a:effectLst>
            <a:outerShdw sx="100000" sy="100000" kx="0" ky="0" algn="bl" rotWithShape="0" blurRad="114300" dist="38100" dir="5400000">
              <a:srgbClr val="000000">
                <a:alpha val="28000"/>
              </a:srgbClr>
            </a:outerShdw>
          </a:effectLst>
        </p:spPr>
      </p:sp>
      <p:sp>
        <p:nvSpPr>
          <p:cNvPr id="5" name="Text 3"/>
          <p:cNvSpPr/>
          <p:nvPr/>
        </p:nvSpPr>
        <p:spPr>
          <a:xfrm>
            <a:off x="822960" y="1938528"/>
            <a:ext cx="5577840" cy="365760"/>
          </a:xfrm>
          <a:prstGeom prst="rect">
            <a:avLst/>
          </a:prstGeom>
          <a:noFill/>
          <a:ln/>
        </p:spPr>
        <p:txBody>
          <a:bodyPr wrap="square" rtlCol="0" anchor="ctr"/>
          <a:lstStyle/>
          <a:p>
            <a:pPr indent="0" marL="0">
              <a:buNone/>
            </a:pPr>
            <a:r>
              <a:rPr lang="en-US" sz="1400" b="1" dirty="0">
                <a:solidFill>
                  <a:srgbClr val="112038"/>
                </a:solidFill>
                <a:latin typeface="Calibri" pitchFamily="34" charset="0"/>
                <a:ea typeface="Calibri" pitchFamily="34" charset="-122"/>
                <a:cs typeface="Calibri" pitchFamily="34" charset="-120"/>
              </a:rPr>
              <a:t>FY2025 revenue scenarios (off €2.36M base)</a:t>
            </a:r>
            <a:endParaRPr lang="en-US" sz="1400" dirty="0"/>
          </a:p>
        </p:txBody>
      </p:sp>
      <p:graphicFrame>
        <p:nvGraphicFramePr>
          <p:cNvPr id="6" name="Chart 0" descr=""/>
          <p:cNvGraphicFramePr/>
          <p:nvPr/>
        </p:nvGraphicFramePr>
        <p:xfrm>
          <a:off x="685800" y="2331720"/>
          <a:ext cx="5760720" cy="3383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822960" y="5760720"/>
            <a:ext cx="5577840" cy="457200"/>
          </a:xfrm>
          <a:prstGeom prst="rect">
            <a:avLst/>
          </a:prstGeom>
          <a:noFill/>
          <a:ln/>
        </p:spPr>
        <p:txBody>
          <a:bodyPr wrap="square" rtlCol="0" anchor="ctr"/>
          <a:lstStyle/>
          <a:p>
            <a:pPr indent="0" marL="0">
              <a:buNone/>
            </a:pPr>
            <a:r>
              <a:rPr lang="en-US" sz="1150" i="1" dirty="0">
                <a:solidFill>
                  <a:srgbClr val="5A6B86"/>
                </a:solidFill>
                <a:latin typeface="Calibri" pitchFamily="34" charset="0"/>
                <a:ea typeface="Calibri" pitchFamily="34" charset="-122"/>
                <a:cs typeface="Calibri" pitchFamily="34" charset="-120"/>
              </a:rPr>
              <a:t>To reach €2.5M in 2025, EuroFoods needs +5.8% — just above the +5.4% delivered in 2024. Achievable, not a stretch.</a:t>
            </a:r>
            <a:endParaRPr lang="en-US" sz="1150" dirty="0"/>
          </a:p>
        </p:txBody>
      </p:sp>
      <p:sp>
        <p:nvSpPr>
          <p:cNvPr id="8" name="Shape 5"/>
          <p:cNvSpPr/>
          <p:nvPr/>
        </p:nvSpPr>
        <p:spPr>
          <a:xfrm>
            <a:off x="6858000" y="1783080"/>
            <a:ext cx="4782312" cy="4480560"/>
          </a:xfrm>
          <a:prstGeom prst="roundRect">
            <a:avLst>
              <a:gd name="adj" fmla="val 1633"/>
            </a:avLst>
          </a:prstGeom>
          <a:solidFill>
            <a:srgbClr val="FFFFFF"/>
          </a:solidFill>
          <a:ln/>
          <a:effectLst>
            <a:outerShdw sx="100000" sy="100000" kx="0" ky="0" algn="bl" rotWithShape="0" blurRad="114300" dist="38100" dir="5400000">
              <a:srgbClr val="000000">
                <a:alpha val="28000"/>
              </a:srgbClr>
            </a:outerShdw>
          </a:effectLst>
        </p:spPr>
      </p:sp>
      <p:sp>
        <p:nvSpPr>
          <p:cNvPr id="9" name="Text 6"/>
          <p:cNvSpPr/>
          <p:nvPr/>
        </p:nvSpPr>
        <p:spPr>
          <a:xfrm>
            <a:off x="7086600" y="1938528"/>
            <a:ext cx="4389120" cy="365760"/>
          </a:xfrm>
          <a:prstGeom prst="rect">
            <a:avLst/>
          </a:prstGeom>
          <a:noFill/>
          <a:ln/>
        </p:spPr>
        <p:txBody>
          <a:bodyPr wrap="square" rtlCol="0" anchor="ctr"/>
          <a:lstStyle/>
          <a:p>
            <a:pPr indent="0" marL="0">
              <a:buNone/>
            </a:pPr>
            <a:r>
              <a:rPr lang="en-US" sz="1350" b="1" dirty="0">
                <a:solidFill>
                  <a:srgbClr val="112038"/>
                </a:solidFill>
                <a:latin typeface="Calibri" pitchFamily="34" charset="0"/>
                <a:ea typeface="Calibri" pitchFamily="34" charset="-122"/>
                <a:cs typeface="Calibri" pitchFamily="34" charset="-120"/>
              </a:rPr>
              <a:t>Scenario: Online +20% &amp; Convenience −10%</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86600" y="2395728"/>
          <a:ext cx="4343400" cy="2103120"/>
        </p:xfrm>
        <a:graphic>
          <a:graphicData uri="http://schemas.openxmlformats.org/drawingml/2006/table">
            <a:tbl>
              <a:tblPr/>
              <a:tblGrid>
                <a:gridCol w="2171700"/>
                <a:gridCol w="21717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Δ Revenue</a:t>
                      </a:r>
                      <a:endParaRPr lang="en-US" sz="115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Online +20%</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0A7A52"/>
                          </a:solidFill>
                          <a:latin typeface="Calibri" pitchFamily="34" charset="0"/>
                          <a:ea typeface="Calibri" pitchFamily="34" charset="-122"/>
                          <a:cs typeface="Calibri" pitchFamily="34" charset="-120"/>
                        </a:rPr>
                        <a:t>+€106,820</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Convenience −10%</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B91C1C"/>
                          </a:solidFill>
                          <a:latin typeface="Calibri" pitchFamily="34" charset="0"/>
                          <a:ea typeface="Calibri" pitchFamily="34" charset="-122"/>
                          <a:cs typeface="Calibri" pitchFamily="34" charset="-120"/>
                        </a:rPr>
                        <a:t>−€38,407</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Net impact</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0A7A52"/>
                          </a:solidFill>
                          <a:latin typeface="Calibri" pitchFamily="34" charset="0"/>
                          <a:ea typeface="Calibri" pitchFamily="34" charset="-122"/>
                          <a:cs typeface="Calibri" pitchFamily="34" charset="-120"/>
                        </a:rPr>
                        <a:t>+€68,413</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11480">
                <a:tc>
                  <a:txBody>
                    <a:bodyPr/>
                    <a:lstStyle/>
                    <a:p>
                      <a:pPr indent="0" marL="0">
                        <a:buNone/>
                      </a:pPr>
                      <a:r>
                        <a:rPr lang="en-US" sz="1200" i="1" dirty="0">
                          <a:solidFill>
                            <a:srgbClr val="5A6B86"/>
                          </a:solidFill>
                          <a:latin typeface="Calibri" pitchFamily="34" charset="0"/>
                          <a:ea typeface="Calibri" pitchFamily="34" charset="-122"/>
                          <a:cs typeface="Calibri" pitchFamily="34" charset="-120"/>
                        </a:rPr>
                        <a:t>% of 2024 revenue</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200" i="1" dirty="0">
                          <a:solidFill>
                            <a:srgbClr val="5A6B86"/>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11" name="Text 7"/>
          <p:cNvSpPr/>
          <p:nvPr/>
        </p:nvSpPr>
        <p:spPr>
          <a:xfrm>
            <a:off x="7086600" y="4754880"/>
            <a:ext cx="4343400" cy="1280160"/>
          </a:xfrm>
          <a:prstGeom prst="rect">
            <a:avLst/>
          </a:prstGeom>
          <a:noFill/>
          <a:ln/>
        </p:spPr>
        <p:txBody>
          <a:bodyPr wrap="square" rtlCol="0" anchor="t"/>
          <a:lstStyle/>
          <a:p>
            <a:pPr indent="0" marL="0">
              <a:buNone/>
            </a:pPr>
            <a:r>
              <a:rPr lang="en-US" sz="1250" b="1" dirty="0">
                <a:solidFill>
                  <a:srgbClr val="112038"/>
                </a:solidFill>
                <a:latin typeface="Calibri" pitchFamily="34" charset="0"/>
                <a:ea typeface="Calibri" pitchFamily="34" charset="-122"/>
                <a:cs typeface="Calibri" pitchFamily="34" charset="-120"/>
              </a:rPr>
              <a:t>The Online uplift more than offsets the Convenience decline</a:t>
            </a:r>
            <a:pPr indent="0" marL="0">
              <a:buNone/>
            </a:pPr>
            <a:r>
              <a:rPr lang="en-US" sz="1250" dirty="0">
                <a:solidFill>
                  <a:srgbClr val="33425C"/>
                </a:solidFill>
                <a:latin typeface="Calibri" pitchFamily="34" charset="0"/>
                <a:ea typeface="Calibri" pitchFamily="34" charset="-122"/>
                <a:cs typeface="Calibri" pitchFamily="34" charset="-120"/>
              </a:rPr>
              <a:t> — but only because Online is the bigger base. Worth doing; modest in size.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RECOMMENDATIONS</a:t>
            </a:r>
            <a:endParaRPr lang="en-US" sz="1200" dirty="0"/>
          </a:p>
        </p:txBody>
      </p:sp>
      <p:sp>
        <p:nvSpPr>
          <p:cNvPr id="3" name="Text 1"/>
          <p:cNvSpPr/>
          <p:nvPr/>
        </p:nvSpPr>
        <p:spPr>
          <a:xfrm>
            <a:off x="530352" y="640080"/>
            <a:ext cx="10972800" cy="640080"/>
          </a:xfrm>
          <a:prstGeom prst="rect">
            <a:avLst/>
          </a:prstGeom>
          <a:noFill/>
          <a:ln/>
        </p:spPr>
        <p:txBody>
          <a:bodyPr wrap="square" rtlCol="0" anchor="ctr"/>
          <a:lstStyle/>
          <a:p>
            <a:pPr indent="0" marL="0">
              <a:buNone/>
            </a:pPr>
            <a:r>
              <a:rPr lang="en-US" sz="3000" b="1" dirty="0">
                <a:solidFill>
                  <a:srgbClr val="112038"/>
                </a:solidFill>
                <a:latin typeface="Cambria" pitchFamily="34" charset="0"/>
                <a:ea typeface="Cambria" pitchFamily="34" charset="-122"/>
                <a:cs typeface="Cambria" pitchFamily="34" charset="-120"/>
              </a:rPr>
              <a:t>Three moves for 2025</a:t>
            </a:r>
            <a:endParaRPr lang="en-US" sz="3000" dirty="0"/>
          </a:p>
        </p:txBody>
      </p:sp>
      <p:sp>
        <p:nvSpPr>
          <p:cNvPr id="4" name="Shape 2"/>
          <p:cNvSpPr/>
          <p:nvPr/>
        </p:nvSpPr>
        <p:spPr>
          <a:xfrm>
            <a:off x="548640" y="1828800"/>
            <a:ext cx="11091672" cy="1325880"/>
          </a:xfrm>
          <a:prstGeom prst="roundRect">
            <a:avLst>
              <a:gd name="adj" fmla="val 5517"/>
            </a:avLst>
          </a:prstGeom>
          <a:solidFill>
            <a:srgbClr val="FFFFFF"/>
          </a:solidFill>
          <a:ln/>
          <a:effectLst>
            <a:outerShdw sx="100000" sy="100000" kx="0" ky="0" algn="bl" rotWithShape="0" blurRad="114300" dist="38100" dir="5400000">
              <a:srgbClr val="000000">
                <a:alpha val="28000"/>
              </a:srgbClr>
            </a:outerShdw>
          </a:effectLst>
        </p:spPr>
      </p:sp>
      <p:sp>
        <p:nvSpPr>
          <p:cNvPr id="5" name="Shape 3"/>
          <p:cNvSpPr/>
          <p:nvPr/>
        </p:nvSpPr>
        <p:spPr>
          <a:xfrm>
            <a:off x="822960" y="2157984"/>
            <a:ext cx="658368" cy="658368"/>
          </a:xfrm>
          <a:prstGeom prst="ellipse">
            <a:avLst/>
          </a:prstGeom>
          <a:solidFill>
            <a:srgbClr val="0891B2"/>
          </a:solidFill>
          <a:ln/>
        </p:spPr>
      </p:sp>
      <p:sp>
        <p:nvSpPr>
          <p:cNvPr id="6" name="Text 4"/>
          <p:cNvSpPr/>
          <p:nvPr/>
        </p:nvSpPr>
        <p:spPr>
          <a:xfrm>
            <a:off x="822960" y="2157984"/>
            <a:ext cx="658368" cy="658368"/>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691640" y="2011680"/>
            <a:ext cx="7040880" cy="457200"/>
          </a:xfrm>
          <a:prstGeom prst="rect">
            <a:avLst/>
          </a:prstGeom>
          <a:noFill/>
          <a:ln/>
        </p:spPr>
        <p:txBody>
          <a:bodyPr wrap="square" rtlCol="0" anchor="ctr"/>
          <a:lstStyle/>
          <a:p>
            <a:pPr indent="0" marL="0">
              <a:buNone/>
            </a:pPr>
            <a:r>
              <a:rPr lang="en-US" sz="1650" b="1" dirty="0">
                <a:solidFill>
                  <a:srgbClr val="112038"/>
                </a:solidFill>
                <a:latin typeface="Calibri" pitchFamily="34" charset="0"/>
                <a:ea typeface="Calibri" pitchFamily="34" charset="-122"/>
                <a:cs typeface="Calibri" pitchFamily="34" charset="-120"/>
              </a:rPr>
              <a:t>Rebase the 2025 budget on actuals</a:t>
            </a:r>
            <a:endParaRPr lang="en-US" sz="1650" dirty="0"/>
          </a:p>
        </p:txBody>
      </p:sp>
      <p:sp>
        <p:nvSpPr>
          <p:cNvPr id="8" name="Text 6"/>
          <p:cNvSpPr/>
          <p:nvPr/>
        </p:nvSpPr>
        <p:spPr>
          <a:xfrm>
            <a:off x="1709928" y="2432304"/>
            <a:ext cx="7040880" cy="640080"/>
          </a:xfrm>
          <a:prstGeom prst="rect">
            <a:avLst/>
          </a:prstGeom>
          <a:noFill/>
          <a:ln/>
        </p:spPr>
        <p:txBody>
          <a:bodyPr wrap="square" rtlCol="0" anchor="ctr"/>
          <a:lstStyle/>
          <a:p>
            <a:pPr indent="0" marL="0">
              <a:buNone/>
            </a:pPr>
            <a:r>
              <a:rPr lang="en-US" sz="1150" dirty="0">
                <a:solidFill>
                  <a:srgbClr val="44546B"/>
                </a:solidFill>
                <a:latin typeface="Calibri" pitchFamily="34" charset="0"/>
                <a:ea typeface="Calibri" pitchFamily="34" charset="-122"/>
                <a:cs typeface="Calibri" pitchFamily="34" charset="-120"/>
              </a:rPr>
              <a:t>Reset targets to a realistic +5–6% volume path off 2024 actuals. Converts a chronic −5% 'miss' into a credible plan and restores forecast trust.</a:t>
            </a:r>
            <a:endParaRPr lang="en-US" sz="1150" dirty="0"/>
          </a:p>
        </p:txBody>
      </p:sp>
      <p:sp>
        <p:nvSpPr>
          <p:cNvPr id="9" name="Shape 7"/>
          <p:cNvSpPr/>
          <p:nvPr/>
        </p:nvSpPr>
        <p:spPr>
          <a:xfrm>
            <a:off x="9052560" y="2139696"/>
            <a:ext cx="2286000" cy="713232"/>
          </a:xfrm>
          <a:prstGeom prst="roundRect">
            <a:avLst>
              <a:gd name="adj" fmla="val 7692"/>
            </a:avLst>
          </a:prstGeom>
          <a:solidFill>
            <a:srgbClr val="F0F9FB"/>
          </a:solidFill>
          <a:ln/>
        </p:spPr>
      </p:sp>
      <p:sp>
        <p:nvSpPr>
          <p:cNvPr id="10" name="Text 8"/>
          <p:cNvSpPr/>
          <p:nvPr/>
        </p:nvSpPr>
        <p:spPr>
          <a:xfrm>
            <a:off x="9070848" y="2139696"/>
            <a:ext cx="2249424" cy="713232"/>
          </a:xfrm>
          <a:prstGeom prst="rect">
            <a:avLst/>
          </a:prstGeom>
          <a:noFill/>
          <a:ln/>
        </p:spPr>
        <p:txBody>
          <a:bodyPr wrap="square" rtlCol="0" anchor="ctr"/>
          <a:lstStyle/>
          <a:p>
            <a:pPr algn="ctr" indent="0" marL="0">
              <a:buNone/>
            </a:pPr>
            <a:r>
              <a:rPr lang="en-US" sz="1250" b="1" dirty="0">
                <a:solidFill>
                  <a:srgbClr val="0891B2"/>
                </a:solidFill>
                <a:latin typeface="Calibri" pitchFamily="34" charset="0"/>
                <a:ea typeface="Calibri" pitchFamily="34" charset="-122"/>
                <a:cs typeface="Calibri" pitchFamily="34" charset="-120"/>
              </a:rPr>
              <a:t>Restores planning credibility</a:t>
            </a:r>
            <a:endParaRPr lang="en-US" sz="1250" dirty="0"/>
          </a:p>
        </p:txBody>
      </p:sp>
      <p:sp>
        <p:nvSpPr>
          <p:cNvPr id="11" name="Shape 9"/>
          <p:cNvSpPr/>
          <p:nvPr/>
        </p:nvSpPr>
        <p:spPr>
          <a:xfrm>
            <a:off x="548640" y="3310128"/>
            <a:ext cx="11091672" cy="1325880"/>
          </a:xfrm>
          <a:prstGeom prst="roundRect">
            <a:avLst>
              <a:gd name="adj" fmla="val 5517"/>
            </a:avLst>
          </a:prstGeom>
          <a:solidFill>
            <a:srgbClr val="FFFFFF"/>
          </a:solidFill>
          <a:ln/>
          <a:effectLst>
            <a:outerShdw sx="100000" sy="100000" kx="0" ky="0" algn="bl" rotWithShape="0" blurRad="114300" dist="38100" dir="5400000">
              <a:srgbClr val="000000">
                <a:alpha val="28000"/>
              </a:srgbClr>
            </a:outerShdw>
          </a:effectLst>
        </p:spPr>
      </p:sp>
      <p:sp>
        <p:nvSpPr>
          <p:cNvPr id="12" name="Shape 10"/>
          <p:cNvSpPr/>
          <p:nvPr/>
        </p:nvSpPr>
        <p:spPr>
          <a:xfrm>
            <a:off x="822960" y="3639312"/>
            <a:ext cx="658368" cy="658368"/>
          </a:xfrm>
          <a:prstGeom prst="ellipse">
            <a:avLst/>
          </a:prstGeom>
          <a:solidFill>
            <a:srgbClr val="F59E0B"/>
          </a:solidFill>
          <a:ln/>
        </p:spPr>
      </p:sp>
      <p:sp>
        <p:nvSpPr>
          <p:cNvPr id="13" name="Text 11"/>
          <p:cNvSpPr/>
          <p:nvPr/>
        </p:nvSpPr>
        <p:spPr>
          <a:xfrm>
            <a:off x="822960" y="3639312"/>
            <a:ext cx="658368" cy="658368"/>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91640" y="3493008"/>
            <a:ext cx="7040880" cy="457200"/>
          </a:xfrm>
          <a:prstGeom prst="rect">
            <a:avLst/>
          </a:prstGeom>
          <a:noFill/>
          <a:ln/>
        </p:spPr>
        <p:txBody>
          <a:bodyPr wrap="square" rtlCol="0" anchor="ctr"/>
          <a:lstStyle/>
          <a:p>
            <a:pPr indent="0" marL="0">
              <a:buNone/>
            </a:pPr>
            <a:r>
              <a:rPr lang="en-US" sz="1650" b="1" dirty="0">
                <a:solidFill>
                  <a:srgbClr val="112038"/>
                </a:solidFill>
                <a:latin typeface="Calibri" pitchFamily="34" charset="0"/>
                <a:ea typeface="Calibri" pitchFamily="34" charset="-122"/>
                <a:cs typeface="Calibri" pitchFamily="34" charset="-120"/>
              </a:rPr>
              <a:t>Fix or re-cost the Online channel</a:t>
            </a:r>
            <a:endParaRPr lang="en-US" sz="1650" dirty="0"/>
          </a:p>
        </p:txBody>
      </p:sp>
      <p:sp>
        <p:nvSpPr>
          <p:cNvPr id="15" name="Text 13"/>
          <p:cNvSpPr/>
          <p:nvPr/>
        </p:nvSpPr>
        <p:spPr>
          <a:xfrm>
            <a:off x="1709928" y="3913632"/>
            <a:ext cx="7040880" cy="640080"/>
          </a:xfrm>
          <a:prstGeom prst="rect">
            <a:avLst/>
          </a:prstGeom>
          <a:noFill/>
          <a:ln/>
        </p:spPr>
        <p:txBody>
          <a:bodyPr wrap="square" rtlCol="0" anchor="ctr"/>
          <a:lstStyle/>
          <a:p>
            <a:pPr indent="0" marL="0">
              <a:buNone/>
            </a:pPr>
            <a:r>
              <a:rPr lang="en-US" sz="1150" dirty="0">
                <a:solidFill>
                  <a:srgbClr val="44546B"/>
                </a:solidFill>
                <a:latin typeface="Calibri" pitchFamily="34" charset="0"/>
                <a:ea typeface="Calibri" pitchFamily="34" charset="-122"/>
                <a:cs typeface="Calibri" pitchFamily="34" charset="-120"/>
              </a:rPr>
              <a:t>Online (+4.9%) lags stores (+6.0%). Audit price, fulfilment cost &amp; assortment; a focused +20% push offsets a −10% Convenience dip.</a:t>
            </a:r>
            <a:endParaRPr lang="en-US" sz="1150" dirty="0"/>
          </a:p>
        </p:txBody>
      </p:sp>
      <p:sp>
        <p:nvSpPr>
          <p:cNvPr id="16" name="Shape 14"/>
          <p:cNvSpPr/>
          <p:nvPr/>
        </p:nvSpPr>
        <p:spPr>
          <a:xfrm>
            <a:off x="9052560" y="3621024"/>
            <a:ext cx="2286000" cy="713232"/>
          </a:xfrm>
          <a:prstGeom prst="roundRect">
            <a:avLst>
              <a:gd name="adj" fmla="val 7692"/>
            </a:avLst>
          </a:prstGeom>
          <a:solidFill>
            <a:srgbClr val="F0F9FB"/>
          </a:solidFill>
          <a:ln/>
        </p:spPr>
      </p:sp>
      <p:sp>
        <p:nvSpPr>
          <p:cNvPr id="17" name="Text 15"/>
          <p:cNvSpPr/>
          <p:nvPr/>
        </p:nvSpPr>
        <p:spPr>
          <a:xfrm>
            <a:off x="9070848" y="3621024"/>
            <a:ext cx="2249424" cy="713232"/>
          </a:xfrm>
          <a:prstGeom prst="rect">
            <a:avLst/>
          </a:prstGeom>
          <a:noFill/>
          <a:ln/>
        </p:spPr>
        <p:txBody>
          <a:bodyPr wrap="square" rtlCol="0" anchor="ctr"/>
          <a:lstStyle/>
          <a:p>
            <a:pPr algn="ctr" indent="0" marL="0">
              <a:buNone/>
            </a:pPr>
            <a:r>
              <a:rPr lang="en-US" sz="1250" b="1" dirty="0">
                <a:solidFill>
                  <a:srgbClr val="F59E0B"/>
                </a:solidFill>
                <a:latin typeface="Calibri" pitchFamily="34" charset="0"/>
                <a:ea typeface="Calibri" pitchFamily="34" charset="-122"/>
                <a:cs typeface="Calibri" pitchFamily="34" charset="-120"/>
              </a:rPr>
              <a:t>+€50–80k revenue</a:t>
            </a:r>
            <a:endParaRPr lang="en-US" sz="1250" dirty="0"/>
          </a:p>
        </p:txBody>
      </p:sp>
      <p:sp>
        <p:nvSpPr>
          <p:cNvPr id="18" name="Shape 16"/>
          <p:cNvSpPr/>
          <p:nvPr/>
        </p:nvSpPr>
        <p:spPr>
          <a:xfrm>
            <a:off x="548640" y="4791456"/>
            <a:ext cx="11091672" cy="1325880"/>
          </a:xfrm>
          <a:prstGeom prst="roundRect">
            <a:avLst>
              <a:gd name="adj" fmla="val 5517"/>
            </a:avLst>
          </a:prstGeom>
          <a:solidFill>
            <a:srgbClr val="FFFFFF"/>
          </a:solidFill>
          <a:ln/>
          <a:effectLst>
            <a:outerShdw sx="100000" sy="100000" kx="0" ky="0" algn="bl" rotWithShape="0" blurRad="114300" dist="38100" dir="5400000">
              <a:srgbClr val="000000">
                <a:alpha val="28000"/>
              </a:srgbClr>
            </a:outerShdw>
          </a:effectLst>
        </p:spPr>
      </p:sp>
      <p:sp>
        <p:nvSpPr>
          <p:cNvPr id="19" name="Shape 17"/>
          <p:cNvSpPr/>
          <p:nvPr/>
        </p:nvSpPr>
        <p:spPr>
          <a:xfrm>
            <a:off x="822960" y="5120640"/>
            <a:ext cx="658368" cy="658368"/>
          </a:xfrm>
          <a:prstGeom prst="ellipse">
            <a:avLst/>
          </a:prstGeom>
          <a:solidFill>
            <a:srgbClr val="10B981"/>
          </a:solidFill>
          <a:ln/>
        </p:spPr>
      </p:sp>
      <p:sp>
        <p:nvSpPr>
          <p:cNvPr id="20" name="Text 18"/>
          <p:cNvSpPr/>
          <p:nvPr/>
        </p:nvSpPr>
        <p:spPr>
          <a:xfrm>
            <a:off x="822960" y="5120640"/>
            <a:ext cx="658368" cy="658368"/>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21" name="Text 19"/>
          <p:cNvSpPr/>
          <p:nvPr/>
        </p:nvSpPr>
        <p:spPr>
          <a:xfrm>
            <a:off x="1691640" y="4974336"/>
            <a:ext cx="7040880" cy="457200"/>
          </a:xfrm>
          <a:prstGeom prst="rect">
            <a:avLst/>
          </a:prstGeom>
          <a:noFill/>
          <a:ln/>
        </p:spPr>
        <p:txBody>
          <a:bodyPr wrap="square" rtlCol="0" anchor="ctr"/>
          <a:lstStyle/>
          <a:p>
            <a:pPr indent="0" marL="0">
              <a:buNone/>
            </a:pPr>
            <a:r>
              <a:rPr lang="en-US" sz="1650" b="1" dirty="0">
                <a:solidFill>
                  <a:srgbClr val="112038"/>
                </a:solidFill>
                <a:latin typeface="Calibri" pitchFamily="34" charset="0"/>
                <a:ea typeface="Calibri" pitchFamily="34" charset="-122"/>
                <a:cs typeface="Calibri" pitchFamily="34" charset="-120"/>
              </a:rPr>
              <a:t>Attack Frozen Food cost-to-serve</a:t>
            </a:r>
            <a:endParaRPr lang="en-US" sz="1650" dirty="0"/>
          </a:p>
        </p:txBody>
      </p:sp>
      <p:sp>
        <p:nvSpPr>
          <p:cNvPr id="22" name="Text 20"/>
          <p:cNvSpPr/>
          <p:nvPr/>
        </p:nvSpPr>
        <p:spPr>
          <a:xfrm>
            <a:off x="1709928" y="5394960"/>
            <a:ext cx="7040880" cy="640080"/>
          </a:xfrm>
          <a:prstGeom prst="rect">
            <a:avLst/>
          </a:prstGeom>
          <a:noFill/>
          <a:ln/>
        </p:spPr>
        <p:txBody>
          <a:bodyPr wrap="square" rtlCol="0" anchor="ctr"/>
          <a:lstStyle/>
          <a:p>
            <a:pPr indent="0" marL="0">
              <a:buNone/>
            </a:pPr>
            <a:r>
              <a:rPr lang="en-US" sz="1150" dirty="0">
                <a:solidFill>
                  <a:srgbClr val="44546B"/>
                </a:solidFill>
                <a:latin typeface="Calibri" pitchFamily="34" charset="0"/>
                <a:ea typeface="Calibri" pitchFamily="34" charset="-122"/>
                <a:cs typeface="Calibri" pitchFamily="34" charset="-120"/>
              </a:rPr>
              <a:t>Renegotiate frozen supply or lift price 1–2% to pull the category back above its 35% target — no volume risk if paired with seasonal promo.</a:t>
            </a:r>
            <a:endParaRPr lang="en-US" sz="1150" dirty="0"/>
          </a:p>
        </p:txBody>
      </p:sp>
      <p:sp>
        <p:nvSpPr>
          <p:cNvPr id="23" name="Shape 21"/>
          <p:cNvSpPr/>
          <p:nvPr/>
        </p:nvSpPr>
        <p:spPr>
          <a:xfrm>
            <a:off x="9052560" y="5102352"/>
            <a:ext cx="2286000" cy="713232"/>
          </a:xfrm>
          <a:prstGeom prst="roundRect">
            <a:avLst>
              <a:gd name="adj" fmla="val 7692"/>
            </a:avLst>
          </a:prstGeom>
          <a:solidFill>
            <a:srgbClr val="F0F9FB"/>
          </a:solidFill>
          <a:ln/>
        </p:spPr>
      </p:sp>
      <p:sp>
        <p:nvSpPr>
          <p:cNvPr id="24" name="Text 22"/>
          <p:cNvSpPr/>
          <p:nvPr/>
        </p:nvSpPr>
        <p:spPr>
          <a:xfrm>
            <a:off x="9070848" y="5102352"/>
            <a:ext cx="2249424" cy="713232"/>
          </a:xfrm>
          <a:prstGeom prst="rect">
            <a:avLst/>
          </a:prstGeom>
          <a:noFill/>
          <a:ln/>
        </p:spPr>
        <p:txBody>
          <a:bodyPr wrap="square" rtlCol="0" anchor="ctr"/>
          <a:lstStyle/>
          <a:p>
            <a:pPr algn="ctr" indent="0" marL="0">
              <a:buNone/>
            </a:pPr>
            <a:r>
              <a:rPr lang="en-US" sz="1250" b="1" dirty="0">
                <a:solidFill>
                  <a:srgbClr val="10B981"/>
                </a:solidFill>
                <a:latin typeface="Calibri" pitchFamily="34" charset="0"/>
                <a:ea typeface="Calibri" pitchFamily="34" charset="-122"/>
                <a:cs typeface="Calibri" pitchFamily="34" charset="-120"/>
              </a:rPr>
              <a:t>+€15–20k margin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RISKS &amp; ASSUMPTIONS</a:t>
            </a:r>
            <a:endParaRPr lang="en-US" sz="1200" dirty="0"/>
          </a:p>
        </p:txBody>
      </p:sp>
      <p:sp>
        <p:nvSpPr>
          <p:cNvPr id="3" name="Text 1"/>
          <p:cNvSpPr/>
          <p:nvPr/>
        </p:nvSpPr>
        <p:spPr>
          <a:xfrm>
            <a:off x="530352" y="676656"/>
            <a:ext cx="10972800" cy="640080"/>
          </a:xfrm>
          <a:prstGeom prst="rect">
            <a:avLst/>
          </a:prstGeom>
          <a:noFill/>
          <a:ln/>
        </p:spPr>
        <p:txBody>
          <a:bodyPr wrap="square" rtlCol="0" anchor="ctr"/>
          <a:lstStyle/>
          <a:p>
            <a:pPr indent="0" marL="0">
              <a:buNone/>
            </a:pPr>
            <a:r>
              <a:rPr lang="en-US" sz="3000" b="1" dirty="0">
                <a:solidFill>
                  <a:srgbClr val="F4F8FF"/>
                </a:solidFill>
                <a:latin typeface="Cambria" pitchFamily="34" charset="0"/>
                <a:ea typeface="Cambria" pitchFamily="34" charset="-122"/>
                <a:cs typeface="Cambria" pitchFamily="34" charset="-120"/>
              </a:rPr>
              <a:t>What could break the plan</a:t>
            </a:r>
            <a:endParaRPr lang="en-US" sz="3000" dirty="0"/>
          </a:p>
        </p:txBody>
      </p:sp>
      <p:sp>
        <p:nvSpPr>
          <p:cNvPr id="4" name="Shape 2"/>
          <p:cNvSpPr/>
          <p:nvPr/>
        </p:nvSpPr>
        <p:spPr>
          <a:xfrm>
            <a:off x="548640" y="1828800"/>
            <a:ext cx="11091672" cy="1234440"/>
          </a:xfrm>
          <a:prstGeom prst="roundRect">
            <a:avLst>
              <a:gd name="adj" fmla="val 5926"/>
            </a:avLst>
          </a:prstGeom>
          <a:solidFill>
            <a:srgbClr val="16213B"/>
          </a:solidFill>
          <a:ln/>
          <a:effectLst>
            <a:outerShdw sx="100000" sy="100000" kx="0" ky="0" algn="bl" rotWithShape="0" blurRad="114300" dist="38100" dir="5400000">
              <a:srgbClr val="000000">
                <a:alpha val="28000"/>
              </a:srgbClr>
            </a:outerShdw>
          </a:effectLst>
        </p:spPr>
      </p:sp>
      <p:sp>
        <p:nvSpPr>
          <p:cNvPr id="5" name="Shape 3"/>
          <p:cNvSpPr/>
          <p:nvPr/>
        </p:nvSpPr>
        <p:spPr>
          <a:xfrm>
            <a:off x="868680" y="2286000"/>
            <a:ext cx="310896" cy="310896"/>
          </a:xfrm>
          <a:prstGeom prst="ellipse">
            <a:avLst/>
          </a:prstGeom>
          <a:solidFill>
            <a:srgbClr val="F59E0B"/>
          </a:solidFill>
          <a:ln/>
        </p:spPr>
      </p:sp>
      <p:sp>
        <p:nvSpPr>
          <p:cNvPr id="6" name="Text 4"/>
          <p:cNvSpPr/>
          <p:nvPr/>
        </p:nvSpPr>
        <p:spPr>
          <a:xfrm>
            <a:off x="1417320" y="2011680"/>
            <a:ext cx="9875520" cy="411480"/>
          </a:xfrm>
          <a:prstGeom prst="rect">
            <a:avLst/>
          </a:prstGeom>
          <a:noFill/>
          <a:ln/>
        </p:spPr>
        <p:txBody>
          <a:bodyPr wrap="square" rtlCol="0" anchor="ctr"/>
          <a:lstStyle/>
          <a:p>
            <a:pPr indent="0" marL="0">
              <a:buNone/>
            </a:pPr>
            <a:r>
              <a:rPr lang="en-US" sz="1600" b="1" dirty="0">
                <a:solidFill>
                  <a:srgbClr val="F4F8FF"/>
                </a:solidFill>
                <a:latin typeface="Calibri" pitchFamily="34" charset="0"/>
                <a:ea typeface="Calibri" pitchFamily="34" charset="-122"/>
                <a:cs typeface="Calibri" pitchFamily="34" charset="-120"/>
              </a:rPr>
              <a:t>Flat-price assumption</a:t>
            </a:r>
            <a:endParaRPr lang="en-US" sz="1600" dirty="0"/>
          </a:p>
        </p:txBody>
      </p:sp>
      <p:sp>
        <p:nvSpPr>
          <p:cNvPr id="7" name="Text 5"/>
          <p:cNvSpPr/>
          <p:nvPr/>
        </p:nvSpPr>
        <p:spPr>
          <a:xfrm>
            <a:off x="1435608" y="2432304"/>
            <a:ext cx="9875520" cy="5486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Scenarios hold 2024 prices. Input-cost inflation could erode the Frozen Food margin recovery before it lands.</a:t>
            </a:r>
            <a:endParaRPr lang="en-US" sz="1250" dirty="0"/>
          </a:p>
        </p:txBody>
      </p:sp>
      <p:sp>
        <p:nvSpPr>
          <p:cNvPr id="8" name="Shape 6"/>
          <p:cNvSpPr/>
          <p:nvPr/>
        </p:nvSpPr>
        <p:spPr>
          <a:xfrm>
            <a:off x="548640" y="3246120"/>
            <a:ext cx="11091672" cy="1234440"/>
          </a:xfrm>
          <a:prstGeom prst="roundRect">
            <a:avLst>
              <a:gd name="adj" fmla="val 5926"/>
            </a:avLst>
          </a:prstGeom>
          <a:solidFill>
            <a:srgbClr val="16213B"/>
          </a:solidFill>
          <a:ln/>
          <a:effectLst>
            <a:outerShdw sx="100000" sy="100000" kx="0" ky="0" algn="bl" rotWithShape="0" blurRad="114300" dist="38100" dir="5400000">
              <a:srgbClr val="000000">
                <a:alpha val="28000"/>
              </a:srgbClr>
            </a:outerShdw>
          </a:effectLst>
        </p:spPr>
      </p:sp>
      <p:sp>
        <p:nvSpPr>
          <p:cNvPr id="9" name="Shape 7"/>
          <p:cNvSpPr/>
          <p:nvPr/>
        </p:nvSpPr>
        <p:spPr>
          <a:xfrm>
            <a:off x="868680" y="3703320"/>
            <a:ext cx="310896" cy="310896"/>
          </a:xfrm>
          <a:prstGeom prst="ellipse">
            <a:avLst/>
          </a:prstGeom>
          <a:solidFill>
            <a:srgbClr val="22D3EE"/>
          </a:solidFill>
          <a:ln/>
        </p:spPr>
      </p:sp>
      <p:sp>
        <p:nvSpPr>
          <p:cNvPr id="10" name="Text 8"/>
          <p:cNvSpPr/>
          <p:nvPr/>
        </p:nvSpPr>
        <p:spPr>
          <a:xfrm>
            <a:off x="1417320" y="3429000"/>
            <a:ext cx="9875520" cy="411480"/>
          </a:xfrm>
          <a:prstGeom prst="rect">
            <a:avLst/>
          </a:prstGeom>
          <a:noFill/>
          <a:ln/>
        </p:spPr>
        <p:txBody>
          <a:bodyPr wrap="square" rtlCol="0" anchor="ctr"/>
          <a:lstStyle/>
          <a:p>
            <a:pPr indent="0" marL="0">
              <a:buNone/>
            </a:pPr>
            <a:r>
              <a:rPr lang="en-US" sz="1600" b="1" dirty="0">
                <a:solidFill>
                  <a:srgbClr val="F4F8FF"/>
                </a:solidFill>
                <a:latin typeface="Calibri" pitchFamily="34" charset="0"/>
                <a:ea typeface="Calibri" pitchFamily="34" charset="-122"/>
                <a:cs typeface="Calibri" pitchFamily="34" charset="-120"/>
              </a:rPr>
              <a:t>FX translation risk</a:t>
            </a:r>
            <a:endParaRPr lang="en-US" sz="1600" dirty="0"/>
          </a:p>
        </p:txBody>
      </p:sp>
      <p:sp>
        <p:nvSpPr>
          <p:cNvPr id="11" name="Text 9"/>
          <p:cNvSpPr/>
          <p:nvPr/>
        </p:nvSpPr>
        <p:spPr>
          <a:xfrm>
            <a:off x="1435608" y="3849624"/>
            <a:ext cx="9875520" cy="5486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UK is 27% of revenue. EUR/GBP swung 0.831–0.883 (~6%) over the period — currency moves aren't captured in these EUR figures.</a:t>
            </a:r>
            <a:endParaRPr lang="en-US" sz="1250" dirty="0"/>
          </a:p>
        </p:txBody>
      </p:sp>
      <p:sp>
        <p:nvSpPr>
          <p:cNvPr id="12" name="Shape 10"/>
          <p:cNvSpPr/>
          <p:nvPr/>
        </p:nvSpPr>
        <p:spPr>
          <a:xfrm>
            <a:off x="548640" y="4663440"/>
            <a:ext cx="11091672" cy="1234440"/>
          </a:xfrm>
          <a:prstGeom prst="roundRect">
            <a:avLst>
              <a:gd name="adj" fmla="val 5926"/>
            </a:avLst>
          </a:prstGeom>
          <a:solidFill>
            <a:srgbClr val="16213B"/>
          </a:solidFill>
          <a:ln/>
          <a:effectLst>
            <a:outerShdw sx="100000" sy="100000" kx="0" ky="0" algn="bl" rotWithShape="0" blurRad="114300" dist="38100" dir="5400000">
              <a:srgbClr val="000000">
                <a:alpha val="28000"/>
              </a:srgbClr>
            </a:outerShdw>
          </a:effectLst>
        </p:spPr>
      </p:sp>
      <p:sp>
        <p:nvSpPr>
          <p:cNvPr id="13" name="Shape 11"/>
          <p:cNvSpPr/>
          <p:nvPr/>
        </p:nvSpPr>
        <p:spPr>
          <a:xfrm>
            <a:off x="868680" y="5120640"/>
            <a:ext cx="310896" cy="310896"/>
          </a:xfrm>
          <a:prstGeom prst="ellipse">
            <a:avLst/>
          </a:prstGeom>
          <a:solidFill>
            <a:srgbClr val="EF4444"/>
          </a:solidFill>
          <a:ln/>
        </p:spPr>
      </p:sp>
      <p:sp>
        <p:nvSpPr>
          <p:cNvPr id="14" name="Text 12"/>
          <p:cNvSpPr/>
          <p:nvPr/>
        </p:nvSpPr>
        <p:spPr>
          <a:xfrm>
            <a:off x="1417320" y="4846320"/>
            <a:ext cx="9875520" cy="411480"/>
          </a:xfrm>
          <a:prstGeom prst="rect">
            <a:avLst/>
          </a:prstGeom>
          <a:noFill/>
          <a:ln/>
        </p:spPr>
        <p:txBody>
          <a:bodyPr wrap="square" rtlCol="0" anchor="ctr"/>
          <a:lstStyle/>
          <a:p>
            <a:pPr indent="0" marL="0">
              <a:buNone/>
            </a:pPr>
            <a:r>
              <a:rPr lang="en-US" sz="1600" b="1" dirty="0">
                <a:solidFill>
                  <a:srgbClr val="F4F8FF"/>
                </a:solidFill>
                <a:latin typeface="Calibri" pitchFamily="34" charset="0"/>
                <a:ea typeface="Calibri" pitchFamily="34" charset="-122"/>
                <a:cs typeface="Calibri" pitchFamily="34" charset="-120"/>
              </a:rPr>
              <a:t>Linear, seasonality-repeats forecast</a:t>
            </a:r>
            <a:endParaRPr lang="en-US" sz="1600" dirty="0"/>
          </a:p>
        </p:txBody>
      </p:sp>
      <p:sp>
        <p:nvSpPr>
          <p:cNvPr id="15" name="Text 13"/>
          <p:cNvSpPr/>
          <p:nvPr/>
        </p:nvSpPr>
        <p:spPr>
          <a:xfrm>
            <a:off x="1435608" y="5266944"/>
            <a:ext cx="9875520" cy="5486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projection assumes 2024 seasonal patterns recur. A demand shock or the loss of a concentrated key account would invalidate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2286000" y="3657600"/>
            <a:ext cx="6400800" cy="6400800"/>
          </a:xfrm>
          <a:prstGeom prst="ellipse">
            <a:avLst/>
          </a:prstGeom>
          <a:solidFill>
            <a:srgbClr val="0891B2">
              <a:alpha val="20000"/>
            </a:srgbClr>
          </a:solidFill>
          <a:ln/>
        </p:spPr>
      </p:sp>
      <p:sp>
        <p:nvSpPr>
          <p:cNvPr id="3" name="Shape 1"/>
          <p:cNvSpPr/>
          <p:nvPr/>
        </p:nvSpPr>
        <p:spPr>
          <a:xfrm>
            <a:off x="9601200" y="-2377440"/>
            <a:ext cx="5486400" cy="5486400"/>
          </a:xfrm>
          <a:prstGeom prst="ellipse">
            <a:avLst/>
          </a:prstGeom>
          <a:solidFill>
            <a:srgbClr val="22D3EE">
              <a:alpha val="14000"/>
            </a:srgbClr>
          </a:solidFill>
          <a:ln/>
        </p:spPr>
      </p:sp>
      <p:sp>
        <p:nvSpPr>
          <p:cNvPr id="4" name="Text 2"/>
          <p:cNvSpPr/>
          <p:nvPr/>
        </p:nvSpPr>
        <p:spPr>
          <a:xfrm>
            <a:off x="777240" y="1097280"/>
            <a:ext cx="10058400" cy="274320"/>
          </a:xfrm>
          <a:prstGeom prst="rect">
            <a:avLst/>
          </a:prstGeom>
          <a:noFill/>
          <a:ln/>
        </p:spPr>
        <p:txBody>
          <a:bodyPr wrap="square" rtlCol="0" anchor="ctr"/>
          <a:lstStyle/>
          <a:p>
            <a:pPr indent="0" marL="0">
              <a:buNone/>
            </a:pPr>
            <a:r>
              <a:rPr lang="en-US" sz="1200" b="1" spc="300" kern="0" dirty="0">
                <a:solidFill>
                  <a:srgbClr val="0891B2"/>
                </a:solidFill>
                <a:latin typeface="Calibri" pitchFamily="34" charset="0"/>
                <a:ea typeface="Calibri" pitchFamily="34" charset="-122"/>
                <a:cs typeface="Calibri" pitchFamily="34" charset="-120"/>
              </a:rPr>
              <a:t>IN ONE LINE</a:t>
            </a:r>
            <a:endParaRPr lang="en-US" sz="1200" dirty="0"/>
          </a:p>
        </p:txBody>
      </p:sp>
      <p:sp>
        <p:nvSpPr>
          <p:cNvPr id="5" name="Text 3"/>
          <p:cNvSpPr/>
          <p:nvPr/>
        </p:nvSpPr>
        <p:spPr>
          <a:xfrm>
            <a:off x="777240" y="1554480"/>
            <a:ext cx="10607040" cy="1463040"/>
          </a:xfrm>
          <a:prstGeom prst="rect">
            <a:avLst/>
          </a:prstGeom>
          <a:noFill/>
          <a:ln/>
        </p:spPr>
        <p:txBody>
          <a:bodyPr wrap="square" rtlCol="0" anchor="ctr"/>
          <a:lstStyle/>
          <a:p>
            <a:pPr indent="0" marL="0">
              <a:lnSpc>
                <a:spcPct val="100000"/>
              </a:lnSpc>
              <a:buNone/>
            </a:pPr>
            <a:r>
              <a:rPr lang="en-US" sz="3400" b="1" dirty="0">
                <a:solidFill>
                  <a:srgbClr val="F4F8FF"/>
                </a:solidFill>
                <a:latin typeface="Cambria" pitchFamily="34" charset="0"/>
                <a:ea typeface="Cambria" pitchFamily="34" charset="-122"/>
                <a:cs typeface="Cambria" pitchFamily="34" charset="-120"/>
              </a:rPr>
              <a:t>A profitable, growing business held back by an over-optimistic plan.</a:t>
            </a:r>
            <a:endParaRPr lang="en-US" sz="3400" dirty="0"/>
          </a:p>
        </p:txBody>
      </p:sp>
      <p:sp>
        <p:nvSpPr>
          <p:cNvPr id="6" name="Shape 4"/>
          <p:cNvSpPr/>
          <p:nvPr/>
        </p:nvSpPr>
        <p:spPr>
          <a:xfrm>
            <a:off x="822960" y="3392424"/>
            <a:ext cx="182880" cy="182880"/>
          </a:xfrm>
          <a:prstGeom prst="ellipse">
            <a:avLst/>
          </a:prstGeom>
          <a:solidFill>
            <a:srgbClr val="22D3EE"/>
          </a:solidFill>
          <a:ln/>
        </p:spPr>
      </p:sp>
      <p:sp>
        <p:nvSpPr>
          <p:cNvPr id="7" name="Text 5"/>
          <p:cNvSpPr/>
          <p:nvPr/>
        </p:nvSpPr>
        <p:spPr>
          <a:xfrm>
            <a:off x="1143000" y="3291840"/>
            <a:ext cx="10058400" cy="4114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Rebase the budget — the −4.6% miss is planning, not performance</a:t>
            </a:r>
            <a:endParaRPr lang="en-US" sz="1500" dirty="0"/>
          </a:p>
        </p:txBody>
      </p:sp>
      <p:sp>
        <p:nvSpPr>
          <p:cNvPr id="8" name="Shape 6"/>
          <p:cNvSpPr/>
          <p:nvPr/>
        </p:nvSpPr>
        <p:spPr>
          <a:xfrm>
            <a:off x="822960" y="3959352"/>
            <a:ext cx="182880" cy="182880"/>
          </a:xfrm>
          <a:prstGeom prst="ellipse">
            <a:avLst/>
          </a:prstGeom>
          <a:solidFill>
            <a:srgbClr val="22D3EE"/>
          </a:solidFill>
          <a:ln/>
        </p:spPr>
      </p:sp>
      <p:sp>
        <p:nvSpPr>
          <p:cNvPr id="9" name="Text 7"/>
          <p:cNvSpPr/>
          <p:nvPr/>
        </p:nvSpPr>
        <p:spPr>
          <a:xfrm>
            <a:off x="1143000" y="3858768"/>
            <a:ext cx="10058400" cy="4114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Wake up the Online channel — it lags the stores it should be beating</a:t>
            </a:r>
            <a:endParaRPr lang="en-US" sz="1500" dirty="0"/>
          </a:p>
        </p:txBody>
      </p:sp>
      <p:sp>
        <p:nvSpPr>
          <p:cNvPr id="10" name="Shape 8"/>
          <p:cNvSpPr/>
          <p:nvPr/>
        </p:nvSpPr>
        <p:spPr>
          <a:xfrm>
            <a:off x="822960" y="4526280"/>
            <a:ext cx="182880" cy="182880"/>
          </a:xfrm>
          <a:prstGeom prst="ellipse">
            <a:avLst/>
          </a:prstGeom>
          <a:solidFill>
            <a:srgbClr val="22D3EE"/>
          </a:solidFill>
          <a:ln/>
        </p:spPr>
      </p:sp>
      <p:sp>
        <p:nvSpPr>
          <p:cNvPr id="11" name="Text 9"/>
          <p:cNvSpPr/>
          <p:nvPr/>
        </p:nvSpPr>
        <p:spPr>
          <a:xfrm>
            <a:off x="1143000" y="4425696"/>
            <a:ext cx="10058400" cy="4114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Recover Frozen Food margin through cost &amp; price, not delisting</a:t>
            </a:r>
            <a:endParaRPr lang="en-US" sz="1500" dirty="0"/>
          </a:p>
        </p:txBody>
      </p:sp>
      <p:sp>
        <p:nvSpPr>
          <p:cNvPr id="12" name="Shape 10"/>
          <p:cNvSpPr/>
          <p:nvPr/>
        </p:nvSpPr>
        <p:spPr>
          <a:xfrm>
            <a:off x="822960" y="5440680"/>
            <a:ext cx="10515600" cy="0"/>
          </a:xfrm>
          <a:prstGeom prst="line">
            <a:avLst/>
          </a:prstGeom>
          <a:noFill/>
          <a:ln w="12700">
            <a:solidFill>
              <a:srgbClr val="2A3B5C"/>
            </a:solidFill>
            <a:prstDash val="solid"/>
          </a:ln>
        </p:spPr>
      </p:sp>
      <p:sp>
        <p:nvSpPr>
          <p:cNvPr id="13" name="Text 11"/>
          <p:cNvSpPr/>
          <p:nvPr/>
        </p:nvSpPr>
        <p:spPr>
          <a:xfrm>
            <a:off x="822960" y="5669280"/>
            <a:ext cx="10607040" cy="548640"/>
          </a:xfrm>
          <a:prstGeom prst="rect">
            <a:avLst/>
          </a:prstGeom>
          <a:noFill/>
          <a:ln/>
        </p:spPr>
        <p:txBody>
          <a:bodyPr wrap="square" rtlCol="0" anchor="ctr"/>
          <a:lstStyle/>
          <a:p>
            <a:pPr indent="0" marL="0">
              <a:buNone/>
            </a:pPr>
            <a:r>
              <a:rPr lang="en-US" sz="1800" b="1" dirty="0">
                <a:solidFill>
                  <a:srgbClr val="F4F8FF"/>
                </a:solidFill>
                <a:latin typeface="Calibri" pitchFamily="34" charset="0"/>
                <a:ea typeface="Calibri" pitchFamily="34" charset="-122"/>
                <a:cs typeface="Calibri" pitchFamily="34" charset="-120"/>
              </a:rPr>
              <a:t>Thank you  ·  Questions?</a:t>
            </a:r>
            <a:pPr indent="0" marL="0">
              <a:buNone/>
            </a:pPr>
            <a:r>
              <a:rPr lang="en-US" sz="1300" dirty="0">
                <a:solidFill>
                  <a:srgbClr val="8FA3C4"/>
                </a:solidFill>
                <a:latin typeface="Calibri" pitchFamily="34" charset="0"/>
                <a:ea typeface="Calibri" pitchFamily="34" charset="-122"/>
                <a:cs typeface="Calibri" pitchFamily="34" charset="-120"/>
              </a:rPr>
              <a:t>     Ask me about the DAX, the grain-matching, or drag the what-if slider live.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EuroFoods S.A. — FY2024 Performance Review</dc:title>
  <dc:subject>PptxGenJS Presentation</dc:subject>
  <dc:creator>EuroFoods FP&amp;A</dc:creator>
  <cp:lastModifiedBy>EuroFoods FP&amp;A</cp:lastModifiedBy>
  <cp:revision>1</cp:revision>
  <dcterms:created xsi:type="dcterms:W3CDTF">2026-06-16T20:54:53Z</dcterms:created>
  <dcterms:modified xsi:type="dcterms:W3CDTF">2026-06-16T20:54:53Z</dcterms:modified>
</cp:coreProperties>
</file>