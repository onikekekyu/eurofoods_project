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FF4D8D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France</c:v>
                </c:pt>
                <c:pt idx="1">
                  <c:v>Germany</c:v>
                </c:pt>
                <c:pt idx="2">
                  <c:v>UK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1817439.67</c:v>
                </c:pt>
                <c:pt idx="1">
                  <c:v>1542887.57</c:v>
                </c:pt>
                <c:pt idx="2">
                  <c:v>1244090.66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FF9E2C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France</c:v>
                </c:pt>
                <c:pt idx="1">
                  <c:v>Germany</c:v>
                </c:pt>
                <c:pt idx="2">
                  <c:v>UK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1903600.88</c:v>
                </c:pt>
                <c:pt idx="1">
                  <c:v>1619064.69</c:v>
                </c:pt>
                <c:pt idx="2">
                  <c:v>1308299.79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CE9E4"/>
            </a:solidFill>
          </a:ln>
        </c:spPr>
        <c:txPr>
          <a:bodyPr/>
          <a:lstStyle/>
          <a:p>
            <a:pPr>
              <a:defRPr sz="1000">
                <a:solidFill>
                  <a:srgbClr val="1A162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CE9E4"/>
              </a:solidFill>
            </a:ln>
          </c:spPr>
        </c:majorGridlines>
        <c:numFmt formatCode="€#,##0,,&quot;M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B6478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>
              <a:solidFill>
                <a:srgbClr val="1A1625"/>
              </a:solidFill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6B6478"/>
          </a:solidFill>
          <a:latin typeface="Inte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ln w="31750">
              <a:solidFill>
                <a:srgbClr val="C9C4CF"/>
              </a:solidFill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199912</c:v>
                </c:pt>
                <c:pt idx="1">
                  <c:v>160752</c:v>
                </c:pt>
                <c:pt idx="2">
                  <c:v>165733</c:v>
                </c:pt>
                <c:pt idx="3">
                  <c:v>173608</c:v>
                </c:pt>
                <c:pt idx="4">
                  <c:v>216774</c:v>
                </c:pt>
                <c:pt idx="5">
                  <c:v>179605</c:v>
                </c:pt>
                <c:pt idx="6">
                  <c:v>227181</c:v>
                </c:pt>
                <c:pt idx="7">
                  <c:v>183104</c:v>
                </c:pt>
                <c:pt idx="8">
                  <c:v>171843</c:v>
                </c:pt>
                <c:pt idx="9">
                  <c:v>211969</c:v>
                </c:pt>
                <c:pt idx="10">
                  <c:v>168986</c:v>
                </c:pt>
                <c:pt idx="11">
                  <c:v>181909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ln w="31750">
              <a:solidFill>
                <a:srgbClr val="06B6D4"/>
              </a:solidFill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206998</c:v>
                </c:pt>
                <c:pt idx="1">
                  <c:v>162193</c:v>
                </c:pt>
                <c:pt idx="2">
                  <c:v>165724</c:v>
                </c:pt>
                <c:pt idx="3">
                  <c:v>228217</c:v>
                </c:pt>
                <c:pt idx="4">
                  <c:v>180118</c:v>
                </c:pt>
                <c:pt idx="5">
                  <c:v>174887</c:v>
                </c:pt>
                <c:pt idx="6">
                  <c:v>235200</c:v>
                </c:pt>
                <c:pt idx="7">
                  <c:v>192091</c:v>
                </c:pt>
                <c:pt idx="8">
                  <c:v>224115</c:v>
                </c:pt>
                <c:pt idx="9">
                  <c:v>174939</c:v>
                </c:pt>
                <c:pt idx="10">
                  <c:v>179848</c:v>
                </c:pt>
                <c:pt idx="11">
                  <c:v>238713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CE9E4"/>
            </a:solidFill>
          </a:ln>
        </c:spPr>
        <c:txPr>
          <a:bodyPr/>
          <a:lstStyle/>
          <a:p>
            <a:pPr>
              <a:defRPr sz="850">
                <a:solidFill>
                  <a:srgbClr val="6B6478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CE9E4"/>
              </a:solidFill>
            </a:ln>
          </c:spPr>
        </c:majorGridlines>
        <c:numFmt formatCode="€#,##0,&quot;k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B6478"/>
                </a:solidFill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>
              <a:solidFill>
                <a:srgbClr val="1A1625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6B6478"/>
          </a:solidFill>
          <a:latin typeface="Inter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Var %</c:v>
                </c:pt>
              </c:strCache>
            </c:strRef>
          </c:tx>
          <c:spPr>
            <a:ln>
              <a:noFill/>
            </a:ln>
          </c:spPr>
          <c:dPt>
            <c:idx val="0"/>
            <c:spPr>
              <a:solidFill>
                <a:srgbClr val="F0384B"/>
              </a:solidFill>
            </c:spPr>
          </c:dPt>
          <c:dPt>
            <c:idx val="1"/>
            <c:spPr>
              <a:solidFill>
                <a:srgbClr val="F0384B"/>
              </a:solidFill>
            </c:spPr>
          </c:dPt>
          <c:dPt>
            <c:idx val="2"/>
            <c:spPr>
              <a:solidFill>
                <a:srgbClr val="F0384B"/>
              </a:solidFill>
            </c:spPr>
          </c:dPt>
          <c:dPt>
            <c:idx val="3"/>
            <c:spPr>
              <a:solidFill>
                <a:srgbClr val="F0384B"/>
              </a:solidFill>
            </c:spPr>
          </c:dPt>
          <c:dPt>
            <c:idx val="4"/>
            <c:spPr>
              <a:solidFill>
                <a:srgbClr val="F0384B"/>
              </a:solidFill>
            </c:spPr>
          </c:dPt>
          <c:dPt>
            <c:idx val="5"/>
            <c:spPr>
              <a:solidFill>
                <a:srgbClr val="F0384B"/>
              </a:solidFill>
            </c:spPr>
          </c:dPt>
          <c:dPt>
            <c:idx val="6"/>
            <c:spPr>
              <a:solidFill>
                <a:srgbClr val="F0384B"/>
              </a:solidFill>
            </c:spPr>
          </c:dPt>
          <c:cat>
            <c:strRef>
              <c:f>Sheet1!$A$2:$A$8</c:f>
              <c:strCache>
                <c:ptCount val="7"/>
                <c:pt idx="0">
                  <c:v>France</c:v>
                </c:pt>
                <c:pt idx="1">
                  <c:v>Germany</c:v>
                </c:pt>
                <c:pt idx="2">
                  <c:v>UK</c:v>
                </c:pt>
                <c:pt idx="3">
                  <c:v>Frozen</c:v>
                </c:pt>
                <c:pt idx="4">
                  <c:v>Dry</c:v>
                </c:pt>
                <c:pt idx="5">
                  <c:v>Fresh</c:v>
                </c:pt>
                <c:pt idx="6">
                  <c:v>Bev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-5.0</c:v>
                </c:pt>
                <c:pt idx="1">
                  <c:v>-5.0</c:v>
                </c:pt>
                <c:pt idx="2">
                  <c:v>-5.0</c:v>
                </c:pt>
                <c:pt idx="3">
                  <c:v>-5.0</c:v>
                </c:pt>
                <c:pt idx="4">
                  <c:v>-5.0</c:v>
                </c:pt>
                <c:pt idx="5">
                  <c:v>-4.7</c:v>
                </c:pt>
                <c:pt idx="6">
                  <c:v>-4.8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CE9E4"/>
            </a:solidFill>
          </a:ln>
        </c:spPr>
        <c:txPr>
          <a:bodyPr/>
          <a:lstStyle/>
          <a:p>
            <a:pPr>
              <a:defRPr sz="1000">
                <a:solidFill>
                  <a:srgbClr val="1A162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CE9E4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B647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6B6478"/>
          </a:solidFill>
          <a:latin typeface="Inter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YoY %</c:v>
                </c:pt>
              </c:strCache>
            </c:strRef>
          </c:tx>
          <c:spPr>
            <a:ln>
              <a:noFill/>
            </a:ln>
          </c:spPr>
          <c:dPt>
            <c:idx val="0"/>
            <c:spPr>
              <a:solidFill>
                <a:srgbClr val="16B364"/>
              </a:solidFill>
            </c:spPr>
          </c:dPt>
          <c:dPt>
            <c:idx val="1"/>
            <c:spPr>
              <a:solidFill>
                <a:srgbClr val="FF9E2C"/>
              </a:solidFill>
            </c:spPr>
          </c:dPt>
          <c:dPt>
            <c:idx val="2"/>
            <c:spPr>
              <a:solidFill>
                <a:srgbClr val="FF9E2C"/>
              </a:solidFill>
            </c:spPr>
          </c:dPt>
          <c:dPt>
            <c:idx val="3"/>
            <c:spPr>
              <a:solidFill>
                <a:srgbClr val="FF9E2C"/>
              </a:solidFill>
            </c:spPr>
          </c:dPt>
          <c:cat>
            <c:strRef>
              <c:f>Sheet1!$A$2:$A$5</c:f>
              <c:strCache>
                <c:ptCount val="4"/>
                <c:pt idx="0">
                  <c:v>Supermarket</c:v>
                </c:pt>
                <c:pt idx="1">
                  <c:v>Convenience</c:v>
                </c:pt>
                <c:pt idx="2">
                  <c:v>Hypermarket</c:v>
                </c:pt>
                <c:pt idx="3">
                  <c:v>Online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5.94</c:v>
                </c:pt>
                <c:pt idx="1">
                  <c:v>5.38</c:v>
                </c:pt>
                <c:pt idx="2">
                  <c:v>5.29</c:v>
                </c:pt>
                <c:pt idx="3">
                  <c:v>4.87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CE9E4"/>
            </a:solidFill>
          </a:ln>
        </c:spPr>
        <c:txPr>
          <a:bodyPr/>
          <a:lstStyle/>
          <a:p>
            <a:pPr>
              <a:defRPr sz="1000">
                <a:solidFill>
                  <a:srgbClr val="1A162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CE9E4"/>
              </a:solidFill>
            </a:ln>
          </c:spPr>
        </c:majorGridlines>
        <c:numFmt formatCode="0.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B647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6B6478"/>
          </a:solidFill>
          <a:latin typeface="Inter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 %</c:v>
                </c:pt>
              </c:strCache>
            </c:strRef>
          </c:tx>
          <c:spPr>
            <a:solidFill>
              <a:srgbClr val="06B6D4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Beverages</c:v>
                </c:pt>
                <c:pt idx="1">
                  <c:v>Fresh Produce</c:v>
                </c:pt>
                <c:pt idx="2">
                  <c:v>Dry Goods</c:v>
                </c:pt>
                <c:pt idx="3">
                  <c:v>Frozen Food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41.9</c:v>
                </c:pt>
                <c:pt idx="1">
                  <c:v>29.9</c:v>
                </c:pt>
                <c:pt idx="2">
                  <c:v>47.9</c:v>
                </c:pt>
                <c:pt idx="3">
                  <c:v>34.8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%</c:v>
                </c:pt>
              </c:strCache>
            </c:strRef>
          </c:tx>
          <c:spPr>
            <a:solidFill>
              <a:srgbClr val="C9C4CF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Beverages</c:v>
                </c:pt>
                <c:pt idx="1">
                  <c:v>Fresh Produce</c:v>
                </c:pt>
                <c:pt idx="2">
                  <c:v>Dry Goods</c:v>
                </c:pt>
                <c:pt idx="3">
                  <c:v>Frozen Food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42</c:v>
                </c:pt>
                <c:pt idx="1">
                  <c:v>30</c:v>
                </c:pt>
                <c:pt idx="2">
                  <c:v>48</c:v>
                </c:pt>
                <c:pt idx="3">
                  <c:v>35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CE9E4"/>
            </a:solidFill>
          </a:ln>
        </c:spPr>
        <c:txPr>
          <a:bodyPr/>
          <a:lstStyle/>
          <a:p>
            <a:pPr>
              <a:defRPr sz="1000">
                <a:solidFill>
                  <a:srgbClr val="1A162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CE9E4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B6478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>
              <a:solidFill>
                <a:srgbClr val="1A1625"/>
              </a:solidFill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6B6478"/>
          </a:solidFill>
          <a:latin typeface="Inter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FF4D8D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France</c:v>
                </c:pt>
                <c:pt idx="1">
                  <c:v>Germany</c:v>
                </c:pt>
                <c:pt idx="2">
                  <c:v>UK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1817439.67</c:v>
                </c:pt>
                <c:pt idx="1">
                  <c:v>1542887.57</c:v>
                </c:pt>
                <c:pt idx="2">
                  <c:v>1244090.66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FF9E2C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France</c:v>
                </c:pt>
                <c:pt idx="1">
                  <c:v>Germany</c:v>
                </c:pt>
                <c:pt idx="2">
                  <c:v>UK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1903600.88</c:v>
                </c:pt>
                <c:pt idx="1">
                  <c:v>1619064.69</c:v>
                </c:pt>
                <c:pt idx="2">
                  <c:v>1308299.79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CE9E4"/>
            </a:solidFill>
          </a:ln>
        </c:spPr>
        <c:txPr>
          <a:bodyPr/>
          <a:lstStyle/>
          <a:p>
            <a:pPr>
              <a:defRPr sz="1000">
                <a:solidFill>
                  <a:srgbClr val="1A162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CE9E4"/>
              </a:solidFill>
            </a:ln>
          </c:spPr>
        </c:majorGridlines>
        <c:numFmt formatCode="€#,##0,,&quot;M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B6478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>
              <a:solidFill>
                <a:srgbClr val="1A1625"/>
              </a:solidFill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6B6478"/>
          </a:solidFill>
          <a:latin typeface="Inter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Beverages</c:v>
                </c:pt>
              </c:strCache>
            </c:strRef>
          </c:tx>
          <c:spPr>
            <a:ln w="31750">
              <a:solidFill>
                <a:srgbClr val="06B6D4"/>
              </a:solidFill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90.0</c:v>
                </c:pt>
                <c:pt idx="1">
                  <c:v>74.0</c:v>
                </c:pt>
                <c:pt idx="2">
                  <c:v>81.0</c:v>
                </c:pt>
                <c:pt idx="3">
                  <c:v>102.0</c:v>
                </c:pt>
                <c:pt idx="4">
                  <c:v>109.0</c:v>
                </c:pt>
                <c:pt idx="5">
                  <c:v>104.0</c:v>
                </c:pt>
                <c:pt idx="6">
                  <c:v>136.0</c:v>
                </c:pt>
                <c:pt idx="7">
                  <c:v>105.0</c:v>
                </c:pt>
                <c:pt idx="8">
                  <c:v>109.0</c:v>
                </c:pt>
                <c:pt idx="9">
                  <c:v>92.0</c:v>
                </c:pt>
                <c:pt idx="10">
                  <c:v>83.0</c:v>
                </c:pt>
                <c:pt idx="11">
                  <c:v>115.0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Frozen Food</c:v>
                </c:pt>
              </c:strCache>
            </c:strRef>
          </c:tx>
          <c:spPr>
            <a:ln w="31750">
              <a:solidFill>
                <a:srgbClr val="7C5CFF"/>
              </a:solidFill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122.0</c:v>
                </c:pt>
                <c:pt idx="1">
                  <c:v>91.0</c:v>
                </c:pt>
                <c:pt idx="2">
                  <c:v>89.0</c:v>
                </c:pt>
                <c:pt idx="3">
                  <c:v>101.0</c:v>
                </c:pt>
                <c:pt idx="4">
                  <c:v>95.0</c:v>
                </c:pt>
                <c:pt idx="5">
                  <c:v>77.0</c:v>
                </c:pt>
                <c:pt idx="6">
                  <c:v>122.0</c:v>
                </c:pt>
                <c:pt idx="7">
                  <c:v>100.0</c:v>
                </c:pt>
                <c:pt idx="8">
                  <c:v>98.0</c:v>
                </c:pt>
                <c:pt idx="9">
                  <c:v>103.0</c:v>
                </c:pt>
                <c:pt idx="10">
                  <c:v>92.0</c:v>
                </c:pt>
                <c:pt idx="11">
                  <c:v>110.0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CE9E4"/>
            </a:solidFill>
          </a:ln>
        </c:spPr>
        <c:txPr>
          <a:bodyPr/>
          <a:lstStyle/>
          <a:p>
            <a:pPr>
              <a:defRPr sz="850">
                <a:solidFill>
                  <a:srgbClr val="6B6478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CE9E4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B6478"/>
                </a:solidFill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>
              <a:solidFill>
                <a:srgbClr val="1A1625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6B6478"/>
          </a:solidFill>
          <a:latin typeface="Inter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2024</c:v>
                </c:pt>
              </c:strCache>
            </c:strRef>
          </c:tx>
          <c:spPr>
            <a:ln w="31750">
              <a:solidFill>
                <a:srgbClr val="06B6D4"/>
              </a:solidFill>
            </a:ln>
          </c:spPr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Jan'25</c:v>
                </c:pt>
                <c:pt idx="13">
                  <c:v>Feb'25</c:v>
                </c:pt>
                <c:pt idx="14">
                  <c:v>Mar'25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206998</c:v>
                </c:pt>
                <c:pt idx="1">
                  <c:v>162193</c:v>
                </c:pt>
                <c:pt idx="2">
                  <c:v>165724</c:v>
                </c:pt>
                <c:pt idx="3">
                  <c:v>228217</c:v>
                </c:pt>
                <c:pt idx="4">
                  <c:v>180118</c:v>
                </c:pt>
                <c:pt idx="5">
                  <c:v>174887</c:v>
                </c:pt>
                <c:pt idx="6">
                  <c:v>235200</c:v>
                </c:pt>
                <c:pt idx="7">
                  <c:v>192091</c:v>
                </c:pt>
                <c:pt idx="8">
                  <c:v>224115</c:v>
                </c:pt>
                <c:pt idx="9">
                  <c:v>174939</c:v>
                </c:pt>
                <c:pt idx="10">
                  <c:v>179848</c:v>
                </c:pt>
                <c:pt idx="11">
                  <c:v>238713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Projection</c:v>
                </c:pt>
              </c:strCache>
            </c:strRef>
          </c:tx>
          <c:spPr>
            <a:ln w="31750">
              <a:solidFill>
                <a:srgbClr val="FF9E2C"/>
              </a:solidFill>
            </a:ln>
          </c:spPr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Jan'25</c:v>
                </c:pt>
                <c:pt idx="13">
                  <c:v>Feb'25</c:v>
                </c:pt>
                <c:pt idx="14">
                  <c:v>Mar'25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11">
                  <c:v>238713</c:v>
                </c:pt>
                <c:pt idx="12">
                  <c:v>217348</c:v>
                </c:pt>
                <c:pt idx="13">
                  <c:v>170303</c:v>
                </c:pt>
                <c:pt idx="14">
                  <c:v>174010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CE9E4"/>
            </a:solidFill>
          </a:ln>
        </c:spPr>
        <c:txPr>
          <a:bodyPr/>
          <a:lstStyle/>
          <a:p>
            <a:pPr>
              <a:defRPr sz="850">
                <a:solidFill>
                  <a:srgbClr val="6B6478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CE9E4"/>
              </a:solidFill>
            </a:ln>
          </c:spPr>
        </c:majorGridlines>
        <c:numFmt formatCode="€#,##0,&quot;k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B6478"/>
                </a:solidFill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>
              <a:solidFill>
                <a:srgbClr val="1A1625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6B6478"/>
          </a:solidFill>
          <a:latin typeface="Inter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FFFFFF"/>
              </a:gs>
              <a:gs pos="100000">
                <a:srgbClr val="FFFF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0" y="-1463040"/>
            <a:ext cx="5029200" cy="50292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FFE3EC"/>
              </a:gs>
              <a:gs pos="100000">
                <a:srgbClr val="FFFFF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-1645920" y="4023360"/>
            <a:ext cx="5029200" cy="50292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E1F7FB"/>
              </a:gs>
              <a:gs pos="100000">
                <a:srgbClr val="FFFFF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868680"/>
            <a:ext cx="914400" cy="914400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D8D"/>
              </a:gs>
              <a:gs pos="100000">
                <a:srgbClr val="FF7A4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86868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Inter"/>
              </a:rPr>
              <a:t>€F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969264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1625"/>
                </a:solidFill>
                <a:latin typeface="Inter"/>
              </a:rPr>
              <a:t>EuroFoods S.A.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13716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6478"/>
                </a:solidFill>
                <a:latin typeface="Inter"/>
              </a:rPr>
              <a:t>DATA FOR FP&amp;A ·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1060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>
                <a:solidFill>
                  <a:srgbClr val="1A1625"/>
                </a:solidFill>
                <a:latin typeface="Inter"/>
              </a:rPr>
              <a:t>Healthy growth, </a:t>
            </a:r>
            <a:r>
              <a:rPr sz="4000" b="1">
                <a:solidFill>
                  <a:srgbClr val="FF4D8D"/>
                </a:solidFill>
                <a:latin typeface="Inter"/>
              </a:rPr>
              <a:t>missed plan</a:t>
            </a:r>
            <a:r>
              <a:rPr sz="4000" b="1">
                <a:solidFill>
                  <a:srgbClr val="1A1625"/>
                </a:solidFill>
                <a:latin typeface="Inter"/>
              </a:rPr>
              <a:t>.</a:t>
            </a:r>
          </a:p>
          <a:p>
            <a:pPr algn="l">
              <a:lnSpc>
                <a:spcPct val="102000"/>
              </a:lnSpc>
            </a:pPr>
            <a:r>
              <a:rPr sz="4000" b="1">
                <a:solidFill>
                  <a:srgbClr val="1A1625"/>
                </a:solidFill>
                <a:latin typeface="Inter"/>
              </a:rPr>
              <a:t>A two-year FP&amp;A diagnosis of EuroFoods.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5262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B6478"/>
                </a:solidFill>
                <a:latin typeface="Inter"/>
              </a:rPr>
              <a:t>+5.4% revenue growth · 38.7% margin held · but 4.6% below budget in every market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212080"/>
            <a:ext cx="2103120" cy="868680"/>
          </a:xfrm>
          <a:prstGeom prst="roundRect">
            <a:avLst>
              <a:gd name="adj" fmla="val 6000"/>
            </a:avLst>
          </a:prstGeom>
          <a:solidFill>
            <a:srgbClr val="FBFAF9"/>
          </a:solidFill>
          <a:ln w="9525">
            <a:solidFill>
              <a:srgbClr val="ECE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5212080"/>
            <a:ext cx="54864" cy="86868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32180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6B6478"/>
                </a:solidFill>
                <a:latin typeface="Inter"/>
              </a:rPr>
              <a:t>REVENUE 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559552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A1625"/>
                </a:solidFill>
                <a:latin typeface="Inter"/>
              </a:rPr>
              <a:t>€2.36M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5212080"/>
            <a:ext cx="2103120" cy="868680"/>
          </a:xfrm>
          <a:prstGeom prst="roundRect">
            <a:avLst>
              <a:gd name="adj" fmla="val 6000"/>
            </a:avLst>
          </a:prstGeom>
          <a:solidFill>
            <a:srgbClr val="FBFAF9"/>
          </a:solidFill>
          <a:ln w="9525">
            <a:solidFill>
              <a:srgbClr val="ECE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46120" y="5212080"/>
            <a:ext cx="54864" cy="868680"/>
          </a:xfrm>
          <a:prstGeom prst="rect">
            <a:avLst/>
          </a:prstGeom>
          <a:solidFill>
            <a:srgbClr val="16B3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532180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6B6478"/>
                </a:solidFill>
                <a:latin typeface="Inter"/>
              </a:rPr>
              <a:t>YOY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5559552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A1625"/>
                </a:solidFill>
                <a:latin typeface="Inter"/>
              </a:rPr>
              <a:t>+5.4%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77840" y="5212080"/>
            <a:ext cx="2103120" cy="868680"/>
          </a:xfrm>
          <a:prstGeom prst="roundRect">
            <a:avLst>
              <a:gd name="adj" fmla="val 6000"/>
            </a:avLst>
          </a:prstGeom>
          <a:solidFill>
            <a:srgbClr val="FBFAF9"/>
          </a:solidFill>
          <a:ln w="9525">
            <a:solidFill>
              <a:srgbClr val="ECE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77840" y="5212080"/>
            <a:ext cx="54864" cy="868680"/>
          </a:xfrm>
          <a:prstGeom prst="rect">
            <a:avLst/>
          </a:prstGeom>
          <a:solidFill>
            <a:srgbClr val="F03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0" y="532180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6B6478"/>
                </a:solidFill>
                <a:latin typeface="Inter"/>
              </a:rPr>
              <a:t>BUDGET VAR.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5559552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A1625"/>
                </a:solidFill>
                <a:latin typeface="Inter"/>
              </a:rPr>
              <a:t>−4.6%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9559" y="5212080"/>
            <a:ext cx="2103120" cy="868680"/>
          </a:xfrm>
          <a:prstGeom prst="roundRect">
            <a:avLst>
              <a:gd name="adj" fmla="val 6000"/>
            </a:avLst>
          </a:prstGeom>
          <a:solidFill>
            <a:srgbClr val="FBFAF9"/>
          </a:solidFill>
          <a:ln w="9525">
            <a:solidFill>
              <a:srgbClr val="ECE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9559" y="5212080"/>
            <a:ext cx="54864" cy="86868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39" y="532180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6B6478"/>
                </a:solidFill>
                <a:latin typeface="Inter"/>
              </a:rPr>
              <a:t>MARGIN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39" y="5559552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A1625"/>
                </a:solidFill>
                <a:latin typeface="Inter"/>
              </a:rPr>
              <a:t>38.7%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3550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478"/>
                </a:solidFill>
                <a:latin typeface="Inter"/>
              </a:rPr>
              <a:t>FP&amp;A Analytics  ·  Power BI · DAX · Scenario modelling  ·  Data as of December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FF4D8D"/>
              </a:gs>
              <a:gs pos="100000">
                <a:srgbClr val="FF7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457200"/>
            <a:ext cx="548640" cy="548640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D8D"/>
              </a:gs>
              <a:gs pos="100000">
                <a:srgbClr val="FF7A4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Inter"/>
              </a:rPr>
              <a:t>€F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7490"/>
                </a:solidFill>
                <a:latin typeface="Inter"/>
              </a:rPr>
              <a:t>CONTEXT &amp;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713232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A1625"/>
                </a:solidFill>
                <a:latin typeface="Inter"/>
              </a:rPr>
              <a:t>Two years of data, one star schema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50292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9C4CF"/>
                </a:solidFill>
                <a:latin typeface="Inter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7008" y="1298448"/>
            <a:ext cx="9966960" cy="16459"/>
          </a:xfrm>
          <a:prstGeom prst="rect">
            <a:avLst/>
          </a:prstGeom>
          <a:solidFill>
            <a:srgbClr val="EC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148132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7490"/>
                </a:solidFill>
                <a:latin typeface="Inter"/>
              </a:rPr>
              <a:t>THE BUSINESS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07008" y="1828800"/>
            <a:ext cx="4754880" cy="603504"/>
          </a:xfrm>
          <a:prstGeom prst="roundRect">
            <a:avLst>
              <a:gd name="adj" fmla="val 6000"/>
            </a:avLst>
          </a:prstGeom>
          <a:solidFill>
            <a:srgbClr val="FBFAF9"/>
          </a:solidFill>
          <a:ln w="9525">
            <a:solidFill>
              <a:srgbClr val="ECE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08176" y="1892807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1625"/>
                </a:solidFill>
                <a:latin typeface="Inter"/>
              </a:rPr>
              <a:t>3 countries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892807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6478"/>
                </a:solidFill>
                <a:latin typeface="Inter"/>
              </a:rPr>
              <a:t>France · Germany · UK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07008" y="2542032"/>
            <a:ext cx="4754880" cy="603504"/>
          </a:xfrm>
          <a:prstGeom prst="roundRect">
            <a:avLst>
              <a:gd name="adj" fmla="val 6000"/>
            </a:avLst>
          </a:prstGeom>
          <a:solidFill>
            <a:srgbClr val="FBFAF9"/>
          </a:solidFill>
          <a:ln w="9525">
            <a:solidFill>
              <a:srgbClr val="ECE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08176" y="2606040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1625"/>
                </a:solidFill>
                <a:latin typeface="Inter"/>
              </a:rPr>
              <a:t>20 SKUs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606040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6478"/>
                </a:solidFill>
                <a:latin typeface="Inter"/>
              </a:rPr>
              <a:t>across 4 categories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07008" y="3255264"/>
            <a:ext cx="4754880" cy="603504"/>
          </a:xfrm>
          <a:prstGeom prst="roundRect">
            <a:avLst>
              <a:gd name="adj" fmla="val 6000"/>
            </a:avLst>
          </a:prstGeom>
          <a:solidFill>
            <a:srgbClr val="FBFAF9"/>
          </a:solidFill>
          <a:ln w="9525">
            <a:solidFill>
              <a:srgbClr val="ECE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8176" y="3319272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1625"/>
                </a:solidFill>
                <a:latin typeface="Inter"/>
              </a:rPr>
              <a:t>4 channels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319272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6478"/>
                </a:solidFill>
                <a:latin typeface="Inter"/>
              </a:rPr>
              <a:t>Hyper · Super · Conv · Online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07008" y="3968496"/>
            <a:ext cx="4754880" cy="603504"/>
          </a:xfrm>
          <a:prstGeom prst="roundRect">
            <a:avLst>
              <a:gd name="adj" fmla="val 6000"/>
            </a:avLst>
          </a:prstGeom>
          <a:solidFill>
            <a:srgbClr val="FBFAF9"/>
          </a:solidFill>
          <a:ln w="9525">
            <a:solidFill>
              <a:srgbClr val="ECE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8176" y="4032504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1625"/>
                </a:solidFill>
                <a:latin typeface="Inter"/>
              </a:rPr>
              <a:t>36 customers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4032504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6478"/>
                </a:solidFill>
                <a:latin typeface="Inter"/>
              </a:rPr>
              <a:t>named retail accounts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07008" y="4681728"/>
            <a:ext cx="4754880" cy="603504"/>
          </a:xfrm>
          <a:prstGeom prst="roundRect">
            <a:avLst>
              <a:gd name="adj" fmla="val 6000"/>
            </a:avLst>
          </a:prstGeom>
          <a:solidFill>
            <a:srgbClr val="FBFAF9"/>
          </a:solidFill>
          <a:ln w="9525">
            <a:solidFill>
              <a:srgbClr val="ECE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08176" y="4745736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1625"/>
                </a:solidFill>
                <a:latin typeface="Inter"/>
              </a:rPr>
              <a:t>25,200 rows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4745736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6478"/>
                </a:solidFill>
                <a:latin typeface="Inter"/>
              </a:rPr>
              <a:t>weekly, Jan 2023 – Dec 2024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48132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7490"/>
                </a:solidFill>
                <a:latin typeface="Inter"/>
              </a:rPr>
              <a:t>THE DATA MODEL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1828800"/>
            <a:ext cx="4846320" cy="2788920"/>
          </a:xfrm>
          <a:prstGeom prst="roundRect">
            <a:avLst>
              <a:gd name="adj" fmla="val 6000"/>
            </a:avLst>
          </a:prstGeom>
          <a:solidFill>
            <a:srgbClr val="FBFAF9"/>
          </a:solidFill>
          <a:ln w="9525">
            <a:solidFill>
              <a:srgbClr val="ECE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46720" y="2788920"/>
            <a:ext cx="1554480" cy="822960"/>
          </a:xfrm>
          <a:prstGeom prst="roundRect">
            <a:avLst>
              <a:gd name="adj" fmla="val 6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2788920"/>
            <a:ext cx="15544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Transactions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  <a:latin typeface="Inter"/>
              </a:rPr>
              <a:t>25,200 · fact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20840" y="1856232"/>
            <a:ext cx="1371600" cy="5852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1856232"/>
            <a:ext cx="137160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A1625"/>
                </a:solidFill>
                <a:latin typeface="Inter"/>
              </a:rPr>
              <a:t>Dim_Date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360920" y="2148840"/>
            <a:ext cx="1463040" cy="1051560"/>
          </a:xfrm>
          <a:prstGeom prst="bentConnector3">
            <a:avLst/>
          </a:prstGeom>
          <a:ln w="15875">
            <a:solidFill>
              <a:srgbClr val="ECE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464040" y="1856232"/>
            <a:ext cx="1371600" cy="5852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64040" y="1856232"/>
            <a:ext cx="137160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A1625"/>
                </a:solidFill>
                <a:latin typeface="Inter"/>
              </a:rPr>
              <a:t>Dim_Products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8823960" y="2148840"/>
            <a:ext cx="1280160" cy="1051560"/>
          </a:xfrm>
          <a:prstGeom prst="bentConnector3">
            <a:avLst/>
          </a:prstGeom>
          <a:ln w="15875">
            <a:solidFill>
              <a:srgbClr val="ECE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720840" y="3685031"/>
            <a:ext cx="1371600" cy="5852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F9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3685031"/>
            <a:ext cx="137160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A1625"/>
                </a:solidFill>
                <a:latin typeface="Inter"/>
              </a:rPr>
              <a:t>Dim_Customers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7360920" y="3200400"/>
            <a:ext cx="1463040" cy="777239"/>
          </a:xfrm>
          <a:prstGeom prst="bentConnector3">
            <a:avLst/>
          </a:prstGeom>
          <a:ln w="15875">
            <a:solidFill>
              <a:srgbClr val="ECE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464040" y="3685031"/>
            <a:ext cx="1371600" cy="5852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6B3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64040" y="3685031"/>
            <a:ext cx="137160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A1625"/>
                </a:solidFill>
                <a:latin typeface="Inter"/>
              </a:rPr>
              <a:t>Budget</a:t>
            </a:r>
          </a:p>
        </p:txBody>
      </p:sp>
      <p:cxnSp>
        <p:nvCxnSpPr>
          <p:cNvPr id="41" name="Connector 40"/>
          <p:cNvCxnSpPr/>
          <p:nvPr/>
        </p:nvCxnSpPr>
        <p:spPr>
          <a:xfrm flipH="1" flipV="1">
            <a:off x="8823960" y="3200400"/>
            <a:ext cx="1280160" cy="777239"/>
          </a:xfrm>
          <a:prstGeom prst="bentConnector3">
            <a:avLst/>
          </a:prstGeom>
          <a:ln w="15875">
            <a:solidFill>
              <a:srgbClr val="ECE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400800" y="47548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A1625"/>
                </a:solidFill>
                <a:latin typeface="Inter"/>
              </a:rPr>
              <a:t>Challenge solved: </a:t>
            </a:r>
            <a:r>
              <a:rPr sz="1000" b="0">
                <a:solidFill>
                  <a:srgbClr val="6B6478"/>
                </a:solidFill>
                <a:latin typeface="Inter"/>
              </a:rPr>
              <a:t>transactions aggregated to (Year,Month,Country,Category) to join Budget's monthly grain.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07008" y="54406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7490"/>
                </a:solidFill>
                <a:latin typeface="Inter"/>
              </a:rPr>
              <a:t>DAX foundation:  </a:t>
            </a:r>
            <a:r>
              <a:rPr sz="1100" b="0">
                <a:solidFill>
                  <a:srgbClr val="6B6478"/>
                </a:solidFill>
                <a:latin typeface="Inter"/>
              </a:rPr>
              <a:t>Total Revenue · Gross Margin · Margin % · Revenue PY (SAMEPERIODLASTYEAR) · YoY Growth · Revenue Variance · Forecast Revenue (What-If) — built on a calendar table marked as a date table.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FF4D8D"/>
              </a:gs>
              <a:gs pos="100000">
                <a:srgbClr val="FF7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457200"/>
            <a:ext cx="548640" cy="548640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D8D"/>
              </a:gs>
              <a:gs pos="100000">
                <a:srgbClr val="FF7A4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Inter"/>
              </a:rPr>
              <a:t>€F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7490"/>
                </a:solidFill>
                <a:latin typeface="Inter"/>
              </a:rPr>
              <a:t>2024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713232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A1625"/>
                </a:solidFill>
                <a:latin typeface="Inter"/>
              </a:rPr>
              <a:t>The headline: grew, profited, but under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50292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9C4CF"/>
                </a:solidFill>
                <a:latin typeface="Inter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7008" y="1298448"/>
            <a:ext cx="9966960" cy="16459"/>
          </a:xfrm>
          <a:prstGeom prst="rect">
            <a:avLst/>
          </a:prstGeom>
          <a:solidFill>
            <a:srgbClr val="EC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07008" y="1600200"/>
            <a:ext cx="2395728" cy="1371600"/>
          </a:xfrm>
          <a:prstGeom prst="roundRect">
            <a:avLst>
              <a:gd name="adj" fmla="val 6000"/>
            </a:avLst>
          </a:prstGeom>
          <a:solidFill>
            <a:srgbClr val="FBFAF9"/>
          </a:solidFill>
          <a:ln w="9525">
            <a:solidFill>
              <a:srgbClr val="ECE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7008" y="1600200"/>
            <a:ext cx="64008" cy="13716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08176" y="1746504"/>
            <a:ext cx="21214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B6478"/>
                </a:solidFill>
                <a:latin typeface="Inter"/>
              </a:rPr>
              <a:t>REVENUE 2024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84248"/>
            <a:ext cx="21214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A1625"/>
                </a:solidFill>
                <a:latin typeface="Inter"/>
              </a:rPr>
              <a:t>€2.36M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587752"/>
            <a:ext cx="21214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B7A45"/>
                </a:solidFill>
                <a:latin typeface="Inter"/>
              </a:rPr>
              <a:t>+5.4% vs 2023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9039" y="1600200"/>
            <a:ext cx="2395728" cy="1371600"/>
          </a:xfrm>
          <a:prstGeom prst="roundRect">
            <a:avLst>
              <a:gd name="adj" fmla="val 6000"/>
            </a:avLst>
          </a:prstGeom>
          <a:solidFill>
            <a:srgbClr val="FBFAF9"/>
          </a:solidFill>
          <a:ln w="9525">
            <a:solidFill>
              <a:srgbClr val="ECE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49039" y="1600200"/>
            <a:ext cx="64008" cy="1371600"/>
          </a:xfrm>
          <a:prstGeom prst="rect">
            <a:avLst/>
          </a:prstGeom>
          <a:solidFill>
            <a:srgbClr val="16B3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50207" y="1746504"/>
            <a:ext cx="21214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B6478"/>
                </a:solidFill>
                <a:latin typeface="Inter"/>
              </a:rPr>
              <a:t>GROSS MARGIN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207" y="1984248"/>
            <a:ext cx="21214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A1625"/>
                </a:solidFill>
                <a:latin typeface="Inter"/>
              </a:rPr>
              <a:t>€915k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50207" y="2587752"/>
            <a:ext cx="21214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B6478"/>
                </a:solidFill>
                <a:latin typeface="Inter"/>
              </a:rPr>
              <a:t>38.7% — held flat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91072" y="1600200"/>
            <a:ext cx="2395728" cy="1371600"/>
          </a:xfrm>
          <a:prstGeom prst="roundRect">
            <a:avLst>
              <a:gd name="adj" fmla="val 6000"/>
            </a:avLst>
          </a:prstGeom>
          <a:solidFill>
            <a:srgbClr val="FBFAF9"/>
          </a:solidFill>
          <a:ln w="9525">
            <a:solidFill>
              <a:srgbClr val="ECE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91072" y="1600200"/>
            <a:ext cx="64008" cy="1371600"/>
          </a:xfrm>
          <a:prstGeom prst="rect">
            <a:avLst/>
          </a:prstGeom>
          <a:solidFill>
            <a:srgbClr val="F03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746504"/>
            <a:ext cx="21214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B6478"/>
                </a:solidFill>
                <a:latin typeface="Inter"/>
              </a:rPr>
              <a:t>BUDGET VARIANCE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1984248"/>
            <a:ext cx="21214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A1625"/>
                </a:solidFill>
                <a:latin typeface="Inter"/>
              </a:rPr>
              <a:t>−€115k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587752"/>
            <a:ext cx="21214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0384B"/>
                </a:solidFill>
                <a:latin typeface="Inter"/>
              </a:rPr>
              <a:t>−4.6% unfavourable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33104" y="1600200"/>
            <a:ext cx="2395728" cy="1371600"/>
          </a:xfrm>
          <a:prstGeom prst="roundRect">
            <a:avLst>
              <a:gd name="adj" fmla="val 6000"/>
            </a:avLst>
          </a:prstGeom>
          <a:solidFill>
            <a:srgbClr val="FBFAF9"/>
          </a:solidFill>
          <a:ln w="9525">
            <a:solidFill>
              <a:srgbClr val="ECE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33104" y="1600200"/>
            <a:ext cx="64008" cy="137160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34272" y="1746504"/>
            <a:ext cx="21214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B6478"/>
                </a:solidFill>
                <a:latin typeface="Inter"/>
              </a:rPr>
              <a:t>Q3 2024 YOY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34272" y="1984248"/>
            <a:ext cx="21214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A1625"/>
                </a:solidFill>
                <a:latin typeface="Inter"/>
              </a:rPr>
              <a:t>+11.9%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34272" y="2587752"/>
            <a:ext cx="21214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B7A45"/>
                </a:solidFill>
                <a:latin typeface="Inter"/>
              </a:rPr>
              <a:t>summer acceleration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07008" y="32004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1625"/>
                </a:solidFill>
                <a:latin typeface="Inter"/>
              </a:rPr>
              <a:t>Revenue by country — actual vs budget</a:t>
            </a:r>
          </a:p>
        </p:txBody>
      </p:sp>
      <p:graphicFrame>
        <p:nvGraphicFramePr>
          <p:cNvPr id="31" name="Chart 30"/>
          <p:cNvGraphicFramePr>
            <a:graphicFrameLocks noGrp="1"/>
          </p:cNvGraphicFramePr>
          <p:nvPr/>
        </p:nvGraphicFramePr>
        <p:xfrm>
          <a:off x="1207008" y="3520440"/>
          <a:ext cx="50292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6583680" y="32004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1625"/>
                </a:solidFill>
                <a:latin typeface="Inter"/>
              </a:rPr>
              <a:t>Monthly revenue — 2023 vs 2024</a:t>
            </a:r>
          </a:p>
        </p:txBody>
      </p:sp>
      <p:graphicFrame>
        <p:nvGraphicFramePr>
          <p:cNvPr id="33" name="Chart 32"/>
          <p:cNvGraphicFramePr>
            <a:graphicFrameLocks noGrp="1"/>
          </p:cNvGraphicFramePr>
          <p:nvPr/>
        </p:nvGraphicFramePr>
        <p:xfrm>
          <a:off x="6400800" y="3520440"/>
          <a:ext cx="502920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FF4D8D"/>
              </a:gs>
              <a:gs pos="100000">
                <a:srgbClr val="FF7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457200"/>
            <a:ext cx="548640" cy="548640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D8D"/>
              </a:gs>
              <a:gs pos="100000">
                <a:srgbClr val="FF7A4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Inter"/>
              </a:rPr>
              <a:t>€F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7490"/>
                </a:solidFill>
                <a:latin typeface="Inter"/>
              </a:rPr>
              <a:t>FINDING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713232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A1625"/>
                </a:solidFill>
                <a:latin typeface="Inter"/>
              </a:rPr>
              <a:t>The budget gap is volume, not 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50292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9C4CF"/>
                </a:solidFill>
                <a:latin typeface="Inter"/>
              </a:rP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7008" y="1298448"/>
            <a:ext cx="9966960" cy="16459"/>
          </a:xfrm>
          <a:prstGeom prst="rect">
            <a:avLst/>
          </a:prstGeom>
          <a:solidFill>
            <a:srgbClr val="EC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07008" y="1600200"/>
            <a:ext cx="4846320" cy="4206240"/>
          </a:xfrm>
          <a:prstGeom prst="roundRect">
            <a:avLst>
              <a:gd name="adj" fmla="val 6000"/>
            </a:avLst>
          </a:prstGeom>
          <a:solidFill>
            <a:srgbClr val="FBFAF9"/>
          </a:solidFill>
          <a:ln w="9525">
            <a:solidFill>
              <a:srgbClr val="ECE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182880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E7490"/>
                </a:solidFill>
                <a:latin typeface="Inter"/>
              </a:rPr>
              <a:t>THE PRICE–VOLUME 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240280"/>
            <a:ext cx="4389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0384B"/>
                </a:solidFill>
                <a:latin typeface="Inter"/>
              </a:rPr>
              <a:t>−€226k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6478"/>
                </a:solidFill>
                <a:latin typeface="Inter"/>
              </a:rPr>
              <a:t>volume effect (selling fewer units)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429000"/>
            <a:ext cx="4389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A1625"/>
                </a:solidFill>
                <a:latin typeface="Inter"/>
              </a:rPr>
              <a:t>≈ €0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6478"/>
                </a:solidFill>
                <a:latin typeface="Inter"/>
              </a:rPr>
              <a:t>price / mix effect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63040" y="4526280"/>
            <a:ext cx="429768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CE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27632" y="4645152"/>
            <a:ext cx="4023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1625"/>
                </a:solidFill>
                <a:latin typeface="Inter"/>
              </a:rPr>
              <a:t>Actual prices landed on target. The entire shortfall is ~4.7% fewer units than planned — a planning error, not a discounting problem.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60020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A1625"/>
                </a:solidFill>
                <a:latin typeface="Inter"/>
              </a:rPr>
              <a:t>Variance is uniform across every market (% vs budget)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6400800" y="1965960"/>
          <a:ext cx="493776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FF4D8D"/>
              </a:gs>
              <a:gs pos="100000">
                <a:srgbClr val="FF7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457200"/>
            <a:ext cx="548640" cy="548640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D8D"/>
              </a:gs>
              <a:gs pos="100000">
                <a:srgbClr val="FF7A4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Inter"/>
              </a:rPr>
              <a:t>€F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7490"/>
                </a:solidFill>
                <a:latin typeface="Inter"/>
              </a:rPr>
              <a:t>FINDING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713232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A1625"/>
                </a:solidFill>
                <a:latin typeface="Inter"/>
              </a:rPr>
              <a:t>Online is the slowest channel, not the fastest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50292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9C4CF"/>
                </a:solidFill>
                <a:latin typeface="Inter"/>
              </a:rP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7008" y="1298448"/>
            <a:ext cx="9966960" cy="16459"/>
          </a:xfrm>
          <a:prstGeom prst="rect">
            <a:avLst/>
          </a:prstGeom>
          <a:solidFill>
            <a:srgbClr val="EC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15544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1625"/>
                </a:solidFill>
                <a:latin typeface="Inter"/>
              </a:rPr>
              <a:t>Revenue growth 2023 → 2024 by segment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1207008" y="1920240"/>
          <a:ext cx="566928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315200" y="1737360"/>
            <a:ext cx="3931920" cy="3931920"/>
          </a:xfrm>
          <a:prstGeom prst="roundRect">
            <a:avLst>
              <a:gd name="adj" fmla="val 6000"/>
            </a:avLst>
          </a:prstGeom>
          <a:solidFill>
            <a:srgbClr val="FBFAF9"/>
          </a:solidFill>
          <a:ln w="9525">
            <a:solidFill>
              <a:srgbClr val="ECE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1965960"/>
            <a:ext cx="3520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E7490"/>
                </a:solidFill>
                <a:latin typeface="Inter"/>
              </a:rPr>
              <a:t>WHY IT MATTERS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43800" y="2377440"/>
            <a:ext cx="109728" cy="603504"/>
          </a:xfrm>
          <a:prstGeom prst="rect">
            <a:avLst/>
          </a:prstGeom>
          <a:solidFill>
            <a:srgbClr val="16B3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237744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625"/>
                </a:solidFill>
                <a:latin typeface="Inter"/>
              </a:rPr>
              <a:t>Supermarket leads  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6478"/>
                </a:solidFill>
                <a:latin typeface="Inter"/>
              </a:rPr>
              <a:t>+5.9% — 33.6% of revenue, the real growth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43800" y="3182112"/>
            <a:ext cx="109728" cy="603504"/>
          </a:xfrm>
          <a:prstGeom prst="rect">
            <a:avLst/>
          </a:prstGeom>
          <a:solidFill>
            <a:srgbClr val="F03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182112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625"/>
                </a:solidFill>
                <a:latin typeface="Inter"/>
              </a:rPr>
              <a:t>Online lags  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6478"/>
                </a:solidFill>
                <a:latin typeface="Inter"/>
              </a:rPr>
              <a:t>+4.9%, the slowest of all four channels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43800" y="3986784"/>
            <a:ext cx="109728" cy="60350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3986784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625"/>
                </a:solidFill>
                <a:latin typeface="Inter"/>
              </a:rPr>
              <a:t>Brick-and-mortar +6.0%  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6478"/>
                </a:solidFill>
                <a:latin typeface="Inter"/>
              </a:rPr>
              <a:t>actually outgrew Online (+5.0%)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43800" y="4791456"/>
            <a:ext cx="109728" cy="603504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4791456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625"/>
                </a:solidFill>
                <a:latin typeface="Inter"/>
              </a:rPr>
              <a:t>The opportunity  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6478"/>
                </a:solidFill>
                <a:latin typeface="Inter"/>
              </a:rPr>
              <a:t>Online is 22.6% of revenue but under-invested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FF4D8D"/>
              </a:gs>
              <a:gs pos="100000">
                <a:srgbClr val="FF7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457200"/>
            <a:ext cx="548640" cy="548640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D8D"/>
              </a:gs>
              <a:gs pos="100000">
                <a:srgbClr val="FF7A4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Inter"/>
              </a:rPr>
              <a:t>€F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7490"/>
                </a:solidFill>
                <a:latin typeface="Inter"/>
              </a:rPr>
              <a:t>FINDING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713232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A1625"/>
                </a:solidFill>
                <a:latin typeface="Inter"/>
              </a:rPr>
              <a:t>Frozen Food is the structural margin drag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50292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9C4CF"/>
                </a:solidFill>
                <a:latin typeface="Inter"/>
              </a:rP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7008" y="1298448"/>
            <a:ext cx="9966960" cy="16459"/>
          </a:xfrm>
          <a:prstGeom prst="rect">
            <a:avLst/>
          </a:prstGeom>
          <a:solidFill>
            <a:srgbClr val="EC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15544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1625"/>
                </a:solidFill>
                <a:latin typeface="Inter"/>
              </a:rPr>
              <a:t>Margin % vs category target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1207008" y="1920240"/>
          <a:ext cx="566928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315200" y="1737360"/>
            <a:ext cx="3931920" cy="3931920"/>
          </a:xfrm>
          <a:prstGeom prst="roundRect">
            <a:avLst>
              <a:gd name="adj" fmla="val 6000"/>
            </a:avLst>
          </a:prstGeom>
          <a:solidFill>
            <a:srgbClr val="FBFAF9"/>
          </a:solidFill>
          <a:ln w="9525">
            <a:solidFill>
              <a:srgbClr val="ECE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1965960"/>
            <a:ext cx="3520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E7490"/>
                </a:solidFill>
                <a:latin typeface="Inter"/>
              </a:rPr>
              <a:t>THE FROZEN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377440"/>
            <a:ext cx="35204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A1625"/>
                </a:solidFill>
                <a:latin typeface="Inter"/>
              </a:rPr>
              <a:t>All 5 </a:t>
            </a:r>
            <a:r>
              <a:rPr sz="1100" b="0">
                <a:solidFill>
                  <a:srgbClr val="6B6478"/>
                </a:solidFill>
                <a:latin typeface="Inter"/>
              </a:rPr>
              <a:t>Frozen Food SKUs sit below the 35% target.</a:t>
            </a:r>
          </a:p>
          <a:p>
            <a:pPr algn="l">
              <a:lnSpc>
                <a:spcPct val="105000"/>
              </a:lnSpc>
            </a:pPr>
            <a:r>
              <a:rPr sz="600" b="0">
                <a:solidFill>
                  <a:srgbClr val="6B6478"/>
                </a:solidFill>
                <a:latin typeface="Inter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2600" b="1">
                <a:solidFill>
                  <a:srgbClr val="7C5CFF"/>
                </a:solidFill>
                <a:latin typeface="Inter"/>
              </a:rPr>
              <a:t>€1.42M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6B6478"/>
                </a:solidFill>
                <a:latin typeface="Inter"/>
              </a:rPr>
              <a:t>largest category by revenue — yet the lowest margin band.</a:t>
            </a:r>
          </a:p>
          <a:p>
            <a:pPr algn="l">
              <a:lnSpc>
                <a:spcPct val="105000"/>
              </a:lnSpc>
            </a:pPr>
            <a:r>
              <a:rPr sz="600" b="0">
                <a:solidFill>
                  <a:srgbClr val="6B6478"/>
                </a:solidFill>
                <a:latin typeface="Inter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100" b="1">
                <a:solidFill>
                  <a:srgbClr val="1A1625"/>
                </a:solidFill>
                <a:latin typeface="Inter"/>
              </a:rPr>
              <a:t>Verdict: </a:t>
            </a:r>
            <a:r>
              <a:rPr sz="1050" b="0">
                <a:solidFill>
                  <a:srgbClr val="6B6478"/>
                </a:solidFill>
                <a:latin typeface="Inter"/>
              </a:rPr>
              <a:t>a category-wide sourcing issue, not weak individual products. No SKU warrants discontinuation.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FF4D8D"/>
              </a:gs>
              <a:gs pos="100000">
                <a:srgbClr val="FF7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457200"/>
            <a:ext cx="548640" cy="548640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D8D"/>
              </a:gs>
              <a:gs pos="100000">
                <a:srgbClr val="FF7A4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Inter"/>
              </a:rPr>
              <a:t>€F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7490"/>
                </a:solidFill>
                <a:latin typeface="Inter"/>
              </a:rPr>
              <a:t>BUDGET VARIANCE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713232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A1625"/>
                </a:solidFill>
                <a:latin typeface="Inter"/>
              </a:rPr>
              <a:t>Every market missed — by almost exactly the same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50292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9C4CF"/>
                </a:solidFill>
                <a:latin typeface="Inter"/>
              </a:rP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7008" y="1298448"/>
            <a:ext cx="9966960" cy="16459"/>
          </a:xfrm>
          <a:prstGeom prst="rect">
            <a:avLst/>
          </a:prstGeom>
          <a:solidFill>
            <a:srgbClr val="EC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07008" y="1600200"/>
            <a:ext cx="2651760" cy="1280160"/>
          </a:xfrm>
          <a:prstGeom prst="roundRect">
            <a:avLst>
              <a:gd name="adj" fmla="val 6000"/>
            </a:avLst>
          </a:prstGeom>
          <a:solidFill>
            <a:srgbClr val="FBFAF9"/>
          </a:solidFill>
          <a:ln w="9525">
            <a:solidFill>
              <a:srgbClr val="ECE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7008" y="1600200"/>
            <a:ext cx="64008" cy="128016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08176" y="174650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B6478"/>
                </a:solidFill>
                <a:latin typeface="Inter"/>
              </a:rPr>
              <a:t>ACTUAL (2YR)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84248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A1625"/>
                </a:solidFill>
                <a:latin typeface="Inter"/>
              </a:rPr>
              <a:t>€4.60M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49631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478"/>
                </a:solidFill>
                <a:latin typeface="Inter"/>
              </a:rPr>
              <a:t/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41648" y="1600200"/>
            <a:ext cx="2651760" cy="1280160"/>
          </a:xfrm>
          <a:prstGeom prst="roundRect">
            <a:avLst>
              <a:gd name="adj" fmla="val 6000"/>
            </a:avLst>
          </a:prstGeom>
          <a:solidFill>
            <a:srgbClr val="FBFAF9"/>
          </a:solidFill>
          <a:ln w="9525">
            <a:solidFill>
              <a:srgbClr val="ECE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41648" y="1600200"/>
            <a:ext cx="64008" cy="1280160"/>
          </a:xfrm>
          <a:prstGeom prst="rect">
            <a:avLst/>
          </a:prstGeom>
          <a:solidFill>
            <a:srgbClr val="FF9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42816" y="174650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B6478"/>
                </a:solidFill>
                <a:latin typeface="Inter"/>
              </a:rPr>
              <a:t>BUDGET (2YR)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2816" y="1984248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A1625"/>
                </a:solidFill>
                <a:latin typeface="Inter"/>
              </a:rPr>
              <a:t>€4.83M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42816" y="249631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478"/>
                </a:solidFill>
                <a:latin typeface="Inter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76288" y="1600200"/>
            <a:ext cx="2651760" cy="1280160"/>
          </a:xfrm>
          <a:prstGeom prst="roundRect">
            <a:avLst>
              <a:gd name="adj" fmla="val 6000"/>
            </a:avLst>
          </a:prstGeom>
          <a:solidFill>
            <a:srgbClr val="FBFAF9"/>
          </a:solidFill>
          <a:ln w="9525">
            <a:solidFill>
              <a:srgbClr val="ECE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76288" y="1600200"/>
            <a:ext cx="64008" cy="1280160"/>
          </a:xfrm>
          <a:prstGeom prst="rect">
            <a:avLst/>
          </a:prstGeom>
          <a:solidFill>
            <a:srgbClr val="F03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77455" y="174650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B6478"/>
                </a:solidFill>
                <a:latin typeface="Inter"/>
              </a:rPr>
              <a:t>VARIANCE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77455" y="1984248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A1625"/>
                </a:solidFill>
                <a:latin typeface="Inter"/>
              </a:rPr>
              <a:t>−€227k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77455" y="249631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0384B"/>
                </a:solidFill>
                <a:latin typeface="Inter"/>
              </a:rPr>
              <a:t>−4.7% unfavourable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10928" y="1600200"/>
            <a:ext cx="1463040" cy="1280160"/>
          </a:xfrm>
          <a:prstGeom prst="roundRect">
            <a:avLst>
              <a:gd name="adj" fmla="val 6000"/>
            </a:avLst>
          </a:prstGeom>
          <a:solidFill>
            <a:srgbClr val="FBFAF9"/>
          </a:solidFill>
          <a:ln w="9525">
            <a:solidFill>
              <a:srgbClr val="ECE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10928" y="1600200"/>
            <a:ext cx="64008" cy="128016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12096" y="174650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B6478"/>
                </a:solidFill>
                <a:latin typeface="Inter"/>
              </a:rPr>
              <a:t>VOL. VAR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12096" y="1984248"/>
            <a:ext cx="1188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A1625"/>
                </a:solidFill>
                <a:latin typeface="Inter"/>
              </a:rPr>
              <a:t>−4.7%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12096" y="249631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478"/>
                </a:solidFill>
                <a:latin typeface="Inter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07008" y="31546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1625"/>
                </a:solidFill>
                <a:latin typeface="Inter"/>
              </a:rPr>
              <a:t>Actual vs budget revenue by country</a:t>
            </a:r>
          </a:p>
        </p:txBody>
      </p:sp>
      <p:graphicFrame>
        <p:nvGraphicFramePr>
          <p:cNvPr id="31" name="Chart 30"/>
          <p:cNvGraphicFramePr>
            <a:graphicFrameLocks noGrp="1"/>
          </p:cNvGraphicFramePr>
          <p:nvPr/>
        </p:nvGraphicFramePr>
        <p:xfrm>
          <a:off x="1207008" y="3520440"/>
          <a:ext cx="5029200" cy="2697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6492240" y="3200400"/>
            <a:ext cx="4754880" cy="3017520"/>
          </a:xfrm>
          <a:prstGeom prst="roundRect">
            <a:avLst>
              <a:gd name="adj" fmla="val 6000"/>
            </a:avLst>
          </a:prstGeom>
          <a:solidFill>
            <a:srgbClr val="FBFAF9"/>
          </a:solidFill>
          <a:ln w="9525">
            <a:solidFill>
              <a:srgbClr val="ECE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0840" y="340156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E7490"/>
                </a:solidFill>
                <a:latin typeface="Inter"/>
              </a:rPr>
              <a:t>THE DIAGNOSIS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3794760"/>
            <a:ext cx="4343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A1625"/>
                </a:solidFill>
                <a:latin typeface="Inter"/>
              </a:rPr>
              <a:t>Variance band: </a:t>
            </a:r>
            <a:r>
              <a:rPr sz="1050" b="0">
                <a:solidFill>
                  <a:srgbClr val="6B6478"/>
                </a:solidFill>
                <a:latin typeface="Inter"/>
              </a:rPr>
              <a:t>−5.0% to −3.9% across all 3 countries × 4 categories × 8 quarters.</a:t>
            </a:r>
          </a:p>
          <a:p>
            <a:pPr algn="l">
              <a:lnSpc>
                <a:spcPct val="105000"/>
              </a:lnSpc>
            </a:pPr>
            <a:r>
              <a:rPr sz="600" b="0">
                <a:solidFill>
                  <a:srgbClr val="6B6478"/>
                </a:solidFill>
                <a:latin typeface="Inter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6B6478"/>
                </a:solidFill>
                <a:latin typeface="Inter"/>
              </a:rPr>
              <a:t>Such uniformity is the signature of a </a:t>
            </a:r>
            <a:r>
              <a:rPr sz="1050" b="1">
                <a:solidFill>
                  <a:srgbClr val="1A1625"/>
                </a:solidFill>
                <a:latin typeface="Inter"/>
              </a:rPr>
              <a:t>top-down budget set ~5% too high</a:t>
            </a:r>
            <a:r>
              <a:rPr sz="1050" b="0">
                <a:solidFill>
                  <a:srgbClr val="6B6478"/>
                </a:solidFill>
                <a:latin typeface="Inter"/>
              </a:rPr>
              <a:t> — not localised execution failures.</a:t>
            </a:r>
          </a:p>
          <a:p>
            <a:pPr algn="l">
              <a:lnSpc>
                <a:spcPct val="105000"/>
              </a:lnSpc>
            </a:pPr>
            <a:r>
              <a:rPr sz="600" b="0">
                <a:solidFill>
                  <a:srgbClr val="6B6478"/>
                </a:solidFill>
                <a:latin typeface="Inter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100" b="1">
                <a:solidFill>
                  <a:srgbClr val="0B7A45"/>
                </a:solidFill>
                <a:latin typeface="Inter"/>
              </a:rPr>
              <a:t>Fix: </a:t>
            </a:r>
            <a:r>
              <a:rPr sz="1050" b="0">
                <a:solidFill>
                  <a:srgbClr val="6B6478"/>
                </a:solidFill>
                <a:latin typeface="Inter"/>
              </a:rPr>
              <a:t>re-baseline 2025 on the real run-rate.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FF4D8D"/>
              </a:gs>
              <a:gs pos="100000">
                <a:srgbClr val="FF7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457200"/>
            <a:ext cx="548640" cy="548640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D8D"/>
              </a:gs>
              <a:gs pos="100000">
                <a:srgbClr val="FF7A4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Inter"/>
              </a:rPr>
              <a:t>€F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7490"/>
                </a:solidFill>
                <a:latin typeface="Inter"/>
              </a:rPr>
              <a:t>SEASONALITY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713232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A1625"/>
                </a:solidFill>
                <a:latin typeface="Inter"/>
              </a:rPr>
              <a:t>Beverages swing hardest — a planning signal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50292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9C4CF"/>
                </a:solidFill>
                <a:latin typeface="Inter"/>
              </a:rP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7008" y="1298448"/>
            <a:ext cx="9966960" cy="16459"/>
          </a:xfrm>
          <a:prstGeom prst="rect">
            <a:avLst/>
          </a:prstGeom>
          <a:solidFill>
            <a:srgbClr val="EC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1207008" y="1737360"/>
          <a:ext cx="667512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229600" y="1783080"/>
            <a:ext cx="3017520" cy="3977639"/>
          </a:xfrm>
          <a:prstGeom prst="roundRect">
            <a:avLst>
              <a:gd name="adj" fmla="val 6000"/>
            </a:avLst>
          </a:prstGeom>
          <a:solidFill>
            <a:srgbClr val="FBFAF9"/>
          </a:solidFill>
          <a:ln w="9525">
            <a:solidFill>
              <a:srgbClr val="ECE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201168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E7490"/>
                </a:solidFill>
                <a:latin typeface="Inter"/>
              </a:rPr>
              <a:t>INDEX (100 = AVG)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423160"/>
            <a:ext cx="26060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E7490"/>
                </a:solidFill>
                <a:latin typeface="Inter"/>
              </a:rPr>
              <a:t>Beverages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6B6478"/>
                </a:solidFill>
                <a:latin typeface="Inter"/>
              </a:rPr>
              <a:t>Peak Jul 136 · trough Feb 74 — widest swing (±62).</a:t>
            </a:r>
          </a:p>
          <a:p>
            <a:pPr algn="l">
              <a:lnSpc>
                <a:spcPct val="105000"/>
              </a:lnSpc>
            </a:pPr>
            <a:r>
              <a:rPr sz="700" b="0">
                <a:solidFill>
                  <a:srgbClr val="6B6478"/>
                </a:solidFill>
                <a:latin typeface="Inter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200" b="1">
                <a:solidFill>
                  <a:srgbClr val="7C5CFF"/>
                </a:solidFill>
                <a:latin typeface="Inter"/>
              </a:rPr>
              <a:t>Frozen Food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6B6478"/>
                </a:solidFill>
                <a:latin typeface="Inter"/>
              </a:rPr>
              <a:t>Peaks Jan 122 (winter) — counter-seasonal to drinks.</a:t>
            </a:r>
          </a:p>
          <a:p>
            <a:pPr algn="l">
              <a:lnSpc>
                <a:spcPct val="105000"/>
              </a:lnSpc>
            </a:pPr>
            <a:r>
              <a:rPr sz="700" b="0">
                <a:solidFill>
                  <a:srgbClr val="6B6478"/>
                </a:solidFill>
                <a:latin typeface="Inter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100" b="1">
                <a:solidFill>
                  <a:srgbClr val="1A1625"/>
                </a:solidFill>
                <a:latin typeface="Inter"/>
              </a:rPr>
              <a:t>Action: </a:t>
            </a:r>
            <a:r>
              <a:rPr sz="1000" b="0">
                <a:solidFill>
                  <a:srgbClr val="6B6478"/>
                </a:solidFill>
                <a:latin typeface="Inter"/>
              </a:rPr>
              <a:t>phase inventory &amp; promo by category season.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FF4D8D"/>
              </a:gs>
              <a:gs pos="100000">
                <a:srgbClr val="FF7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457200"/>
            <a:ext cx="548640" cy="548640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D8D"/>
              </a:gs>
              <a:gs pos="100000">
                <a:srgbClr val="FF7A4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Inter"/>
              </a:rPr>
              <a:t>€F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7490"/>
                </a:solidFill>
                <a:latin typeface="Inter"/>
              </a:rPr>
              <a:t>FORECAST &amp; WHAT-IF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713232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A1625"/>
                </a:solidFill>
                <a:latin typeface="Inter"/>
              </a:rPr>
              <a:t>Reaching €2.5M in 2025 is within reach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50292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9C4CF"/>
                </a:solidFill>
                <a:latin typeface="Inter"/>
              </a:rPr>
              <a:t>09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7008" y="1298448"/>
            <a:ext cx="9966960" cy="16459"/>
          </a:xfrm>
          <a:prstGeom prst="rect">
            <a:avLst/>
          </a:prstGeom>
          <a:solidFill>
            <a:srgbClr val="EC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15544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1625"/>
                </a:solidFill>
                <a:latin typeface="Inter"/>
              </a:rPr>
              <a:t>Monthly revenue + Q1-2025 projection (central +5%)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1207008" y="1920240"/>
          <a:ext cx="585216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406640" y="1737360"/>
            <a:ext cx="3840480" cy="4023360"/>
          </a:xfrm>
          <a:prstGeom prst="roundRect">
            <a:avLst>
              <a:gd name="adj" fmla="val 6000"/>
            </a:avLst>
          </a:prstGeom>
          <a:solidFill>
            <a:srgbClr val="FBFAF9"/>
          </a:solidFill>
          <a:ln w="9525">
            <a:solidFill>
              <a:srgbClr val="ECE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93852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E7490"/>
                </a:solidFill>
                <a:latin typeface="Inter"/>
              </a:rPr>
              <a:t>SCENARIO MODELLING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2331720"/>
            <a:ext cx="3429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625"/>
                </a:solidFill>
                <a:latin typeface="Inter"/>
              </a:rPr>
              <a:t>Online +20% &amp; Convenience −10%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6478"/>
                </a:solidFill>
                <a:latin typeface="Inter"/>
              </a:rPr>
              <a:t>net impact on 2024 revenue: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3200400"/>
            <a:ext cx="3429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B7A45"/>
                </a:solidFill>
                <a:latin typeface="Inter"/>
              </a:rPr>
              <a:t>+€68k</a:t>
            </a:r>
            <a:r>
              <a:rPr sz="1500" b="1">
                <a:solidFill>
                  <a:srgbClr val="16B364"/>
                </a:solidFill>
                <a:latin typeface="Inter"/>
              </a:rPr>
              <a:t>  +2.9%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3977639"/>
            <a:ext cx="3383280" cy="18288"/>
          </a:xfrm>
          <a:prstGeom prst="rect">
            <a:avLst/>
          </a:prstGeom>
          <a:solidFill>
            <a:srgbClr val="EC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4114800"/>
            <a:ext cx="34290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A1625"/>
                </a:solidFill>
                <a:latin typeface="Inter"/>
              </a:rPr>
              <a:t>To hit €2.5M in 2025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6B6478"/>
                </a:solidFill>
                <a:latin typeface="Inter"/>
              </a:rPr>
              <a:t>requires </a:t>
            </a:r>
            <a:r>
              <a:rPr sz="1300" b="1">
                <a:solidFill>
                  <a:srgbClr val="0E7490"/>
                </a:solidFill>
                <a:latin typeface="Inter"/>
              </a:rPr>
              <a:t>+5.8%</a:t>
            </a:r>
            <a:r>
              <a:rPr sz="1000" b="0">
                <a:solidFill>
                  <a:srgbClr val="6B6478"/>
                </a:solidFill>
                <a:latin typeface="Inter"/>
              </a:rPr>
              <a:t> growth — just above the +5.4% delivered in 2024.</a:t>
            </a:r>
          </a:p>
          <a:p>
            <a:pPr algn="l">
              <a:lnSpc>
                <a:spcPct val="105000"/>
              </a:lnSpc>
            </a:pPr>
            <a:r>
              <a:rPr sz="500" b="0">
                <a:solidFill>
                  <a:srgbClr val="6B6478"/>
                </a:solidFill>
                <a:latin typeface="Inter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6B6478"/>
                </a:solidFill>
                <a:latin typeface="Inter"/>
              </a:rPr>
              <a:t>The Online push alone bridges most of that gap.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FF4D8D"/>
              </a:gs>
              <a:gs pos="100000">
                <a:srgbClr val="FF7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457200"/>
            <a:ext cx="548640" cy="548640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D8D"/>
              </a:gs>
              <a:gs pos="100000">
                <a:srgbClr val="FF7A4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Inter"/>
              </a:rPr>
              <a:t>€F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7490"/>
                </a:solidFill>
                <a:latin typeface="Inter"/>
              </a:rPr>
              <a:t>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713232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A1625"/>
                </a:solidFill>
                <a:latin typeface="Inter"/>
              </a:rPr>
              <a:t>Three actions, quantified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50292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9C4CF"/>
                </a:solidFill>
                <a:latin typeface="Inter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7008" y="1298448"/>
            <a:ext cx="9966960" cy="16459"/>
          </a:xfrm>
          <a:prstGeom prst="rect">
            <a:avLst/>
          </a:prstGeom>
          <a:solidFill>
            <a:srgbClr val="EC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07008" y="1600200"/>
            <a:ext cx="1005840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CE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7008" y="1600200"/>
            <a:ext cx="82296" cy="1280160"/>
          </a:xfrm>
          <a:prstGeom prst="rect">
            <a:avLst/>
          </a:prstGeom>
          <a:solidFill>
            <a:srgbClr val="16B3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1783080"/>
            <a:ext cx="822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3E0DB"/>
                </a:solidFill>
                <a:latin typeface="Inter"/>
              </a:rPr>
              <a:t>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31720" y="180136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16B3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31720" y="1819656"/>
            <a:ext cx="12344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Inter"/>
              </a:rPr>
              <a:t>ACT 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2203704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1625"/>
                </a:solidFill>
                <a:latin typeface="Inter"/>
              </a:rPr>
              <a:t>Re-baseline the 2025 budget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1783080"/>
            <a:ext cx="41148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6478"/>
                </a:solidFill>
                <a:latin typeface="Inter"/>
              </a:rPr>
              <a:t>Rebuild plan volumes on the actual run-rate, not the +5% top-down assumption that missed every cell.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1874519"/>
            <a:ext cx="3108960" cy="731520"/>
          </a:xfrm>
          <a:prstGeom prst="roundRect">
            <a:avLst>
              <a:gd name="adj" fmla="val 6000"/>
            </a:avLst>
          </a:prstGeom>
          <a:solidFill>
            <a:srgbClr val="FBFAF9"/>
          </a:solidFill>
          <a:ln w="12700">
            <a:solidFill>
              <a:srgbClr val="16B3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1929384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6B364"/>
                </a:solidFill>
                <a:latin typeface="Inter"/>
              </a:rPr>
              <a:t>▲ IMPACT  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1A1625"/>
                </a:solidFill>
                <a:latin typeface="Inter"/>
              </a:rPr>
              <a:t>Removes the chronic ≈€115k/yr unfavourable variance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07008" y="3017520"/>
            <a:ext cx="1005840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CE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7008" y="3017520"/>
            <a:ext cx="82296" cy="128016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3200400"/>
            <a:ext cx="822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3E0DB"/>
                </a:solidFill>
                <a:latin typeface="Inter"/>
              </a:rPr>
              <a:t>02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31720" y="321868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31720" y="3236976"/>
            <a:ext cx="12344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Inter"/>
              </a:rPr>
              <a:t>GROW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3621024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1625"/>
                </a:solidFill>
                <a:latin typeface="Inter"/>
              </a:rPr>
              <a:t>Push Supermarket &amp; fix Online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3200400"/>
            <a:ext cx="41148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6478"/>
                </a:solidFill>
                <a:latin typeface="Inter"/>
              </a:rPr>
              <a:t>Reinvest behind the fastest channel and rehabilitate Online with promo &amp; assortment.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79" y="3291839"/>
            <a:ext cx="3108960" cy="731520"/>
          </a:xfrm>
          <a:prstGeom prst="roundRect">
            <a:avLst>
              <a:gd name="adj" fmla="val 6000"/>
            </a:avLst>
          </a:prstGeom>
          <a:solidFill>
            <a:srgbClr val="FBFAF9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40" y="3346703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06B6D4"/>
                </a:solidFill>
                <a:latin typeface="Inter"/>
              </a:rPr>
              <a:t>▲ IMPACT  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1A1625"/>
                </a:solidFill>
                <a:latin typeface="Inter"/>
              </a:rPr>
              <a:t>Online +20% nets +€68k (+2.9%) — covers the gap to €2.5M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07008" y="4434840"/>
            <a:ext cx="1005840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CE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207008" y="4434840"/>
            <a:ext cx="82296" cy="1280160"/>
          </a:xfrm>
          <a:prstGeom prst="rect">
            <a:avLst/>
          </a:prstGeom>
          <a:solidFill>
            <a:srgbClr val="FF9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63040" y="4617720"/>
            <a:ext cx="822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3E0DB"/>
                </a:solidFill>
                <a:latin typeface="Inter"/>
              </a:rPr>
              <a:t>03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31720" y="4636007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F9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31720" y="4654295"/>
            <a:ext cx="12344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Inter"/>
              </a:rPr>
              <a:t>PROTECT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31720" y="5038344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1625"/>
                </a:solidFill>
                <a:latin typeface="Inter"/>
              </a:rPr>
              <a:t>Fix Frozen margin &amp; hedge GBP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39" y="4617720"/>
            <a:ext cx="41148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6478"/>
                </a:solidFill>
                <a:latin typeface="Inter"/>
              </a:rPr>
              <a:t>Renegotiate Frozen sourcing to the 35% target; hedge sterling on the 27%-of-revenue UK book.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55279" y="4709159"/>
            <a:ext cx="3108960" cy="731520"/>
          </a:xfrm>
          <a:prstGeom prst="roundRect">
            <a:avLst>
              <a:gd name="adj" fmla="val 6000"/>
            </a:avLst>
          </a:prstGeom>
          <a:solidFill>
            <a:srgbClr val="FBFAF9"/>
          </a:solidFill>
          <a:ln w="12700">
            <a:solidFill>
              <a:srgbClr val="FF9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92440" y="4764024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F9E2C"/>
                </a:solidFill>
                <a:latin typeface="Inter"/>
              </a:rPr>
              <a:t>▲ IMPACT  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1A1625"/>
                </a:solidFill>
                <a:latin typeface="Inter"/>
              </a:rPr>
              <a:t>+2pp on €1.42M ≈ +€28k GM; caps a ~6% FX swing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FF4D8D"/>
              </a:gs>
              <a:gs pos="100000">
                <a:srgbClr val="FF7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457200"/>
            <a:ext cx="548640" cy="548640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D8D"/>
              </a:gs>
              <a:gs pos="100000">
                <a:srgbClr val="FF7A4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Inter"/>
              </a:rPr>
              <a:t>€F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7490"/>
                </a:solidFill>
                <a:latin typeface="Inter"/>
              </a:rPr>
              <a:t>RISKS &amp; CLOSE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713232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A1625"/>
                </a:solidFill>
                <a:latin typeface="Inter"/>
              </a:rPr>
              <a:t>What could go wrong — and the bottom 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50292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9C4CF"/>
                </a:solidFill>
                <a:latin typeface="Inter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7008" y="1298448"/>
            <a:ext cx="9966960" cy="16459"/>
          </a:xfrm>
          <a:prstGeom prst="rect">
            <a:avLst/>
          </a:prstGeom>
          <a:solidFill>
            <a:srgbClr val="EC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07008" y="1645920"/>
            <a:ext cx="5486400" cy="841248"/>
          </a:xfrm>
          <a:prstGeom prst="roundRect">
            <a:avLst>
              <a:gd name="adj" fmla="val 6000"/>
            </a:avLst>
          </a:prstGeom>
          <a:solidFill>
            <a:srgbClr val="FBFAF9"/>
          </a:solidFill>
          <a:ln w="9525">
            <a:solidFill>
              <a:srgbClr val="ECE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7008" y="1645920"/>
            <a:ext cx="91440" cy="841248"/>
          </a:xfrm>
          <a:prstGeom prst="rect">
            <a:avLst/>
          </a:prstGeom>
          <a:solidFill>
            <a:srgbClr val="F03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44752" y="175564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A1625"/>
                </a:solidFill>
                <a:latin typeface="Inter"/>
              </a:rPr>
              <a:t>Budget premise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201168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6478"/>
                </a:solidFill>
                <a:latin typeface="Inter"/>
              </a:rPr>
              <a:t>Assumes the uniform 5% gap is planning optimism, not demand erosion. Monitor the volume trend monthly.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07008" y="2606040"/>
            <a:ext cx="5486400" cy="841248"/>
          </a:xfrm>
          <a:prstGeom prst="roundRect">
            <a:avLst>
              <a:gd name="adj" fmla="val 6000"/>
            </a:avLst>
          </a:prstGeom>
          <a:solidFill>
            <a:srgbClr val="FBFAF9"/>
          </a:solidFill>
          <a:ln w="9525">
            <a:solidFill>
              <a:srgbClr val="ECE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7008" y="2606040"/>
            <a:ext cx="91440" cy="841248"/>
          </a:xfrm>
          <a:prstGeom prst="rect">
            <a:avLst/>
          </a:prstGeom>
          <a:solidFill>
            <a:srgbClr val="FF9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44752" y="271576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A1625"/>
                </a:solidFill>
                <a:latin typeface="Inter"/>
              </a:rPr>
              <a:t>Scenario independence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4752" y="297180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6478"/>
                </a:solidFill>
                <a:latin typeface="Inter"/>
              </a:rPr>
              <a:t>The +€68k uplift treats segments as independent; real Online/Convenience cannibalisation would reduce 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07008" y="3566160"/>
            <a:ext cx="5486400" cy="841248"/>
          </a:xfrm>
          <a:prstGeom prst="roundRect">
            <a:avLst>
              <a:gd name="adj" fmla="val 6000"/>
            </a:avLst>
          </a:prstGeom>
          <a:solidFill>
            <a:srgbClr val="FBFAF9"/>
          </a:solidFill>
          <a:ln w="9525">
            <a:solidFill>
              <a:srgbClr val="ECE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07008" y="3566160"/>
            <a:ext cx="91440" cy="841248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4752" y="367588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A1625"/>
                </a:solidFill>
                <a:latin typeface="Inter"/>
              </a:rPr>
              <a:t>Margin &amp; FX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" y="393192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6478"/>
                </a:solidFill>
                <a:latin typeface="Inter"/>
              </a:rPr>
              <a:t>Forecasts hold margin at 38.7% and assume no FX shock. EUR/GBP swung ~6% — a weaker pound compresses 27% of revenue.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0" y="1645920"/>
            <a:ext cx="4206240" cy="29718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040880" y="1645920"/>
            <a:ext cx="4206240" cy="29718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6B6D4"/>
              </a:gs>
              <a:gs pos="100000">
                <a:srgbClr val="22D3E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19202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Inter"/>
              </a:rPr>
              <a:t>THE BOTTOM 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377440"/>
            <a:ext cx="37033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FFFFFF"/>
                </a:solidFill>
                <a:latin typeface="Inter"/>
              </a:rPr>
              <a:t>A profitable, growing business</a:t>
            </a:r>
          </a:p>
          <a:p>
            <a:pPr algn="l">
              <a:lnSpc>
                <a:spcPct val="106000"/>
              </a:lnSpc>
            </a:pPr>
            <a:r>
              <a:rPr sz="1100" b="0">
                <a:solidFill>
                  <a:srgbClr val="FFFFFF"/>
                </a:solidFill>
                <a:latin typeface="Inter"/>
              </a:rPr>
              <a:t>held back by an over-optimistic plan, not by execution.</a:t>
            </a:r>
          </a:p>
          <a:p>
            <a:pPr algn="l">
              <a:lnSpc>
                <a:spcPct val="106000"/>
              </a:lnSpc>
            </a:pPr>
            <a:r>
              <a:rPr sz="700" b="0">
                <a:solidFill>
                  <a:srgbClr val="FFFFFF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Rebaseline, back the winners, protect margin → €2.5M in 2025.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7008" y="50749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A1625"/>
                </a:solidFill>
                <a:latin typeface="Inter"/>
              </a:rPr>
              <a:t>Thank you.  </a:t>
            </a:r>
            <a:r>
              <a:rPr sz="2200" b="1">
                <a:solidFill>
                  <a:srgbClr val="FF4D8D"/>
                </a:solidFill>
                <a:latin typeface="Inter"/>
              </a:rPr>
              <a:t>Questions?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296" y="5806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6478"/>
                </a:solidFill>
                <a:latin typeface="Inter"/>
              </a:rPr>
              <a:t>EuroFoods S.A. · FP&amp;A Analytics · Live Power BI dashboard + interactive companion available on screen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