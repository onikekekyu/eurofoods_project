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Inter Bold" charset="1" panose="02000503000000020004"/>
      <p:regular r:id="rId17"/>
    </p:embeddedFont>
    <p:embeddedFont>
      <p:font typeface="Inter" charset="1" panose="02000503000000020004"/>
      <p:regular r:id="rId18"/>
    </p:embeddedFont>
    <p:embeddedFont>
      <p:font typeface="Calibri (MS) Bold" charset="1" panose="020F07020304040302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823595"/>
                  </a:moveTo>
                  <a:cubicBezTo>
                    <a:pt x="0" y="368681"/>
                    <a:pt x="368681" y="0"/>
                    <a:pt x="823595" y="0"/>
                  </a:cubicBezTo>
                  <a:lnTo>
                    <a:pt x="23578820" y="0"/>
                  </a:lnTo>
                  <a:cubicBezTo>
                    <a:pt x="24033733" y="0"/>
                    <a:pt x="24402414" y="368681"/>
                    <a:pt x="24402414" y="823595"/>
                  </a:cubicBezTo>
                  <a:lnTo>
                    <a:pt x="24402414" y="12903073"/>
                  </a:lnTo>
                  <a:cubicBezTo>
                    <a:pt x="24402414" y="13357988"/>
                    <a:pt x="24033733" y="13726668"/>
                    <a:pt x="23578820" y="13726668"/>
                  </a:cubicBezTo>
                  <a:lnTo>
                    <a:pt x="823595" y="13726668"/>
                  </a:lnTo>
                  <a:cubicBezTo>
                    <a:pt x="368681" y="13726668"/>
                    <a:pt x="0" y="13357988"/>
                    <a:pt x="0" y="12903073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628588" y="-2196274"/>
            <a:ext cx="7549696" cy="7549696"/>
            <a:chOff x="0" y="0"/>
            <a:chExt cx="10066261" cy="1006626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066274" cy="10066274"/>
            </a:xfrm>
            <a:custGeom>
              <a:avLst/>
              <a:gdLst/>
              <a:ahLst/>
              <a:cxnLst/>
              <a:rect r="r" b="b" t="t" l="l"/>
              <a:pathLst>
                <a:path h="10066274" w="10066274">
                  <a:moveTo>
                    <a:pt x="0" y="604012"/>
                  </a:moveTo>
                  <a:cubicBezTo>
                    <a:pt x="0" y="270383"/>
                    <a:pt x="270383" y="0"/>
                    <a:pt x="604012" y="0"/>
                  </a:cubicBezTo>
                  <a:lnTo>
                    <a:pt x="9462262" y="0"/>
                  </a:lnTo>
                  <a:cubicBezTo>
                    <a:pt x="9795891" y="0"/>
                    <a:pt x="10066274" y="270383"/>
                    <a:pt x="10066274" y="604012"/>
                  </a:cubicBezTo>
                  <a:lnTo>
                    <a:pt x="10066274" y="9462262"/>
                  </a:lnTo>
                  <a:cubicBezTo>
                    <a:pt x="10066274" y="9795891"/>
                    <a:pt x="9795891" y="10066274"/>
                    <a:pt x="9462262" y="10066274"/>
                  </a:cubicBezTo>
                  <a:lnTo>
                    <a:pt x="604012" y="10066274"/>
                  </a:lnTo>
                  <a:cubicBezTo>
                    <a:pt x="270383" y="10066274"/>
                    <a:pt x="0" y="9795891"/>
                    <a:pt x="0" y="946226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E3EC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18900000"/>
            </a:gra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-2470814" y="6039755"/>
            <a:ext cx="7549696" cy="7549696"/>
            <a:chOff x="0" y="0"/>
            <a:chExt cx="10066261" cy="1006626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066274" cy="10066274"/>
            </a:xfrm>
            <a:custGeom>
              <a:avLst/>
              <a:gdLst/>
              <a:ahLst/>
              <a:cxnLst/>
              <a:rect r="r" b="b" t="t" l="l"/>
              <a:pathLst>
                <a:path h="10066274" w="10066274">
                  <a:moveTo>
                    <a:pt x="0" y="604012"/>
                  </a:moveTo>
                  <a:cubicBezTo>
                    <a:pt x="0" y="270383"/>
                    <a:pt x="270383" y="0"/>
                    <a:pt x="604012" y="0"/>
                  </a:cubicBezTo>
                  <a:lnTo>
                    <a:pt x="9462262" y="0"/>
                  </a:lnTo>
                  <a:cubicBezTo>
                    <a:pt x="9795891" y="0"/>
                    <a:pt x="10066274" y="270383"/>
                    <a:pt x="10066274" y="604012"/>
                  </a:cubicBezTo>
                  <a:lnTo>
                    <a:pt x="10066274" y="9462262"/>
                  </a:lnTo>
                  <a:cubicBezTo>
                    <a:pt x="10066274" y="9795891"/>
                    <a:pt x="9795891" y="10066274"/>
                    <a:pt x="9462262" y="10066274"/>
                  </a:cubicBezTo>
                  <a:lnTo>
                    <a:pt x="604012" y="10066274"/>
                  </a:lnTo>
                  <a:cubicBezTo>
                    <a:pt x="270383" y="10066274"/>
                    <a:pt x="0" y="9795891"/>
                    <a:pt x="0" y="946226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E1F7FB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18900000"/>
            </a:gra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72676" y="1304039"/>
            <a:ext cx="1372676" cy="1372676"/>
            <a:chOff x="0" y="0"/>
            <a:chExt cx="1830235" cy="183023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830197" cy="1830197"/>
            </a:xfrm>
            <a:custGeom>
              <a:avLst/>
              <a:gdLst/>
              <a:ahLst/>
              <a:cxnLst/>
              <a:rect r="r" b="b" t="t" l="l"/>
              <a:pathLst>
                <a:path h="1830197" w="1830197">
                  <a:moveTo>
                    <a:pt x="0" y="512445"/>
                  </a:moveTo>
                  <a:cubicBezTo>
                    <a:pt x="0" y="229489"/>
                    <a:pt x="229489" y="0"/>
                    <a:pt x="512445" y="0"/>
                  </a:cubicBezTo>
                  <a:lnTo>
                    <a:pt x="1317752" y="0"/>
                  </a:lnTo>
                  <a:cubicBezTo>
                    <a:pt x="1600835" y="0"/>
                    <a:pt x="1830197" y="229489"/>
                    <a:pt x="1830197" y="512445"/>
                  </a:cubicBezTo>
                  <a:lnTo>
                    <a:pt x="1830197" y="1317752"/>
                  </a:lnTo>
                  <a:cubicBezTo>
                    <a:pt x="1830197" y="1600835"/>
                    <a:pt x="1600708" y="1830197"/>
                    <a:pt x="1317752" y="1830197"/>
                  </a:cubicBezTo>
                  <a:lnTo>
                    <a:pt x="512445" y="1830197"/>
                  </a:lnTo>
                  <a:cubicBezTo>
                    <a:pt x="229489" y="1830197"/>
                    <a:pt x="0" y="1600835"/>
                    <a:pt x="0" y="131775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8900000"/>
            </a:gra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372676" y="1304039"/>
            <a:ext cx="1372676" cy="1372676"/>
            <a:chOff x="0" y="0"/>
            <a:chExt cx="1830235" cy="183023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830230" cy="1830230"/>
            </a:xfrm>
            <a:custGeom>
              <a:avLst/>
              <a:gdLst/>
              <a:ahLst/>
              <a:cxnLst/>
              <a:rect r="r" b="b" t="t" l="l"/>
              <a:pathLst>
                <a:path h="1830230" w="1830230">
                  <a:moveTo>
                    <a:pt x="0" y="0"/>
                  </a:moveTo>
                  <a:lnTo>
                    <a:pt x="1830230" y="0"/>
                  </a:lnTo>
                  <a:lnTo>
                    <a:pt x="1830230" y="1830230"/>
                  </a:lnTo>
                  <a:lnTo>
                    <a:pt x="0" y="183023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4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1830235" cy="1839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€F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3088510" y="1455029"/>
            <a:ext cx="10981382" cy="54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EuroFoods S.A.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088510" y="2049485"/>
            <a:ext cx="10981382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6B6478"/>
                </a:solidFill>
                <a:latin typeface="Inter Bold"/>
                <a:ea typeface="Inter Bold"/>
                <a:cs typeface="Inter Bold"/>
                <a:sym typeface="Inter Bold"/>
              </a:rPr>
              <a:t>DATA FOR FP&amp;A · 2026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72676" y="3696691"/>
            <a:ext cx="15923000" cy="23430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349"/>
              </a:lnSpc>
            </a:pPr>
            <a:r>
              <a:rPr lang="en-US" sz="6004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Healthy growth, </a:t>
            </a:r>
            <a:r>
              <a:rPr lang="en-US" sz="6004" b="true">
                <a:solidFill>
                  <a:srgbClr val="FF4D8D"/>
                </a:solidFill>
                <a:latin typeface="Inter Bold"/>
                <a:ea typeface="Inter Bold"/>
                <a:cs typeface="Inter Bold"/>
                <a:sym typeface="Inter Bold"/>
              </a:rPr>
              <a:t>missed plan</a:t>
            </a:r>
            <a:r>
              <a:rPr lang="en-US" sz="6004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.</a:t>
            </a:r>
          </a:p>
          <a:p>
            <a:pPr algn="l">
              <a:lnSpc>
                <a:spcPts val="7349"/>
              </a:lnSpc>
            </a:pPr>
            <a:r>
              <a:rPr lang="en-US" sz="6004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A two-year FP&amp;A diagnosis of EuroFoods.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00127" y="6785200"/>
            <a:ext cx="15099392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Mattéo DAVID, James WILLEMS, Corentin CHARPENTIER, Kirsten CHANG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365523" y="7817082"/>
            <a:ext cx="3171444" cy="1318336"/>
            <a:chOff x="0" y="0"/>
            <a:chExt cx="4228592" cy="175778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228592" cy="1757680"/>
            </a:xfrm>
            <a:custGeom>
              <a:avLst/>
              <a:gdLst/>
              <a:ahLst/>
              <a:cxnLst/>
              <a:rect r="r" b="b" t="t" l="l"/>
              <a:pathLst>
                <a:path h="1757680" w="4228592">
                  <a:moveTo>
                    <a:pt x="0" y="105410"/>
                  </a:moveTo>
                  <a:cubicBezTo>
                    <a:pt x="0" y="47244"/>
                    <a:pt x="47244" y="0"/>
                    <a:pt x="105410" y="0"/>
                  </a:cubicBezTo>
                  <a:lnTo>
                    <a:pt x="4123182" y="0"/>
                  </a:lnTo>
                  <a:cubicBezTo>
                    <a:pt x="4181475" y="0"/>
                    <a:pt x="4228592" y="47244"/>
                    <a:pt x="4228592" y="105410"/>
                  </a:cubicBezTo>
                  <a:lnTo>
                    <a:pt x="4228592" y="1652270"/>
                  </a:lnTo>
                  <a:cubicBezTo>
                    <a:pt x="4228592" y="1710563"/>
                    <a:pt x="4181348" y="1757680"/>
                    <a:pt x="4123182" y="1757680"/>
                  </a:cubicBezTo>
                  <a:lnTo>
                    <a:pt x="105410" y="1757680"/>
                  </a:lnTo>
                  <a:cubicBezTo>
                    <a:pt x="47117" y="1757680"/>
                    <a:pt x="0" y="1710436"/>
                    <a:pt x="0" y="1652270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1372676" y="7824235"/>
            <a:ext cx="82363" cy="1304039"/>
            <a:chOff x="0" y="0"/>
            <a:chExt cx="109817" cy="173871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855" cy="1738757"/>
            </a:xfrm>
            <a:custGeom>
              <a:avLst/>
              <a:gdLst/>
              <a:ahLst/>
              <a:cxnLst/>
              <a:rect r="r" b="b" t="t" l="l"/>
              <a:pathLst>
                <a:path h="1738757" w="109855">
                  <a:moveTo>
                    <a:pt x="0" y="0"/>
                  </a:moveTo>
                  <a:lnTo>
                    <a:pt x="109855" y="0"/>
                  </a:lnTo>
                  <a:lnTo>
                    <a:pt x="109855" y="1738757"/>
                  </a:lnTo>
                  <a:lnTo>
                    <a:pt x="0" y="1738757"/>
                  </a:lnTo>
                  <a:close/>
                </a:path>
              </a:pathLst>
            </a:custGeom>
            <a:solidFill>
              <a:srgbClr val="06B6D4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647206" y="7988951"/>
            <a:ext cx="2745343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1"/>
              </a:lnSpc>
            </a:pPr>
            <a:r>
              <a:rPr lang="en-US" sz="1275" b="true">
                <a:solidFill>
                  <a:srgbClr val="6B6478"/>
                </a:solidFill>
                <a:latin typeface="Inter Bold"/>
                <a:ea typeface="Inter Bold"/>
                <a:cs typeface="Inter Bold"/>
                <a:sym typeface="Inter Bold"/>
              </a:rPr>
              <a:t>REVENUE 2024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647206" y="8345853"/>
            <a:ext cx="2745343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€2.36M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4865837" y="7817082"/>
            <a:ext cx="3171444" cy="1318336"/>
            <a:chOff x="0" y="0"/>
            <a:chExt cx="4228592" cy="175778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228592" cy="1757680"/>
            </a:xfrm>
            <a:custGeom>
              <a:avLst/>
              <a:gdLst/>
              <a:ahLst/>
              <a:cxnLst/>
              <a:rect r="r" b="b" t="t" l="l"/>
              <a:pathLst>
                <a:path h="1757680" w="4228592">
                  <a:moveTo>
                    <a:pt x="0" y="105410"/>
                  </a:moveTo>
                  <a:cubicBezTo>
                    <a:pt x="0" y="47244"/>
                    <a:pt x="47244" y="0"/>
                    <a:pt x="105410" y="0"/>
                  </a:cubicBezTo>
                  <a:lnTo>
                    <a:pt x="4123182" y="0"/>
                  </a:lnTo>
                  <a:cubicBezTo>
                    <a:pt x="4181475" y="0"/>
                    <a:pt x="4228592" y="47244"/>
                    <a:pt x="4228592" y="105410"/>
                  </a:cubicBezTo>
                  <a:lnTo>
                    <a:pt x="4228592" y="1652270"/>
                  </a:lnTo>
                  <a:cubicBezTo>
                    <a:pt x="4228592" y="1710563"/>
                    <a:pt x="4181348" y="1757680"/>
                    <a:pt x="4123182" y="1757680"/>
                  </a:cubicBezTo>
                  <a:lnTo>
                    <a:pt x="105410" y="1757680"/>
                  </a:lnTo>
                  <a:cubicBezTo>
                    <a:pt x="47117" y="1757680"/>
                    <a:pt x="0" y="1710436"/>
                    <a:pt x="0" y="1652270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4872990" y="7824235"/>
            <a:ext cx="82363" cy="1304039"/>
            <a:chOff x="0" y="0"/>
            <a:chExt cx="109817" cy="1738719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9855" cy="1738757"/>
            </a:xfrm>
            <a:custGeom>
              <a:avLst/>
              <a:gdLst/>
              <a:ahLst/>
              <a:cxnLst/>
              <a:rect r="r" b="b" t="t" l="l"/>
              <a:pathLst>
                <a:path h="1738757" w="109855">
                  <a:moveTo>
                    <a:pt x="0" y="0"/>
                  </a:moveTo>
                  <a:lnTo>
                    <a:pt x="109855" y="0"/>
                  </a:lnTo>
                  <a:lnTo>
                    <a:pt x="109855" y="1738757"/>
                  </a:lnTo>
                  <a:lnTo>
                    <a:pt x="0" y="1738757"/>
                  </a:lnTo>
                  <a:close/>
                </a:path>
              </a:pathLst>
            </a:custGeom>
            <a:solidFill>
              <a:srgbClr val="16B364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5147520" y="7988951"/>
            <a:ext cx="2745343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1"/>
              </a:lnSpc>
            </a:pPr>
            <a:r>
              <a:rPr lang="en-US" sz="1275" b="true">
                <a:solidFill>
                  <a:srgbClr val="6B6478"/>
                </a:solidFill>
                <a:latin typeface="Inter Bold"/>
                <a:ea typeface="Inter Bold"/>
                <a:cs typeface="Inter Bold"/>
                <a:sym typeface="Inter Bold"/>
              </a:rPr>
              <a:t>YOY GROWTH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147520" y="8345853"/>
            <a:ext cx="2745343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+5.4%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8366150" y="7817082"/>
            <a:ext cx="3171444" cy="1318336"/>
            <a:chOff x="0" y="0"/>
            <a:chExt cx="4228592" cy="1757782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228592" cy="1757680"/>
            </a:xfrm>
            <a:custGeom>
              <a:avLst/>
              <a:gdLst/>
              <a:ahLst/>
              <a:cxnLst/>
              <a:rect r="r" b="b" t="t" l="l"/>
              <a:pathLst>
                <a:path h="1757680" w="4228592">
                  <a:moveTo>
                    <a:pt x="0" y="105410"/>
                  </a:moveTo>
                  <a:cubicBezTo>
                    <a:pt x="0" y="47244"/>
                    <a:pt x="47244" y="0"/>
                    <a:pt x="105410" y="0"/>
                  </a:cubicBezTo>
                  <a:lnTo>
                    <a:pt x="4123182" y="0"/>
                  </a:lnTo>
                  <a:cubicBezTo>
                    <a:pt x="4181475" y="0"/>
                    <a:pt x="4228592" y="47244"/>
                    <a:pt x="4228592" y="105410"/>
                  </a:cubicBezTo>
                  <a:lnTo>
                    <a:pt x="4228592" y="1652270"/>
                  </a:lnTo>
                  <a:cubicBezTo>
                    <a:pt x="4228592" y="1710563"/>
                    <a:pt x="4181348" y="1757680"/>
                    <a:pt x="4123182" y="1757680"/>
                  </a:cubicBezTo>
                  <a:lnTo>
                    <a:pt x="105410" y="1757680"/>
                  </a:lnTo>
                  <a:cubicBezTo>
                    <a:pt x="47117" y="1757680"/>
                    <a:pt x="0" y="1710436"/>
                    <a:pt x="0" y="1652270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8373304" y="7824235"/>
            <a:ext cx="82363" cy="1304039"/>
            <a:chOff x="0" y="0"/>
            <a:chExt cx="109817" cy="173871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9855" cy="1738757"/>
            </a:xfrm>
            <a:custGeom>
              <a:avLst/>
              <a:gdLst/>
              <a:ahLst/>
              <a:cxnLst/>
              <a:rect r="r" b="b" t="t" l="l"/>
              <a:pathLst>
                <a:path h="1738757" w="109855">
                  <a:moveTo>
                    <a:pt x="0" y="0"/>
                  </a:moveTo>
                  <a:lnTo>
                    <a:pt x="109855" y="0"/>
                  </a:lnTo>
                  <a:lnTo>
                    <a:pt x="109855" y="1738757"/>
                  </a:lnTo>
                  <a:lnTo>
                    <a:pt x="0" y="1738757"/>
                  </a:lnTo>
                  <a:close/>
                </a:path>
              </a:pathLst>
            </a:custGeom>
            <a:solidFill>
              <a:srgbClr val="F0384B"/>
            </a:solidFill>
          </p:spPr>
        </p:sp>
      </p:grpSp>
      <p:sp>
        <p:nvSpPr>
          <p:cNvPr name="TextBox 37" id="37"/>
          <p:cNvSpPr txBox="true"/>
          <p:nvPr/>
        </p:nvSpPr>
        <p:spPr>
          <a:xfrm rot="0">
            <a:off x="8647833" y="7988951"/>
            <a:ext cx="2745343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1"/>
              </a:lnSpc>
            </a:pPr>
            <a:r>
              <a:rPr lang="en-US" sz="1275" b="true">
                <a:solidFill>
                  <a:srgbClr val="6B6478"/>
                </a:solidFill>
                <a:latin typeface="Inter Bold"/>
                <a:ea typeface="Inter Bold"/>
                <a:cs typeface="Inter Bold"/>
                <a:sym typeface="Inter Bold"/>
              </a:rPr>
              <a:t>BUDGET VAR.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647833" y="8345853"/>
            <a:ext cx="2745343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−4.6%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1866464" y="7817082"/>
            <a:ext cx="3171444" cy="1318336"/>
            <a:chOff x="0" y="0"/>
            <a:chExt cx="4228592" cy="1757782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228592" cy="1757680"/>
            </a:xfrm>
            <a:custGeom>
              <a:avLst/>
              <a:gdLst/>
              <a:ahLst/>
              <a:cxnLst/>
              <a:rect r="r" b="b" t="t" l="l"/>
              <a:pathLst>
                <a:path h="1757680" w="4228592">
                  <a:moveTo>
                    <a:pt x="0" y="105410"/>
                  </a:moveTo>
                  <a:cubicBezTo>
                    <a:pt x="0" y="47244"/>
                    <a:pt x="47244" y="0"/>
                    <a:pt x="105410" y="0"/>
                  </a:cubicBezTo>
                  <a:lnTo>
                    <a:pt x="4123182" y="0"/>
                  </a:lnTo>
                  <a:cubicBezTo>
                    <a:pt x="4181475" y="0"/>
                    <a:pt x="4228592" y="47244"/>
                    <a:pt x="4228592" y="105410"/>
                  </a:cubicBezTo>
                  <a:lnTo>
                    <a:pt x="4228592" y="1652270"/>
                  </a:lnTo>
                  <a:cubicBezTo>
                    <a:pt x="4228592" y="1710563"/>
                    <a:pt x="4181348" y="1757680"/>
                    <a:pt x="4123182" y="1757680"/>
                  </a:cubicBezTo>
                  <a:lnTo>
                    <a:pt x="105410" y="1757680"/>
                  </a:lnTo>
                  <a:cubicBezTo>
                    <a:pt x="47117" y="1757680"/>
                    <a:pt x="0" y="1710436"/>
                    <a:pt x="0" y="1652270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1873617" y="7824235"/>
            <a:ext cx="82363" cy="1304039"/>
            <a:chOff x="0" y="0"/>
            <a:chExt cx="109817" cy="1738719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855" cy="1738757"/>
            </a:xfrm>
            <a:custGeom>
              <a:avLst/>
              <a:gdLst/>
              <a:ahLst/>
              <a:cxnLst/>
              <a:rect r="r" b="b" t="t" l="l"/>
              <a:pathLst>
                <a:path h="1738757" w="109855">
                  <a:moveTo>
                    <a:pt x="0" y="0"/>
                  </a:moveTo>
                  <a:lnTo>
                    <a:pt x="109855" y="0"/>
                  </a:lnTo>
                  <a:lnTo>
                    <a:pt x="109855" y="1738757"/>
                  </a:lnTo>
                  <a:lnTo>
                    <a:pt x="0" y="1738757"/>
                  </a:lnTo>
                  <a:close/>
                </a:path>
              </a:pathLst>
            </a:custGeom>
            <a:solidFill>
              <a:srgbClr val="7C5CFF"/>
            </a:solidFill>
          </p:spPr>
        </p:sp>
      </p:grpSp>
      <p:sp>
        <p:nvSpPr>
          <p:cNvPr name="TextBox 43" id="43"/>
          <p:cNvSpPr txBox="true"/>
          <p:nvPr/>
        </p:nvSpPr>
        <p:spPr>
          <a:xfrm rot="0">
            <a:off x="12148147" y="7988951"/>
            <a:ext cx="2745343" cy="34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1"/>
              </a:lnSpc>
            </a:pPr>
            <a:r>
              <a:rPr lang="en-US" sz="1275" b="true">
                <a:solidFill>
                  <a:srgbClr val="6B6478"/>
                </a:solidFill>
                <a:latin typeface="Inter Bold"/>
                <a:ea typeface="Inter Bold"/>
                <a:cs typeface="Inter Bold"/>
                <a:sym typeface="Inter Bold"/>
              </a:rPr>
              <a:t>MARGIN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2148147" y="8345853"/>
            <a:ext cx="2745343" cy="617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38.7%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372676" y="9530544"/>
            <a:ext cx="15099392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FP&amp;A Analytics  ·  Power BI · DAX · Scenario modelling  ·  Data as of December 2024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219627" cy="10295039"/>
            <a:chOff x="0" y="0"/>
            <a:chExt cx="292837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2735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92735">
                  <a:moveTo>
                    <a:pt x="0" y="17526"/>
                  </a:moveTo>
                  <a:cubicBezTo>
                    <a:pt x="0" y="7874"/>
                    <a:pt x="7874" y="0"/>
                    <a:pt x="17526" y="0"/>
                  </a:cubicBezTo>
                  <a:lnTo>
                    <a:pt x="275209" y="0"/>
                  </a:lnTo>
                  <a:cubicBezTo>
                    <a:pt x="284861" y="0"/>
                    <a:pt x="292735" y="7874"/>
                    <a:pt x="292735" y="17526"/>
                  </a:cubicBezTo>
                  <a:lnTo>
                    <a:pt x="292735" y="13709142"/>
                  </a:lnTo>
                  <a:cubicBezTo>
                    <a:pt x="292735" y="13718794"/>
                    <a:pt x="284861" y="13726668"/>
                    <a:pt x="275209" y="13726668"/>
                  </a:cubicBezTo>
                  <a:lnTo>
                    <a:pt x="17526" y="13726668"/>
                  </a:lnTo>
                  <a:cubicBezTo>
                    <a:pt x="7874" y="13726668"/>
                    <a:pt x="0" y="13718794"/>
                    <a:pt x="0" y="1370914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6200000"/>
            </a:gra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8169" cy="1098169"/>
            </a:xfrm>
            <a:custGeom>
              <a:avLst/>
              <a:gdLst/>
              <a:ahLst/>
              <a:cxnLst/>
              <a:rect r="r" b="b" t="t" l="l"/>
              <a:pathLst>
                <a:path h="1098169" w="1098169">
                  <a:moveTo>
                    <a:pt x="0" y="307467"/>
                  </a:moveTo>
                  <a:cubicBezTo>
                    <a:pt x="0" y="137668"/>
                    <a:pt x="137668" y="0"/>
                    <a:pt x="307467" y="0"/>
                  </a:cubicBezTo>
                  <a:lnTo>
                    <a:pt x="790702" y="0"/>
                  </a:lnTo>
                  <a:cubicBezTo>
                    <a:pt x="960501" y="0"/>
                    <a:pt x="1098169" y="137668"/>
                    <a:pt x="1098169" y="307467"/>
                  </a:cubicBezTo>
                  <a:lnTo>
                    <a:pt x="1098169" y="790702"/>
                  </a:lnTo>
                  <a:cubicBezTo>
                    <a:pt x="1098169" y="960501"/>
                    <a:pt x="960501" y="1098169"/>
                    <a:pt x="790702" y="1098169"/>
                  </a:cubicBezTo>
                  <a:lnTo>
                    <a:pt x="307467" y="1098169"/>
                  </a:lnTo>
                  <a:cubicBezTo>
                    <a:pt x="137668" y="1098169"/>
                    <a:pt x="0" y="960501"/>
                    <a:pt x="0" y="79070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8900000"/>
            </a:gra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8138" cy="1098138"/>
            </a:xfrm>
            <a:custGeom>
              <a:avLst/>
              <a:gdLst/>
              <a:ahLst/>
              <a:cxnLst/>
              <a:rect r="r" b="b" t="t" l="l"/>
              <a:pathLst>
                <a:path h="1098138" w="1098138">
                  <a:moveTo>
                    <a:pt x="0" y="0"/>
                  </a:moveTo>
                  <a:lnTo>
                    <a:pt x="1098138" y="0"/>
                  </a:lnTo>
                  <a:lnTo>
                    <a:pt x="1098138" y="1098138"/>
                  </a:lnTo>
                  <a:lnTo>
                    <a:pt x="0" y="1098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098144" cy="1107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€F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811931" y="676808"/>
            <a:ext cx="12354049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CONTEXT &amp; APPROACH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11931" y="1070686"/>
            <a:ext cx="14413059" cy="82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3"/>
              </a:lnSpc>
            </a:pPr>
            <a:r>
              <a:rPr lang="en-US" sz="375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Two years of data, one star schema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472068" y="745446"/>
            <a:ext cx="1235402" cy="558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1"/>
              </a:lnSpc>
            </a:pPr>
            <a:r>
              <a:rPr lang="en-US" sz="1951" b="true">
                <a:solidFill>
                  <a:srgbClr val="C9C4CF"/>
                </a:solidFill>
                <a:latin typeface="Inter Bold"/>
                <a:ea typeface="Inter Bold"/>
                <a:cs typeface="Inter Bold"/>
                <a:sym typeface="Inter Bold"/>
              </a:rPr>
              <a:t>02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811931" y="1949196"/>
            <a:ext cx="14962127" cy="24708"/>
            <a:chOff x="0" y="0"/>
            <a:chExt cx="19949503" cy="3294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49540" cy="32893"/>
            </a:xfrm>
            <a:custGeom>
              <a:avLst/>
              <a:gdLst/>
              <a:ahLst/>
              <a:cxnLst/>
              <a:rect r="r" b="b" t="t" l="l"/>
              <a:pathLst>
                <a:path h="32893" w="19949540">
                  <a:moveTo>
                    <a:pt x="0" y="0"/>
                  </a:moveTo>
                  <a:lnTo>
                    <a:pt x="19949540" y="0"/>
                  </a:lnTo>
                  <a:lnTo>
                    <a:pt x="1994954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ECE9E4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811931" y="2214201"/>
            <a:ext cx="7412431" cy="558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THE BUSINESS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804778" y="2738199"/>
            <a:ext cx="7152199" cy="920258"/>
            <a:chOff x="0" y="0"/>
            <a:chExt cx="9536265" cy="122701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536303" cy="1227074"/>
            </a:xfrm>
            <a:custGeom>
              <a:avLst/>
              <a:gdLst/>
              <a:ahLst/>
              <a:cxnLst/>
              <a:rect r="r" b="b" t="t" l="l"/>
              <a:pathLst>
                <a:path h="1227074" w="9536303">
                  <a:moveTo>
                    <a:pt x="0" y="73660"/>
                  </a:moveTo>
                  <a:cubicBezTo>
                    <a:pt x="0" y="33020"/>
                    <a:pt x="33020" y="0"/>
                    <a:pt x="73660" y="0"/>
                  </a:cubicBezTo>
                  <a:lnTo>
                    <a:pt x="9462643" y="0"/>
                  </a:lnTo>
                  <a:cubicBezTo>
                    <a:pt x="9503283" y="0"/>
                    <a:pt x="9536303" y="33020"/>
                    <a:pt x="9536303" y="73660"/>
                  </a:cubicBezTo>
                  <a:lnTo>
                    <a:pt x="9536303" y="1153414"/>
                  </a:lnTo>
                  <a:cubicBezTo>
                    <a:pt x="9536303" y="1194054"/>
                    <a:pt x="9503283" y="1227074"/>
                    <a:pt x="9462643" y="1227074"/>
                  </a:cubicBezTo>
                  <a:lnTo>
                    <a:pt x="73660" y="1227074"/>
                  </a:lnTo>
                  <a:cubicBezTo>
                    <a:pt x="33020" y="1227074"/>
                    <a:pt x="0" y="1194054"/>
                    <a:pt x="0" y="1153414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2113912" y="2841431"/>
            <a:ext cx="3294412" cy="686333"/>
            <a:chOff x="0" y="0"/>
            <a:chExt cx="4392549" cy="91511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392552" cy="915115"/>
            </a:xfrm>
            <a:custGeom>
              <a:avLst/>
              <a:gdLst/>
              <a:ahLst/>
              <a:cxnLst/>
              <a:rect r="r" b="b" t="t" l="l"/>
              <a:pathLst>
                <a:path h="915115" w="4392552">
                  <a:moveTo>
                    <a:pt x="0" y="0"/>
                  </a:moveTo>
                  <a:lnTo>
                    <a:pt x="4392552" y="0"/>
                  </a:lnTo>
                  <a:lnTo>
                    <a:pt x="4392552" y="915115"/>
                  </a:lnTo>
                  <a:lnTo>
                    <a:pt x="0" y="91511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3528" r="0" b="-43527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4392549" cy="9246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2"/>
                </a:lnSpc>
              </a:pPr>
              <a:r>
                <a:rPr lang="en-US" sz="2251" b="true">
                  <a:solidFill>
                    <a:srgbClr val="1A1625"/>
                  </a:solidFill>
                  <a:latin typeface="Inter Bold"/>
                  <a:ea typeface="Inter Bold"/>
                  <a:cs typeface="Inter Bold"/>
                  <a:sym typeface="Inter Bold"/>
                </a:rPr>
                <a:t>3 countries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5078892" y="2841431"/>
            <a:ext cx="3706216" cy="686333"/>
            <a:chOff x="0" y="0"/>
            <a:chExt cx="4941621" cy="91511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941620" cy="915115"/>
            </a:xfrm>
            <a:custGeom>
              <a:avLst/>
              <a:gdLst/>
              <a:ahLst/>
              <a:cxnLst/>
              <a:rect r="r" b="b" t="t" l="l"/>
              <a:pathLst>
                <a:path h="915115" w="4941620">
                  <a:moveTo>
                    <a:pt x="0" y="0"/>
                  </a:moveTo>
                  <a:lnTo>
                    <a:pt x="4941620" y="0"/>
                  </a:lnTo>
                  <a:lnTo>
                    <a:pt x="4941620" y="915115"/>
                  </a:lnTo>
                  <a:lnTo>
                    <a:pt x="0" y="91511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219" r="0" b="-55218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4941621" cy="9246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1"/>
                </a:lnSpc>
              </a:pPr>
              <a:r>
                <a:rPr lang="en-US" sz="1651">
                  <a:solidFill>
                    <a:srgbClr val="6B6478"/>
                  </a:solidFill>
                  <a:latin typeface="Inter"/>
                  <a:ea typeface="Inter"/>
                  <a:cs typeface="Inter"/>
                  <a:sym typeface="Inter"/>
                </a:rPr>
                <a:t>France · Germany · UK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804778" y="3808876"/>
            <a:ext cx="7152199" cy="920258"/>
            <a:chOff x="0" y="0"/>
            <a:chExt cx="9536265" cy="122701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536303" cy="1227074"/>
            </a:xfrm>
            <a:custGeom>
              <a:avLst/>
              <a:gdLst/>
              <a:ahLst/>
              <a:cxnLst/>
              <a:rect r="r" b="b" t="t" l="l"/>
              <a:pathLst>
                <a:path h="1227074" w="9536303">
                  <a:moveTo>
                    <a:pt x="0" y="73660"/>
                  </a:moveTo>
                  <a:cubicBezTo>
                    <a:pt x="0" y="33020"/>
                    <a:pt x="33020" y="0"/>
                    <a:pt x="73660" y="0"/>
                  </a:cubicBezTo>
                  <a:lnTo>
                    <a:pt x="9462643" y="0"/>
                  </a:lnTo>
                  <a:cubicBezTo>
                    <a:pt x="9503283" y="0"/>
                    <a:pt x="9536303" y="33020"/>
                    <a:pt x="9536303" y="73660"/>
                  </a:cubicBezTo>
                  <a:lnTo>
                    <a:pt x="9536303" y="1153414"/>
                  </a:lnTo>
                  <a:cubicBezTo>
                    <a:pt x="9536303" y="1194054"/>
                    <a:pt x="9503283" y="1227074"/>
                    <a:pt x="9462643" y="1227074"/>
                  </a:cubicBezTo>
                  <a:lnTo>
                    <a:pt x="73660" y="1227074"/>
                  </a:lnTo>
                  <a:cubicBezTo>
                    <a:pt x="33020" y="1227074"/>
                    <a:pt x="0" y="1194054"/>
                    <a:pt x="0" y="1153414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2113912" y="3912118"/>
            <a:ext cx="3294412" cy="686333"/>
            <a:chOff x="0" y="0"/>
            <a:chExt cx="4392549" cy="91511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392552" cy="915115"/>
            </a:xfrm>
            <a:custGeom>
              <a:avLst/>
              <a:gdLst/>
              <a:ahLst/>
              <a:cxnLst/>
              <a:rect r="r" b="b" t="t" l="l"/>
              <a:pathLst>
                <a:path h="915115" w="4392552">
                  <a:moveTo>
                    <a:pt x="0" y="0"/>
                  </a:moveTo>
                  <a:lnTo>
                    <a:pt x="4392552" y="0"/>
                  </a:lnTo>
                  <a:lnTo>
                    <a:pt x="4392552" y="915115"/>
                  </a:lnTo>
                  <a:lnTo>
                    <a:pt x="0" y="91511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3528" r="0" b="-4352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4392549" cy="9246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2"/>
                </a:lnSpc>
              </a:pPr>
              <a:r>
                <a:rPr lang="en-US" sz="2251" b="true">
                  <a:solidFill>
                    <a:srgbClr val="1A1625"/>
                  </a:solidFill>
                  <a:latin typeface="Inter Bold"/>
                  <a:ea typeface="Inter Bold"/>
                  <a:cs typeface="Inter Bold"/>
                  <a:sym typeface="Inter Bold"/>
                </a:rPr>
                <a:t>20 SKUs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5078892" y="3912118"/>
            <a:ext cx="3706216" cy="686333"/>
            <a:chOff x="0" y="0"/>
            <a:chExt cx="4941621" cy="91511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941620" cy="915115"/>
            </a:xfrm>
            <a:custGeom>
              <a:avLst/>
              <a:gdLst/>
              <a:ahLst/>
              <a:cxnLst/>
              <a:rect r="r" b="b" t="t" l="l"/>
              <a:pathLst>
                <a:path h="915115" w="4941620">
                  <a:moveTo>
                    <a:pt x="0" y="0"/>
                  </a:moveTo>
                  <a:lnTo>
                    <a:pt x="4941620" y="0"/>
                  </a:lnTo>
                  <a:lnTo>
                    <a:pt x="4941620" y="915115"/>
                  </a:lnTo>
                  <a:lnTo>
                    <a:pt x="0" y="91511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219" r="0" b="-55218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4941621" cy="9246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1"/>
                </a:lnSpc>
              </a:pPr>
              <a:r>
                <a:rPr lang="en-US" sz="1651">
                  <a:solidFill>
                    <a:srgbClr val="6B6478"/>
                  </a:solidFill>
                  <a:latin typeface="Inter"/>
                  <a:ea typeface="Inter"/>
                  <a:cs typeface="Inter"/>
                  <a:sym typeface="Inter"/>
                </a:rPr>
                <a:t>across 4 categories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804778" y="4879562"/>
            <a:ext cx="7152199" cy="920258"/>
            <a:chOff x="0" y="0"/>
            <a:chExt cx="9536265" cy="122701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536303" cy="1227074"/>
            </a:xfrm>
            <a:custGeom>
              <a:avLst/>
              <a:gdLst/>
              <a:ahLst/>
              <a:cxnLst/>
              <a:rect r="r" b="b" t="t" l="l"/>
              <a:pathLst>
                <a:path h="1227074" w="9536303">
                  <a:moveTo>
                    <a:pt x="0" y="73660"/>
                  </a:moveTo>
                  <a:cubicBezTo>
                    <a:pt x="0" y="33020"/>
                    <a:pt x="33020" y="0"/>
                    <a:pt x="73660" y="0"/>
                  </a:cubicBezTo>
                  <a:lnTo>
                    <a:pt x="9462643" y="0"/>
                  </a:lnTo>
                  <a:cubicBezTo>
                    <a:pt x="9503283" y="0"/>
                    <a:pt x="9536303" y="33020"/>
                    <a:pt x="9536303" y="73660"/>
                  </a:cubicBezTo>
                  <a:lnTo>
                    <a:pt x="9536303" y="1153414"/>
                  </a:lnTo>
                  <a:cubicBezTo>
                    <a:pt x="9536303" y="1194054"/>
                    <a:pt x="9503283" y="1227074"/>
                    <a:pt x="9462643" y="1227074"/>
                  </a:cubicBezTo>
                  <a:lnTo>
                    <a:pt x="73660" y="1227074"/>
                  </a:lnTo>
                  <a:cubicBezTo>
                    <a:pt x="33020" y="1227074"/>
                    <a:pt x="0" y="1194054"/>
                    <a:pt x="0" y="1153414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2113912" y="4982804"/>
            <a:ext cx="3294412" cy="686333"/>
            <a:chOff x="0" y="0"/>
            <a:chExt cx="4392549" cy="91511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392552" cy="915115"/>
            </a:xfrm>
            <a:custGeom>
              <a:avLst/>
              <a:gdLst/>
              <a:ahLst/>
              <a:cxnLst/>
              <a:rect r="r" b="b" t="t" l="l"/>
              <a:pathLst>
                <a:path h="915115" w="4392552">
                  <a:moveTo>
                    <a:pt x="0" y="0"/>
                  </a:moveTo>
                  <a:lnTo>
                    <a:pt x="4392552" y="0"/>
                  </a:lnTo>
                  <a:lnTo>
                    <a:pt x="4392552" y="915115"/>
                  </a:lnTo>
                  <a:lnTo>
                    <a:pt x="0" y="91511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3528" r="0" b="-43527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4392549" cy="9246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2"/>
                </a:lnSpc>
              </a:pPr>
              <a:r>
                <a:rPr lang="en-US" sz="2251" b="true">
                  <a:solidFill>
                    <a:srgbClr val="1A1625"/>
                  </a:solidFill>
                  <a:latin typeface="Inter Bold"/>
                  <a:ea typeface="Inter Bold"/>
                  <a:cs typeface="Inter Bold"/>
                  <a:sym typeface="Inter Bold"/>
                </a:rPr>
                <a:t>4 channels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5078892" y="4982804"/>
            <a:ext cx="3706216" cy="686333"/>
            <a:chOff x="0" y="0"/>
            <a:chExt cx="4941621" cy="915111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941620" cy="915115"/>
            </a:xfrm>
            <a:custGeom>
              <a:avLst/>
              <a:gdLst/>
              <a:ahLst/>
              <a:cxnLst/>
              <a:rect r="r" b="b" t="t" l="l"/>
              <a:pathLst>
                <a:path h="915115" w="4941620">
                  <a:moveTo>
                    <a:pt x="0" y="0"/>
                  </a:moveTo>
                  <a:lnTo>
                    <a:pt x="4941620" y="0"/>
                  </a:lnTo>
                  <a:lnTo>
                    <a:pt x="4941620" y="915115"/>
                  </a:lnTo>
                  <a:lnTo>
                    <a:pt x="0" y="91511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219" r="0" b="-55218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4941621" cy="9246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1"/>
                </a:lnSpc>
              </a:pPr>
              <a:r>
                <a:rPr lang="en-US" sz="1651">
                  <a:solidFill>
                    <a:srgbClr val="6B6478"/>
                  </a:solidFill>
                  <a:latin typeface="Inter"/>
                  <a:ea typeface="Inter"/>
                  <a:cs typeface="Inter"/>
                  <a:sym typeface="Inter"/>
                </a:rPr>
                <a:t>Hyper · Super · Conv · Online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804778" y="5950248"/>
            <a:ext cx="7152199" cy="920258"/>
            <a:chOff x="0" y="0"/>
            <a:chExt cx="9536265" cy="122701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9536303" cy="1227074"/>
            </a:xfrm>
            <a:custGeom>
              <a:avLst/>
              <a:gdLst/>
              <a:ahLst/>
              <a:cxnLst/>
              <a:rect r="r" b="b" t="t" l="l"/>
              <a:pathLst>
                <a:path h="1227074" w="9536303">
                  <a:moveTo>
                    <a:pt x="0" y="73660"/>
                  </a:moveTo>
                  <a:cubicBezTo>
                    <a:pt x="0" y="33020"/>
                    <a:pt x="33020" y="0"/>
                    <a:pt x="73660" y="0"/>
                  </a:cubicBezTo>
                  <a:lnTo>
                    <a:pt x="9462643" y="0"/>
                  </a:lnTo>
                  <a:cubicBezTo>
                    <a:pt x="9503283" y="0"/>
                    <a:pt x="9536303" y="33020"/>
                    <a:pt x="9536303" y="73660"/>
                  </a:cubicBezTo>
                  <a:lnTo>
                    <a:pt x="9536303" y="1153414"/>
                  </a:lnTo>
                  <a:cubicBezTo>
                    <a:pt x="9536303" y="1194054"/>
                    <a:pt x="9503283" y="1227074"/>
                    <a:pt x="9462643" y="1227074"/>
                  </a:cubicBezTo>
                  <a:lnTo>
                    <a:pt x="73660" y="1227074"/>
                  </a:lnTo>
                  <a:cubicBezTo>
                    <a:pt x="33020" y="1227074"/>
                    <a:pt x="0" y="1194054"/>
                    <a:pt x="0" y="1153414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2113912" y="6053490"/>
            <a:ext cx="3294412" cy="686333"/>
            <a:chOff x="0" y="0"/>
            <a:chExt cx="4392549" cy="915111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4392552" cy="915115"/>
            </a:xfrm>
            <a:custGeom>
              <a:avLst/>
              <a:gdLst/>
              <a:ahLst/>
              <a:cxnLst/>
              <a:rect r="r" b="b" t="t" l="l"/>
              <a:pathLst>
                <a:path h="915115" w="4392552">
                  <a:moveTo>
                    <a:pt x="0" y="0"/>
                  </a:moveTo>
                  <a:lnTo>
                    <a:pt x="4392552" y="0"/>
                  </a:lnTo>
                  <a:lnTo>
                    <a:pt x="4392552" y="915115"/>
                  </a:lnTo>
                  <a:lnTo>
                    <a:pt x="0" y="91511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3528" r="0" b="-43527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9525"/>
              <a:ext cx="4392549" cy="9246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2"/>
                </a:lnSpc>
              </a:pPr>
              <a:r>
                <a:rPr lang="en-US" sz="2251" b="true">
                  <a:solidFill>
                    <a:srgbClr val="1A1625"/>
                  </a:solidFill>
                  <a:latin typeface="Inter Bold"/>
                  <a:ea typeface="Inter Bold"/>
                  <a:cs typeface="Inter Bold"/>
                  <a:sym typeface="Inter Bold"/>
                </a:rPr>
                <a:t>36 customers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5078892" y="6053490"/>
            <a:ext cx="3706216" cy="686333"/>
            <a:chOff x="0" y="0"/>
            <a:chExt cx="4941621" cy="91511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4941620" cy="915115"/>
            </a:xfrm>
            <a:custGeom>
              <a:avLst/>
              <a:gdLst/>
              <a:ahLst/>
              <a:cxnLst/>
              <a:rect r="r" b="b" t="t" l="l"/>
              <a:pathLst>
                <a:path h="915115" w="4941620">
                  <a:moveTo>
                    <a:pt x="0" y="0"/>
                  </a:moveTo>
                  <a:lnTo>
                    <a:pt x="4941620" y="0"/>
                  </a:lnTo>
                  <a:lnTo>
                    <a:pt x="4941620" y="915115"/>
                  </a:lnTo>
                  <a:lnTo>
                    <a:pt x="0" y="91511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219" r="0" b="-55218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9525"/>
              <a:ext cx="4941621" cy="9246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1"/>
                </a:lnSpc>
              </a:pPr>
              <a:r>
                <a:rPr lang="en-US" sz="1651">
                  <a:solidFill>
                    <a:srgbClr val="6B6478"/>
                  </a:solidFill>
                  <a:latin typeface="Inter"/>
                  <a:ea typeface="Inter"/>
                  <a:cs typeface="Inter"/>
                  <a:sym typeface="Inter"/>
                </a:rPr>
                <a:t>named retail accounts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804778" y="7020935"/>
            <a:ext cx="7152199" cy="920258"/>
            <a:chOff x="0" y="0"/>
            <a:chExt cx="9536265" cy="122701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9536303" cy="1227074"/>
            </a:xfrm>
            <a:custGeom>
              <a:avLst/>
              <a:gdLst/>
              <a:ahLst/>
              <a:cxnLst/>
              <a:rect r="r" b="b" t="t" l="l"/>
              <a:pathLst>
                <a:path h="1227074" w="9536303">
                  <a:moveTo>
                    <a:pt x="0" y="73660"/>
                  </a:moveTo>
                  <a:cubicBezTo>
                    <a:pt x="0" y="33020"/>
                    <a:pt x="33020" y="0"/>
                    <a:pt x="73660" y="0"/>
                  </a:cubicBezTo>
                  <a:lnTo>
                    <a:pt x="9462643" y="0"/>
                  </a:lnTo>
                  <a:cubicBezTo>
                    <a:pt x="9503283" y="0"/>
                    <a:pt x="9536303" y="33020"/>
                    <a:pt x="9536303" y="73660"/>
                  </a:cubicBezTo>
                  <a:lnTo>
                    <a:pt x="9536303" y="1153414"/>
                  </a:lnTo>
                  <a:cubicBezTo>
                    <a:pt x="9536303" y="1194054"/>
                    <a:pt x="9503283" y="1227074"/>
                    <a:pt x="9462643" y="1227074"/>
                  </a:cubicBezTo>
                  <a:lnTo>
                    <a:pt x="73660" y="1227074"/>
                  </a:lnTo>
                  <a:cubicBezTo>
                    <a:pt x="33020" y="1227074"/>
                    <a:pt x="0" y="1194054"/>
                    <a:pt x="0" y="1153414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51" id="51"/>
          <p:cNvGrpSpPr/>
          <p:nvPr/>
        </p:nvGrpSpPr>
        <p:grpSpPr>
          <a:xfrm rot="0">
            <a:off x="2113912" y="7124167"/>
            <a:ext cx="3294412" cy="686333"/>
            <a:chOff x="0" y="0"/>
            <a:chExt cx="4392549" cy="915111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392552" cy="915115"/>
            </a:xfrm>
            <a:custGeom>
              <a:avLst/>
              <a:gdLst/>
              <a:ahLst/>
              <a:cxnLst/>
              <a:rect r="r" b="b" t="t" l="l"/>
              <a:pathLst>
                <a:path h="915115" w="4392552">
                  <a:moveTo>
                    <a:pt x="0" y="0"/>
                  </a:moveTo>
                  <a:lnTo>
                    <a:pt x="4392552" y="0"/>
                  </a:lnTo>
                  <a:lnTo>
                    <a:pt x="4392552" y="915115"/>
                  </a:lnTo>
                  <a:lnTo>
                    <a:pt x="0" y="91511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3528" r="0" b="-43527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9525"/>
              <a:ext cx="4392549" cy="9246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2"/>
                </a:lnSpc>
              </a:pPr>
              <a:r>
                <a:rPr lang="en-US" sz="2251" b="true">
                  <a:solidFill>
                    <a:srgbClr val="1A1625"/>
                  </a:solidFill>
                  <a:latin typeface="Inter Bold"/>
                  <a:ea typeface="Inter Bold"/>
                  <a:cs typeface="Inter Bold"/>
                  <a:sym typeface="Inter Bold"/>
                </a:rPr>
                <a:t>25,200 rows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5078892" y="7124167"/>
            <a:ext cx="3706216" cy="686333"/>
            <a:chOff x="0" y="0"/>
            <a:chExt cx="4941621" cy="915111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4941620" cy="915115"/>
            </a:xfrm>
            <a:custGeom>
              <a:avLst/>
              <a:gdLst/>
              <a:ahLst/>
              <a:cxnLst/>
              <a:rect r="r" b="b" t="t" l="l"/>
              <a:pathLst>
                <a:path h="915115" w="4941620">
                  <a:moveTo>
                    <a:pt x="0" y="0"/>
                  </a:moveTo>
                  <a:lnTo>
                    <a:pt x="4941620" y="0"/>
                  </a:lnTo>
                  <a:lnTo>
                    <a:pt x="4941620" y="915115"/>
                  </a:lnTo>
                  <a:lnTo>
                    <a:pt x="0" y="91511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5219" r="0" b="-55218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9525"/>
              <a:ext cx="4941621" cy="9246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1"/>
                </a:lnSpc>
              </a:pPr>
              <a:r>
                <a:rPr lang="en-US" sz="1651">
                  <a:solidFill>
                    <a:srgbClr val="6B6478"/>
                  </a:solidFill>
                  <a:latin typeface="Inter"/>
                  <a:ea typeface="Inter"/>
                  <a:cs typeface="Inter"/>
                  <a:sym typeface="Inter"/>
                </a:rPr>
                <a:t>weekly, Jan 2023 – Dec 2024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9608706" y="2214201"/>
            <a:ext cx="7412431" cy="558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THE DATA MODEL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9601562" y="2738199"/>
            <a:ext cx="7289463" cy="4200954"/>
            <a:chOff x="0" y="0"/>
            <a:chExt cx="9719285" cy="5601272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9719311" cy="5601208"/>
            </a:xfrm>
            <a:custGeom>
              <a:avLst/>
              <a:gdLst/>
              <a:ahLst/>
              <a:cxnLst/>
              <a:rect r="r" b="b" t="t" l="l"/>
              <a:pathLst>
                <a:path h="5601208" w="9719311">
                  <a:moveTo>
                    <a:pt x="0" y="336042"/>
                  </a:moveTo>
                  <a:cubicBezTo>
                    <a:pt x="0" y="150495"/>
                    <a:pt x="150495" y="0"/>
                    <a:pt x="336042" y="0"/>
                  </a:cubicBezTo>
                  <a:lnTo>
                    <a:pt x="9383268" y="0"/>
                  </a:lnTo>
                  <a:cubicBezTo>
                    <a:pt x="9568815" y="0"/>
                    <a:pt x="9719311" y="150495"/>
                    <a:pt x="9719311" y="336042"/>
                  </a:cubicBezTo>
                  <a:lnTo>
                    <a:pt x="9719311" y="5265166"/>
                  </a:lnTo>
                  <a:cubicBezTo>
                    <a:pt x="9719311" y="5450713"/>
                    <a:pt x="9568815" y="5601208"/>
                    <a:pt x="9383268" y="5601208"/>
                  </a:cubicBezTo>
                  <a:lnTo>
                    <a:pt x="336042" y="5601208"/>
                  </a:lnTo>
                  <a:cubicBezTo>
                    <a:pt x="150495" y="5601208"/>
                    <a:pt x="0" y="5450840"/>
                    <a:pt x="0" y="5265166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2079519" y="4186647"/>
            <a:ext cx="2333539" cy="1235402"/>
            <a:chOff x="0" y="0"/>
            <a:chExt cx="3111386" cy="1647203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111373" cy="1647190"/>
            </a:xfrm>
            <a:custGeom>
              <a:avLst/>
              <a:gdLst/>
              <a:ahLst/>
              <a:cxnLst/>
              <a:rect r="r" b="b" t="t" l="l"/>
              <a:pathLst>
                <a:path h="1647190" w="3111373">
                  <a:moveTo>
                    <a:pt x="0" y="98806"/>
                  </a:moveTo>
                  <a:cubicBezTo>
                    <a:pt x="0" y="44196"/>
                    <a:pt x="44196" y="0"/>
                    <a:pt x="98806" y="0"/>
                  </a:cubicBezTo>
                  <a:lnTo>
                    <a:pt x="3012567" y="0"/>
                  </a:lnTo>
                  <a:cubicBezTo>
                    <a:pt x="3067177" y="0"/>
                    <a:pt x="3111373" y="44196"/>
                    <a:pt x="3111373" y="98806"/>
                  </a:cubicBezTo>
                  <a:lnTo>
                    <a:pt x="3111373" y="1548384"/>
                  </a:lnTo>
                  <a:cubicBezTo>
                    <a:pt x="3111373" y="1602994"/>
                    <a:pt x="3067177" y="1647190"/>
                    <a:pt x="3012567" y="1647190"/>
                  </a:cubicBezTo>
                  <a:lnTo>
                    <a:pt x="98806" y="1647190"/>
                  </a:lnTo>
                  <a:cubicBezTo>
                    <a:pt x="44196" y="1647190"/>
                    <a:pt x="0" y="1602994"/>
                    <a:pt x="0" y="1548384"/>
                  </a:cubicBezTo>
                  <a:close/>
                </a:path>
              </a:pathLst>
            </a:custGeom>
            <a:solidFill>
              <a:srgbClr val="06B6D4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12079519" y="4186647"/>
            <a:ext cx="2333539" cy="1235402"/>
            <a:chOff x="0" y="0"/>
            <a:chExt cx="3111386" cy="1647203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111391" cy="1647207"/>
            </a:xfrm>
            <a:custGeom>
              <a:avLst/>
              <a:gdLst/>
              <a:ahLst/>
              <a:cxnLst/>
              <a:rect r="r" b="b" t="t" l="l"/>
              <a:pathLst>
                <a:path h="1647207" w="3111391">
                  <a:moveTo>
                    <a:pt x="0" y="0"/>
                  </a:moveTo>
                  <a:lnTo>
                    <a:pt x="3111391" y="0"/>
                  </a:lnTo>
                  <a:lnTo>
                    <a:pt x="3111391" y="1647207"/>
                  </a:lnTo>
                  <a:lnTo>
                    <a:pt x="0" y="164720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7925" t="0" r="-17925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9525"/>
              <a:ext cx="3111386" cy="165672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Transactions</a:t>
              </a:r>
            </a:p>
            <a:p>
              <a:pPr algn="ctr">
                <a:lnSpc>
                  <a:spcPts val="1531"/>
                </a:lnSpc>
              </a:pPr>
              <a:r>
                <a:rPr lang="en-US" sz="1275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25,200 · fact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0074840" y="2772223"/>
            <a:ext cx="2087604" cy="907104"/>
            <a:chOff x="0" y="0"/>
            <a:chExt cx="2783472" cy="120947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783459" cy="1209421"/>
            </a:xfrm>
            <a:custGeom>
              <a:avLst/>
              <a:gdLst/>
              <a:ahLst/>
              <a:cxnLst/>
              <a:rect r="r" b="b" t="t" l="l"/>
              <a:pathLst>
                <a:path h="1209421" w="2783459">
                  <a:moveTo>
                    <a:pt x="0" y="72517"/>
                  </a:moveTo>
                  <a:cubicBezTo>
                    <a:pt x="0" y="32512"/>
                    <a:pt x="32512" y="0"/>
                    <a:pt x="72517" y="0"/>
                  </a:cubicBezTo>
                  <a:lnTo>
                    <a:pt x="2710942" y="0"/>
                  </a:lnTo>
                  <a:cubicBezTo>
                    <a:pt x="2751074" y="0"/>
                    <a:pt x="2783459" y="32512"/>
                    <a:pt x="2783459" y="72517"/>
                  </a:cubicBezTo>
                  <a:lnTo>
                    <a:pt x="2783459" y="1136904"/>
                  </a:lnTo>
                  <a:cubicBezTo>
                    <a:pt x="2783459" y="1177036"/>
                    <a:pt x="2750947" y="1209421"/>
                    <a:pt x="2710942" y="1209421"/>
                  </a:cubicBezTo>
                  <a:lnTo>
                    <a:pt x="72517" y="1209421"/>
                  </a:lnTo>
                  <a:cubicBezTo>
                    <a:pt x="32512" y="1209421"/>
                    <a:pt x="0" y="1177036"/>
                    <a:pt x="0" y="1136904"/>
                  </a:cubicBezTo>
                  <a:close/>
                </a:path>
              </a:pathLst>
            </a:custGeom>
            <a:solidFill>
              <a:srgbClr val="FFFFFF"/>
            </a:solidFill>
            <a:ln w="28597" cap="sq">
              <a:solidFill>
                <a:srgbClr val="7C5CFF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0089147" y="2786529"/>
            <a:ext cx="2059010" cy="878510"/>
            <a:chOff x="0" y="0"/>
            <a:chExt cx="2745346" cy="117134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745345" cy="1171347"/>
            </a:xfrm>
            <a:custGeom>
              <a:avLst/>
              <a:gdLst/>
              <a:ahLst/>
              <a:cxnLst/>
              <a:rect r="r" b="b" t="t" l="l"/>
              <a:pathLst>
                <a:path h="1171347" w="2745345">
                  <a:moveTo>
                    <a:pt x="0" y="0"/>
                  </a:moveTo>
                  <a:lnTo>
                    <a:pt x="2745345" y="0"/>
                  </a:lnTo>
                  <a:lnTo>
                    <a:pt x="2745345" y="1171347"/>
                  </a:lnTo>
                  <a:lnTo>
                    <a:pt x="0" y="117134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742" t="0" r="-4742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9525"/>
              <a:ext cx="2745346" cy="11808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11"/>
                </a:lnSpc>
              </a:pPr>
              <a:r>
                <a:rPr lang="en-US" sz="1426" b="true">
                  <a:solidFill>
                    <a:srgbClr val="1A1625"/>
                  </a:solidFill>
                  <a:latin typeface="Inter Bold"/>
                  <a:ea typeface="Inter Bold"/>
                  <a:cs typeface="Inter Bold"/>
                  <a:sym typeface="Inter Bold"/>
                </a:rPr>
                <a:t>Dim_Date</a:t>
              </a:r>
            </a:p>
          </p:txBody>
        </p:sp>
      </p:grpSp>
      <p:sp>
        <p:nvSpPr>
          <p:cNvPr name="AutoShape 70" id="70"/>
          <p:cNvSpPr/>
          <p:nvPr/>
        </p:nvSpPr>
        <p:spPr>
          <a:xfrm rot="2149260">
            <a:off x="10779157" y="4010301"/>
            <a:ext cx="2737990" cy="0"/>
          </a:xfrm>
          <a:prstGeom prst="line">
            <a:avLst/>
          </a:prstGeom>
          <a:ln cap="rnd" w="9525">
            <a:solidFill>
              <a:srgbClr val="ECE9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1" id="71"/>
          <p:cNvGrpSpPr/>
          <p:nvPr/>
        </p:nvGrpSpPr>
        <p:grpSpPr>
          <a:xfrm rot="0">
            <a:off x="14192860" y="2772223"/>
            <a:ext cx="2087604" cy="907104"/>
            <a:chOff x="0" y="0"/>
            <a:chExt cx="2783472" cy="1209472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783459" cy="1209421"/>
            </a:xfrm>
            <a:custGeom>
              <a:avLst/>
              <a:gdLst/>
              <a:ahLst/>
              <a:cxnLst/>
              <a:rect r="r" b="b" t="t" l="l"/>
              <a:pathLst>
                <a:path h="1209421" w="2783459">
                  <a:moveTo>
                    <a:pt x="0" y="72517"/>
                  </a:moveTo>
                  <a:cubicBezTo>
                    <a:pt x="0" y="32512"/>
                    <a:pt x="32512" y="0"/>
                    <a:pt x="72517" y="0"/>
                  </a:cubicBezTo>
                  <a:lnTo>
                    <a:pt x="2710942" y="0"/>
                  </a:lnTo>
                  <a:cubicBezTo>
                    <a:pt x="2751074" y="0"/>
                    <a:pt x="2783459" y="32512"/>
                    <a:pt x="2783459" y="72517"/>
                  </a:cubicBezTo>
                  <a:lnTo>
                    <a:pt x="2783459" y="1136904"/>
                  </a:lnTo>
                  <a:cubicBezTo>
                    <a:pt x="2783459" y="1177036"/>
                    <a:pt x="2750947" y="1209421"/>
                    <a:pt x="2710942" y="1209421"/>
                  </a:cubicBezTo>
                  <a:lnTo>
                    <a:pt x="72517" y="1209421"/>
                  </a:lnTo>
                  <a:cubicBezTo>
                    <a:pt x="32512" y="1209421"/>
                    <a:pt x="0" y="1177036"/>
                    <a:pt x="0" y="1136904"/>
                  </a:cubicBezTo>
                  <a:close/>
                </a:path>
              </a:pathLst>
            </a:custGeom>
            <a:solidFill>
              <a:srgbClr val="FFFFFF"/>
            </a:solidFill>
            <a:ln w="28597" cap="sq">
              <a:solidFill>
                <a:srgbClr val="FF4D8D"/>
              </a:solidFill>
              <a:prstDash val="solid"/>
              <a:miter/>
            </a:ln>
          </p:spPr>
        </p:sp>
      </p:grpSp>
      <p:grpSp>
        <p:nvGrpSpPr>
          <p:cNvPr name="Group 73" id="73"/>
          <p:cNvGrpSpPr/>
          <p:nvPr/>
        </p:nvGrpSpPr>
        <p:grpSpPr>
          <a:xfrm rot="0">
            <a:off x="14207157" y="2786529"/>
            <a:ext cx="2059010" cy="878510"/>
            <a:chOff x="0" y="0"/>
            <a:chExt cx="2745346" cy="1171346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745345" cy="1171347"/>
            </a:xfrm>
            <a:custGeom>
              <a:avLst/>
              <a:gdLst/>
              <a:ahLst/>
              <a:cxnLst/>
              <a:rect r="r" b="b" t="t" l="l"/>
              <a:pathLst>
                <a:path h="1171347" w="2745345">
                  <a:moveTo>
                    <a:pt x="0" y="0"/>
                  </a:moveTo>
                  <a:lnTo>
                    <a:pt x="2745345" y="0"/>
                  </a:lnTo>
                  <a:lnTo>
                    <a:pt x="2745345" y="1171347"/>
                  </a:lnTo>
                  <a:lnTo>
                    <a:pt x="0" y="117134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742" t="0" r="-4742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9525"/>
              <a:ext cx="2745346" cy="11808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11"/>
                </a:lnSpc>
              </a:pPr>
              <a:r>
                <a:rPr lang="en-US" sz="1426" b="true">
                  <a:solidFill>
                    <a:srgbClr val="1A1625"/>
                  </a:solidFill>
                  <a:latin typeface="Inter Bold"/>
                  <a:ea typeface="Inter Bold"/>
                  <a:cs typeface="Inter Bold"/>
                  <a:sym typeface="Inter Bold"/>
                </a:rPr>
                <a:t>Dim_Products</a:t>
              </a:r>
            </a:p>
          </p:txBody>
        </p:sp>
      </p:grpSp>
      <p:sp>
        <p:nvSpPr>
          <p:cNvPr name="AutoShape 76" id="76"/>
          <p:cNvSpPr/>
          <p:nvPr/>
        </p:nvSpPr>
        <p:spPr>
          <a:xfrm rot="8431500">
            <a:off x="12946904" y="4010301"/>
            <a:ext cx="2520506" cy="0"/>
          </a:xfrm>
          <a:prstGeom prst="line">
            <a:avLst/>
          </a:prstGeom>
          <a:ln cap="rnd" w="9525">
            <a:solidFill>
              <a:srgbClr val="ECE9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7" id="77"/>
          <p:cNvGrpSpPr/>
          <p:nvPr/>
        </p:nvGrpSpPr>
        <p:grpSpPr>
          <a:xfrm rot="0">
            <a:off x="10074840" y="5517566"/>
            <a:ext cx="2087604" cy="907104"/>
            <a:chOff x="0" y="0"/>
            <a:chExt cx="2783472" cy="120947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783459" cy="1209421"/>
            </a:xfrm>
            <a:custGeom>
              <a:avLst/>
              <a:gdLst/>
              <a:ahLst/>
              <a:cxnLst/>
              <a:rect r="r" b="b" t="t" l="l"/>
              <a:pathLst>
                <a:path h="1209421" w="2783459">
                  <a:moveTo>
                    <a:pt x="0" y="72517"/>
                  </a:moveTo>
                  <a:cubicBezTo>
                    <a:pt x="0" y="32512"/>
                    <a:pt x="32512" y="0"/>
                    <a:pt x="72517" y="0"/>
                  </a:cubicBezTo>
                  <a:lnTo>
                    <a:pt x="2710942" y="0"/>
                  </a:lnTo>
                  <a:cubicBezTo>
                    <a:pt x="2751074" y="0"/>
                    <a:pt x="2783459" y="32512"/>
                    <a:pt x="2783459" y="72517"/>
                  </a:cubicBezTo>
                  <a:lnTo>
                    <a:pt x="2783459" y="1136904"/>
                  </a:lnTo>
                  <a:cubicBezTo>
                    <a:pt x="2783459" y="1177036"/>
                    <a:pt x="2750947" y="1209421"/>
                    <a:pt x="2710942" y="1209421"/>
                  </a:cubicBezTo>
                  <a:lnTo>
                    <a:pt x="72517" y="1209421"/>
                  </a:lnTo>
                  <a:cubicBezTo>
                    <a:pt x="32512" y="1209421"/>
                    <a:pt x="0" y="1177036"/>
                    <a:pt x="0" y="1136904"/>
                  </a:cubicBezTo>
                  <a:close/>
                </a:path>
              </a:pathLst>
            </a:custGeom>
            <a:solidFill>
              <a:srgbClr val="FFFFFF"/>
            </a:solidFill>
            <a:ln w="28597" cap="sq">
              <a:solidFill>
                <a:srgbClr val="FF9E2C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089147" y="5531872"/>
            <a:ext cx="2059010" cy="878510"/>
            <a:chOff x="0" y="0"/>
            <a:chExt cx="2745346" cy="1171346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745345" cy="1171347"/>
            </a:xfrm>
            <a:custGeom>
              <a:avLst/>
              <a:gdLst/>
              <a:ahLst/>
              <a:cxnLst/>
              <a:rect r="r" b="b" t="t" l="l"/>
              <a:pathLst>
                <a:path h="1171347" w="2745345">
                  <a:moveTo>
                    <a:pt x="0" y="0"/>
                  </a:moveTo>
                  <a:lnTo>
                    <a:pt x="2745345" y="0"/>
                  </a:lnTo>
                  <a:lnTo>
                    <a:pt x="2745345" y="1171347"/>
                  </a:lnTo>
                  <a:lnTo>
                    <a:pt x="0" y="117134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742" t="0" r="-4742" b="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9525"/>
              <a:ext cx="2745346" cy="11808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11"/>
                </a:lnSpc>
              </a:pPr>
              <a:r>
                <a:rPr lang="en-US" sz="1426" b="true">
                  <a:solidFill>
                    <a:srgbClr val="1A1625"/>
                  </a:solidFill>
                  <a:latin typeface="Inter Bold"/>
                  <a:ea typeface="Inter Bold"/>
                  <a:cs typeface="Inter Bold"/>
                  <a:sym typeface="Inter Bold"/>
                </a:rPr>
                <a:t>Dim_Customers</a:t>
              </a:r>
            </a:p>
          </p:txBody>
        </p:sp>
      </p:grpSp>
      <p:sp>
        <p:nvSpPr>
          <p:cNvPr name="AutoShape 82" id="82"/>
          <p:cNvSpPr/>
          <p:nvPr/>
        </p:nvSpPr>
        <p:spPr>
          <a:xfrm rot="-1692240">
            <a:off x="10888551" y="5382978"/>
            <a:ext cx="2519210" cy="0"/>
          </a:xfrm>
          <a:prstGeom prst="line">
            <a:avLst/>
          </a:prstGeom>
          <a:ln cap="rnd" w="9525">
            <a:solidFill>
              <a:srgbClr val="ECE9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3" id="83"/>
          <p:cNvGrpSpPr/>
          <p:nvPr/>
        </p:nvGrpSpPr>
        <p:grpSpPr>
          <a:xfrm rot="0">
            <a:off x="14192860" y="5517566"/>
            <a:ext cx="2087604" cy="907104"/>
            <a:chOff x="0" y="0"/>
            <a:chExt cx="2783472" cy="1209472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783459" cy="1209421"/>
            </a:xfrm>
            <a:custGeom>
              <a:avLst/>
              <a:gdLst/>
              <a:ahLst/>
              <a:cxnLst/>
              <a:rect r="r" b="b" t="t" l="l"/>
              <a:pathLst>
                <a:path h="1209421" w="2783459">
                  <a:moveTo>
                    <a:pt x="0" y="72517"/>
                  </a:moveTo>
                  <a:cubicBezTo>
                    <a:pt x="0" y="32512"/>
                    <a:pt x="32512" y="0"/>
                    <a:pt x="72517" y="0"/>
                  </a:cubicBezTo>
                  <a:lnTo>
                    <a:pt x="2710942" y="0"/>
                  </a:lnTo>
                  <a:cubicBezTo>
                    <a:pt x="2751074" y="0"/>
                    <a:pt x="2783459" y="32512"/>
                    <a:pt x="2783459" y="72517"/>
                  </a:cubicBezTo>
                  <a:lnTo>
                    <a:pt x="2783459" y="1136904"/>
                  </a:lnTo>
                  <a:cubicBezTo>
                    <a:pt x="2783459" y="1177036"/>
                    <a:pt x="2750947" y="1209421"/>
                    <a:pt x="2710942" y="1209421"/>
                  </a:cubicBezTo>
                  <a:lnTo>
                    <a:pt x="72517" y="1209421"/>
                  </a:lnTo>
                  <a:cubicBezTo>
                    <a:pt x="32512" y="1209421"/>
                    <a:pt x="0" y="1177036"/>
                    <a:pt x="0" y="1136904"/>
                  </a:cubicBezTo>
                  <a:close/>
                </a:path>
              </a:pathLst>
            </a:custGeom>
            <a:solidFill>
              <a:srgbClr val="FFFFFF"/>
            </a:solidFill>
            <a:ln w="28597" cap="sq">
              <a:solidFill>
                <a:srgbClr val="16B364"/>
              </a:solidFill>
              <a:prstDash val="solid"/>
              <a:miter/>
            </a:ln>
          </p:spPr>
        </p:sp>
      </p:grpSp>
      <p:grpSp>
        <p:nvGrpSpPr>
          <p:cNvPr name="Group 85" id="85"/>
          <p:cNvGrpSpPr/>
          <p:nvPr/>
        </p:nvGrpSpPr>
        <p:grpSpPr>
          <a:xfrm rot="0">
            <a:off x="14207157" y="5531872"/>
            <a:ext cx="2059010" cy="878510"/>
            <a:chOff x="0" y="0"/>
            <a:chExt cx="2745346" cy="1171346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2745345" cy="1171347"/>
            </a:xfrm>
            <a:custGeom>
              <a:avLst/>
              <a:gdLst/>
              <a:ahLst/>
              <a:cxnLst/>
              <a:rect r="r" b="b" t="t" l="l"/>
              <a:pathLst>
                <a:path h="1171347" w="2745345">
                  <a:moveTo>
                    <a:pt x="0" y="0"/>
                  </a:moveTo>
                  <a:lnTo>
                    <a:pt x="2745345" y="0"/>
                  </a:lnTo>
                  <a:lnTo>
                    <a:pt x="2745345" y="1171347"/>
                  </a:lnTo>
                  <a:lnTo>
                    <a:pt x="0" y="117134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742" t="0" r="-4742" b="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9525"/>
              <a:ext cx="2745346" cy="11808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11"/>
                </a:lnSpc>
              </a:pPr>
              <a:r>
                <a:rPr lang="en-US" sz="1426" b="true">
                  <a:solidFill>
                    <a:srgbClr val="1A1625"/>
                  </a:solidFill>
                  <a:latin typeface="Inter Bold"/>
                  <a:ea typeface="Inter Bold"/>
                  <a:cs typeface="Inter Bold"/>
                  <a:sym typeface="Inter Bold"/>
                </a:rPr>
                <a:t>Budget</a:t>
              </a:r>
            </a:p>
          </p:txBody>
        </p:sp>
      </p:grpSp>
      <p:sp>
        <p:nvSpPr>
          <p:cNvPr name="AutoShape 88" id="88"/>
          <p:cNvSpPr/>
          <p:nvPr/>
        </p:nvSpPr>
        <p:spPr>
          <a:xfrm rot="-8912100">
            <a:off x="13066681" y="5382978"/>
            <a:ext cx="2280961" cy="0"/>
          </a:xfrm>
          <a:prstGeom prst="line">
            <a:avLst/>
          </a:prstGeom>
          <a:ln cap="rnd" w="9525">
            <a:solidFill>
              <a:srgbClr val="ECE9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9" id="89"/>
          <p:cNvSpPr txBox="true"/>
          <p:nvPr/>
        </p:nvSpPr>
        <p:spPr>
          <a:xfrm rot="0">
            <a:off x="9608706" y="7128367"/>
            <a:ext cx="7275166" cy="695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Challenge solved: </a:t>
            </a:r>
            <a:r>
              <a:rPr lang="en-US" sz="1501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transactions aggregated to (Year,Month,Country,Category) to join Budget's monthly grain.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1811931" y="8157877"/>
            <a:ext cx="15099392" cy="1382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DAX foundation:  </a:t>
            </a:r>
            <a:r>
              <a:rPr lang="en-US" sz="1651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Total Revenue · Gross Margin · Margin % · Revenue PY (SAMEPERIODLASTYEAR) · YoY Growth · Revenue Variance · Forecast Revenue (What-If) — built on a calendar table marked as a date table.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219627" cy="10295039"/>
            <a:chOff x="0" y="0"/>
            <a:chExt cx="292837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2735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92735">
                  <a:moveTo>
                    <a:pt x="0" y="17526"/>
                  </a:moveTo>
                  <a:cubicBezTo>
                    <a:pt x="0" y="7874"/>
                    <a:pt x="7874" y="0"/>
                    <a:pt x="17526" y="0"/>
                  </a:cubicBezTo>
                  <a:lnTo>
                    <a:pt x="275209" y="0"/>
                  </a:lnTo>
                  <a:cubicBezTo>
                    <a:pt x="284861" y="0"/>
                    <a:pt x="292735" y="7874"/>
                    <a:pt x="292735" y="17526"/>
                  </a:cubicBezTo>
                  <a:lnTo>
                    <a:pt x="292735" y="13709142"/>
                  </a:lnTo>
                  <a:cubicBezTo>
                    <a:pt x="292735" y="13718794"/>
                    <a:pt x="284861" y="13726668"/>
                    <a:pt x="275209" y="13726668"/>
                  </a:cubicBezTo>
                  <a:lnTo>
                    <a:pt x="17526" y="13726668"/>
                  </a:lnTo>
                  <a:cubicBezTo>
                    <a:pt x="7874" y="13726668"/>
                    <a:pt x="0" y="13718794"/>
                    <a:pt x="0" y="1370914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6200000"/>
            </a:gra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8169" cy="1098169"/>
            </a:xfrm>
            <a:custGeom>
              <a:avLst/>
              <a:gdLst/>
              <a:ahLst/>
              <a:cxnLst/>
              <a:rect r="r" b="b" t="t" l="l"/>
              <a:pathLst>
                <a:path h="1098169" w="1098169">
                  <a:moveTo>
                    <a:pt x="0" y="307467"/>
                  </a:moveTo>
                  <a:cubicBezTo>
                    <a:pt x="0" y="137668"/>
                    <a:pt x="137668" y="0"/>
                    <a:pt x="307467" y="0"/>
                  </a:cubicBezTo>
                  <a:lnTo>
                    <a:pt x="790702" y="0"/>
                  </a:lnTo>
                  <a:cubicBezTo>
                    <a:pt x="960501" y="0"/>
                    <a:pt x="1098169" y="137668"/>
                    <a:pt x="1098169" y="307467"/>
                  </a:cubicBezTo>
                  <a:lnTo>
                    <a:pt x="1098169" y="790702"/>
                  </a:lnTo>
                  <a:cubicBezTo>
                    <a:pt x="1098169" y="960501"/>
                    <a:pt x="960501" y="1098169"/>
                    <a:pt x="790702" y="1098169"/>
                  </a:cubicBezTo>
                  <a:lnTo>
                    <a:pt x="307467" y="1098169"/>
                  </a:lnTo>
                  <a:cubicBezTo>
                    <a:pt x="137668" y="1098169"/>
                    <a:pt x="0" y="960501"/>
                    <a:pt x="0" y="79070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8900000"/>
            </a:gra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8138" cy="1098138"/>
            </a:xfrm>
            <a:custGeom>
              <a:avLst/>
              <a:gdLst/>
              <a:ahLst/>
              <a:cxnLst/>
              <a:rect r="r" b="b" t="t" l="l"/>
              <a:pathLst>
                <a:path h="1098138" w="1098138">
                  <a:moveTo>
                    <a:pt x="0" y="0"/>
                  </a:moveTo>
                  <a:lnTo>
                    <a:pt x="1098138" y="0"/>
                  </a:lnTo>
                  <a:lnTo>
                    <a:pt x="1098138" y="1098138"/>
                  </a:lnTo>
                  <a:lnTo>
                    <a:pt x="0" y="1098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098144" cy="1107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€F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811931" y="676808"/>
            <a:ext cx="12354049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2024 PERFORMANCE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11931" y="1070686"/>
            <a:ext cx="14413059" cy="82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3"/>
              </a:lnSpc>
            </a:pPr>
            <a:r>
              <a:rPr lang="en-US" sz="375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The headline: grew, profited, but under plan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472068" y="745446"/>
            <a:ext cx="1235402" cy="558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1"/>
              </a:lnSpc>
            </a:pPr>
            <a:r>
              <a:rPr lang="en-US" sz="1951" b="true">
                <a:solidFill>
                  <a:srgbClr val="C9C4CF"/>
                </a:solidFill>
                <a:latin typeface="Inter Bold"/>
                <a:ea typeface="Inter Bold"/>
                <a:cs typeface="Inter Bold"/>
                <a:sym typeface="Inter Bold"/>
              </a:rPr>
              <a:t>03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811931" y="1949196"/>
            <a:ext cx="14962127" cy="24708"/>
            <a:chOff x="0" y="0"/>
            <a:chExt cx="19949503" cy="3294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49540" cy="32893"/>
            </a:xfrm>
            <a:custGeom>
              <a:avLst/>
              <a:gdLst/>
              <a:ahLst/>
              <a:cxnLst/>
              <a:rect r="r" b="b" t="t" l="l"/>
              <a:pathLst>
                <a:path h="32893" w="19949540">
                  <a:moveTo>
                    <a:pt x="0" y="0"/>
                  </a:moveTo>
                  <a:lnTo>
                    <a:pt x="19949540" y="0"/>
                  </a:lnTo>
                  <a:lnTo>
                    <a:pt x="1994954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ECE9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804778" y="2395023"/>
            <a:ext cx="3610699" cy="2073307"/>
            <a:chOff x="0" y="0"/>
            <a:chExt cx="4814265" cy="276440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814316" cy="2764409"/>
            </a:xfrm>
            <a:custGeom>
              <a:avLst/>
              <a:gdLst/>
              <a:ahLst/>
              <a:cxnLst/>
              <a:rect r="r" b="b" t="t" l="l"/>
              <a:pathLst>
                <a:path h="2764409" w="4814316">
                  <a:moveTo>
                    <a:pt x="0" y="165862"/>
                  </a:moveTo>
                  <a:cubicBezTo>
                    <a:pt x="0" y="74295"/>
                    <a:pt x="74295" y="0"/>
                    <a:pt x="165862" y="0"/>
                  </a:cubicBezTo>
                  <a:lnTo>
                    <a:pt x="4648454" y="0"/>
                  </a:lnTo>
                  <a:cubicBezTo>
                    <a:pt x="4740021" y="0"/>
                    <a:pt x="4814316" y="74295"/>
                    <a:pt x="4814316" y="165862"/>
                  </a:cubicBezTo>
                  <a:lnTo>
                    <a:pt x="4814316" y="2598547"/>
                  </a:lnTo>
                  <a:cubicBezTo>
                    <a:pt x="4814316" y="2690114"/>
                    <a:pt x="4740021" y="2764409"/>
                    <a:pt x="4648454" y="2764409"/>
                  </a:cubicBezTo>
                  <a:lnTo>
                    <a:pt x="165862" y="2764409"/>
                  </a:lnTo>
                  <a:cubicBezTo>
                    <a:pt x="74295" y="2764409"/>
                    <a:pt x="0" y="2690114"/>
                    <a:pt x="0" y="2598547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811931" y="2402176"/>
            <a:ext cx="96088" cy="2059010"/>
            <a:chOff x="0" y="0"/>
            <a:chExt cx="128118" cy="274534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8143" cy="2745359"/>
            </a:xfrm>
            <a:custGeom>
              <a:avLst/>
              <a:gdLst/>
              <a:ahLst/>
              <a:cxnLst/>
              <a:rect r="r" b="b" t="t" l="l"/>
              <a:pathLst>
                <a:path h="2745359" w="128143">
                  <a:moveTo>
                    <a:pt x="0" y="0"/>
                  </a:moveTo>
                  <a:lnTo>
                    <a:pt x="128143" y="0"/>
                  </a:lnTo>
                  <a:lnTo>
                    <a:pt x="128143" y="2745359"/>
                  </a:lnTo>
                  <a:lnTo>
                    <a:pt x="0" y="2745359"/>
                  </a:lnTo>
                  <a:close/>
                </a:path>
              </a:pathLst>
            </a:custGeom>
            <a:solidFill>
              <a:srgbClr val="06B6D4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113912" y="2612279"/>
            <a:ext cx="3184598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 b="true">
                <a:solidFill>
                  <a:srgbClr val="6B6478"/>
                </a:solidFill>
                <a:latin typeface="Inter Bold"/>
                <a:ea typeface="Inter Bold"/>
                <a:cs typeface="Inter Bold"/>
                <a:sym typeface="Inter Bold"/>
              </a:rPr>
              <a:t>REVENUE 2024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113912" y="2978696"/>
            <a:ext cx="3184598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3"/>
              </a:lnSpc>
            </a:pPr>
            <a:r>
              <a:rPr lang="en-US" sz="4053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€2.36M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113912" y="3875141"/>
            <a:ext cx="3184598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0B7A45"/>
                </a:solidFill>
                <a:latin typeface="Inter Bold"/>
                <a:ea typeface="Inter Bold"/>
                <a:cs typeface="Inter Bold"/>
                <a:sym typeface="Inter Bold"/>
              </a:rPr>
              <a:t>+5.4% vs 2023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5620807" y="2395023"/>
            <a:ext cx="3610699" cy="2073307"/>
            <a:chOff x="0" y="0"/>
            <a:chExt cx="4814265" cy="276440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814316" cy="2764409"/>
            </a:xfrm>
            <a:custGeom>
              <a:avLst/>
              <a:gdLst/>
              <a:ahLst/>
              <a:cxnLst/>
              <a:rect r="r" b="b" t="t" l="l"/>
              <a:pathLst>
                <a:path h="2764409" w="4814316">
                  <a:moveTo>
                    <a:pt x="0" y="165862"/>
                  </a:moveTo>
                  <a:cubicBezTo>
                    <a:pt x="0" y="74295"/>
                    <a:pt x="74295" y="0"/>
                    <a:pt x="165862" y="0"/>
                  </a:cubicBezTo>
                  <a:lnTo>
                    <a:pt x="4648454" y="0"/>
                  </a:lnTo>
                  <a:cubicBezTo>
                    <a:pt x="4740021" y="0"/>
                    <a:pt x="4814316" y="74295"/>
                    <a:pt x="4814316" y="165862"/>
                  </a:cubicBezTo>
                  <a:lnTo>
                    <a:pt x="4814316" y="2598547"/>
                  </a:lnTo>
                  <a:cubicBezTo>
                    <a:pt x="4814316" y="2690114"/>
                    <a:pt x="4740021" y="2764409"/>
                    <a:pt x="4648454" y="2764409"/>
                  </a:cubicBezTo>
                  <a:lnTo>
                    <a:pt x="165862" y="2764409"/>
                  </a:lnTo>
                  <a:cubicBezTo>
                    <a:pt x="74295" y="2764409"/>
                    <a:pt x="0" y="2690114"/>
                    <a:pt x="0" y="2598547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5627951" y="2402176"/>
            <a:ext cx="96088" cy="2059010"/>
            <a:chOff x="0" y="0"/>
            <a:chExt cx="128118" cy="274534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28143" cy="2745359"/>
            </a:xfrm>
            <a:custGeom>
              <a:avLst/>
              <a:gdLst/>
              <a:ahLst/>
              <a:cxnLst/>
              <a:rect r="r" b="b" t="t" l="l"/>
              <a:pathLst>
                <a:path h="2745359" w="128143">
                  <a:moveTo>
                    <a:pt x="0" y="0"/>
                  </a:moveTo>
                  <a:lnTo>
                    <a:pt x="128143" y="0"/>
                  </a:lnTo>
                  <a:lnTo>
                    <a:pt x="128143" y="2745359"/>
                  </a:lnTo>
                  <a:lnTo>
                    <a:pt x="0" y="2745359"/>
                  </a:lnTo>
                  <a:close/>
                </a:path>
              </a:pathLst>
            </a:custGeom>
            <a:solidFill>
              <a:srgbClr val="16B364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5929941" y="2612279"/>
            <a:ext cx="3184598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 b="true">
                <a:solidFill>
                  <a:srgbClr val="6B6478"/>
                </a:solidFill>
                <a:latin typeface="Inter Bold"/>
                <a:ea typeface="Inter Bold"/>
                <a:cs typeface="Inter Bold"/>
                <a:sym typeface="Inter Bold"/>
              </a:rPr>
              <a:t>GROSS MARGIN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929941" y="2978696"/>
            <a:ext cx="3184598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3"/>
              </a:lnSpc>
            </a:pPr>
            <a:r>
              <a:rPr lang="en-US" sz="4053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€915k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5929941" y="3875141"/>
            <a:ext cx="3184598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6B6478"/>
                </a:solidFill>
                <a:latin typeface="Inter Bold"/>
                <a:ea typeface="Inter Bold"/>
                <a:cs typeface="Inter Bold"/>
                <a:sym typeface="Inter Bold"/>
              </a:rPr>
              <a:t>38.7% — held flat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436837" y="2395023"/>
            <a:ext cx="3610699" cy="2073307"/>
            <a:chOff x="0" y="0"/>
            <a:chExt cx="4814265" cy="2764409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814316" cy="2764409"/>
            </a:xfrm>
            <a:custGeom>
              <a:avLst/>
              <a:gdLst/>
              <a:ahLst/>
              <a:cxnLst/>
              <a:rect r="r" b="b" t="t" l="l"/>
              <a:pathLst>
                <a:path h="2764409" w="4814316">
                  <a:moveTo>
                    <a:pt x="0" y="165862"/>
                  </a:moveTo>
                  <a:cubicBezTo>
                    <a:pt x="0" y="74295"/>
                    <a:pt x="74295" y="0"/>
                    <a:pt x="165862" y="0"/>
                  </a:cubicBezTo>
                  <a:lnTo>
                    <a:pt x="4648454" y="0"/>
                  </a:lnTo>
                  <a:cubicBezTo>
                    <a:pt x="4740021" y="0"/>
                    <a:pt x="4814316" y="74295"/>
                    <a:pt x="4814316" y="165862"/>
                  </a:cubicBezTo>
                  <a:lnTo>
                    <a:pt x="4814316" y="2598547"/>
                  </a:lnTo>
                  <a:cubicBezTo>
                    <a:pt x="4814316" y="2690114"/>
                    <a:pt x="4740021" y="2764409"/>
                    <a:pt x="4648454" y="2764409"/>
                  </a:cubicBezTo>
                  <a:lnTo>
                    <a:pt x="165862" y="2764409"/>
                  </a:lnTo>
                  <a:cubicBezTo>
                    <a:pt x="74295" y="2764409"/>
                    <a:pt x="0" y="2690114"/>
                    <a:pt x="0" y="2598547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9443990" y="2402176"/>
            <a:ext cx="96088" cy="2059010"/>
            <a:chOff x="0" y="0"/>
            <a:chExt cx="128118" cy="274534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28143" cy="2745359"/>
            </a:xfrm>
            <a:custGeom>
              <a:avLst/>
              <a:gdLst/>
              <a:ahLst/>
              <a:cxnLst/>
              <a:rect r="r" b="b" t="t" l="l"/>
              <a:pathLst>
                <a:path h="2745359" w="128143">
                  <a:moveTo>
                    <a:pt x="0" y="0"/>
                  </a:moveTo>
                  <a:lnTo>
                    <a:pt x="128143" y="0"/>
                  </a:lnTo>
                  <a:lnTo>
                    <a:pt x="128143" y="2745359"/>
                  </a:lnTo>
                  <a:lnTo>
                    <a:pt x="0" y="2745359"/>
                  </a:lnTo>
                  <a:close/>
                </a:path>
              </a:pathLst>
            </a:custGeom>
            <a:solidFill>
              <a:srgbClr val="F0384B"/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9745970" y="2612279"/>
            <a:ext cx="3184598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 b="true">
                <a:solidFill>
                  <a:srgbClr val="6B6478"/>
                </a:solidFill>
                <a:latin typeface="Inter Bold"/>
                <a:ea typeface="Inter Bold"/>
                <a:cs typeface="Inter Bold"/>
                <a:sym typeface="Inter Bold"/>
              </a:rPr>
              <a:t>BUDGET VARIANCE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745970" y="2978696"/>
            <a:ext cx="3184598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3"/>
              </a:lnSpc>
            </a:pPr>
            <a:r>
              <a:rPr lang="en-US" sz="4053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−€115k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745970" y="3875141"/>
            <a:ext cx="3184598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F0384B"/>
                </a:solidFill>
                <a:latin typeface="Inter Bold"/>
                <a:ea typeface="Inter Bold"/>
                <a:cs typeface="Inter Bold"/>
                <a:sym typeface="Inter Bold"/>
              </a:rPr>
              <a:t>−4.6% unfavourable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3252866" y="2395023"/>
            <a:ext cx="3610699" cy="2073307"/>
            <a:chOff x="0" y="0"/>
            <a:chExt cx="4814265" cy="2764409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814316" cy="2764409"/>
            </a:xfrm>
            <a:custGeom>
              <a:avLst/>
              <a:gdLst/>
              <a:ahLst/>
              <a:cxnLst/>
              <a:rect r="r" b="b" t="t" l="l"/>
              <a:pathLst>
                <a:path h="2764409" w="4814316">
                  <a:moveTo>
                    <a:pt x="0" y="165862"/>
                  </a:moveTo>
                  <a:cubicBezTo>
                    <a:pt x="0" y="74295"/>
                    <a:pt x="74295" y="0"/>
                    <a:pt x="165862" y="0"/>
                  </a:cubicBezTo>
                  <a:lnTo>
                    <a:pt x="4648454" y="0"/>
                  </a:lnTo>
                  <a:cubicBezTo>
                    <a:pt x="4740021" y="0"/>
                    <a:pt x="4814316" y="74295"/>
                    <a:pt x="4814316" y="165862"/>
                  </a:cubicBezTo>
                  <a:lnTo>
                    <a:pt x="4814316" y="2598547"/>
                  </a:lnTo>
                  <a:cubicBezTo>
                    <a:pt x="4814316" y="2690114"/>
                    <a:pt x="4740021" y="2764409"/>
                    <a:pt x="4648454" y="2764409"/>
                  </a:cubicBezTo>
                  <a:lnTo>
                    <a:pt x="165862" y="2764409"/>
                  </a:lnTo>
                  <a:cubicBezTo>
                    <a:pt x="74295" y="2764409"/>
                    <a:pt x="0" y="2690114"/>
                    <a:pt x="0" y="2598547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3260019" y="2402176"/>
            <a:ext cx="96088" cy="2059010"/>
            <a:chOff x="0" y="0"/>
            <a:chExt cx="128118" cy="274534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8143" cy="2745359"/>
            </a:xfrm>
            <a:custGeom>
              <a:avLst/>
              <a:gdLst/>
              <a:ahLst/>
              <a:cxnLst/>
              <a:rect r="r" b="b" t="t" l="l"/>
              <a:pathLst>
                <a:path h="2745359" w="128143">
                  <a:moveTo>
                    <a:pt x="0" y="0"/>
                  </a:moveTo>
                  <a:lnTo>
                    <a:pt x="128143" y="0"/>
                  </a:lnTo>
                  <a:lnTo>
                    <a:pt x="128143" y="2745359"/>
                  </a:lnTo>
                  <a:lnTo>
                    <a:pt x="0" y="2745359"/>
                  </a:lnTo>
                  <a:close/>
                </a:path>
              </a:pathLst>
            </a:custGeom>
            <a:solidFill>
              <a:srgbClr val="7C5CFF"/>
            </a:solid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3562000" y="2612279"/>
            <a:ext cx="3184598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 b="true">
                <a:solidFill>
                  <a:srgbClr val="6B6478"/>
                </a:solidFill>
                <a:latin typeface="Inter Bold"/>
                <a:ea typeface="Inter Bold"/>
                <a:cs typeface="Inter Bold"/>
                <a:sym typeface="Inter Bold"/>
              </a:rPr>
              <a:t>Q3 2024 YOY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3562000" y="2978696"/>
            <a:ext cx="3184598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3"/>
              </a:lnSpc>
            </a:pPr>
            <a:r>
              <a:rPr lang="en-US" sz="4053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+11.9%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3562000" y="3875141"/>
            <a:ext cx="3184598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0B7A45"/>
                </a:solidFill>
                <a:latin typeface="Inter Bold"/>
                <a:ea typeface="Inter Bold"/>
                <a:cs typeface="Inter Bold"/>
                <a:sym typeface="Inter Bold"/>
              </a:rPr>
              <a:t>summer acceleration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811931" y="4804353"/>
            <a:ext cx="6863363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Revenue by country</a:t>
            </a:r>
          </a:p>
        </p:txBody>
      </p:sp>
      <p:pic>
        <p:nvPicPr>
          <p:cNvPr name="Picture 45" id="4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49808" y="4529819"/>
            <a:ext cx="9059638" cy="5627957"/>
          </a:xfrm>
          <a:prstGeom prst="rect">
            <a:avLst/>
          </a:prstGeom>
        </p:spPr>
      </p:pic>
      <p:sp>
        <p:nvSpPr>
          <p:cNvPr name="TextBox 46" id="46"/>
          <p:cNvSpPr txBox="true"/>
          <p:nvPr/>
        </p:nvSpPr>
        <p:spPr>
          <a:xfrm rot="0">
            <a:off x="9883245" y="4804353"/>
            <a:ext cx="6863363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Monthly revenue</a:t>
            </a:r>
          </a:p>
        </p:txBody>
      </p:sp>
      <p:pic>
        <p:nvPicPr>
          <p:cNvPr name="Picture 47" id="47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8826288" y="4529819"/>
            <a:ext cx="9059638" cy="56279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219627" cy="10295039"/>
            <a:chOff x="0" y="0"/>
            <a:chExt cx="292837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2735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92735">
                  <a:moveTo>
                    <a:pt x="0" y="17526"/>
                  </a:moveTo>
                  <a:cubicBezTo>
                    <a:pt x="0" y="7874"/>
                    <a:pt x="7874" y="0"/>
                    <a:pt x="17526" y="0"/>
                  </a:cubicBezTo>
                  <a:lnTo>
                    <a:pt x="275209" y="0"/>
                  </a:lnTo>
                  <a:cubicBezTo>
                    <a:pt x="284861" y="0"/>
                    <a:pt x="292735" y="7874"/>
                    <a:pt x="292735" y="17526"/>
                  </a:cubicBezTo>
                  <a:lnTo>
                    <a:pt x="292735" y="13709142"/>
                  </a:lnTo>
                  <a:cubicBezTo>
                    <a:pt x="292735" y="13718794"/>
                    <a:pt x="284861" y="13726668"/>
                    <a:pt x="275209" y="13726668"/>
                  </a:cubicBezTo>
                  <a:lnTo>
                    <a:pt x="17526" y="13726668"/>
                  </a:lnTo>
                  <a:cubicBezTo>
                    <a:pt x="7874" y="13726668"/>
                    <a:pt x="0" y="13718794"/>
                    <a:pt x="0" y="1370914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6200000"/>
            </a:gra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8169" cy="1098169"/>
            </a:xfrm>
            <a:custGeom>
              <a:avLst/>
              <a:gdLst/>
              <a:ahLst/>
              <a:cxnLst/>
              <a:rect r="r" b="b" t="t" l="l"/>
              <a:pathLst>
                <a:path h="1098169" w="1098169">
                  <a:moveTo>
                    <a:pt x="0" y="307467"/>
                  </a:moveTo>
                  <a:cubicBezTo>
                    <a:pt x="0" y="137668"/>
                    <a:pt x="137668" y="0"/>
                    <a:pt x="307467" y="0"/>
                  </a:cubicBezTo>
                  <a:lnTo>
                    <a:pt x="790702" y="0"/>
                  </a:lnTo>
                  <a:cubicBezTo>
                    <a:pt x="960501" y="0"/>
                    <a:pt x="1098169" y="137668"/>
                    <a:pt x="1098169" y="307467"/>
                  </a:cubicBezTo>
                  <a:lnTo>
                    <a:pt x="1098169" y="790702"/>
                  </a:lnTo>
                  <a:cubicBezTo>
                    <a:pt x="1098169" y="960501"/>
                    <a:pt x="960501" y="1098169"/>
                    <a:pt x="790702" y="1098169"/>
                  </a:cubicBezTo>
                  <a:lnTo>
                    <a:pt x="307467" y="1098169"/>
                  </a:lnTo>
                  <a:cubicBezTo>
                    <a:pt x="137668" y="1098169"/>
                    <a:pt x="0" y="960501"/>
                    <a:pt x="0" y="79070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8900000"/>
            </a:gra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8138" cy="1098138"/>
            </a:xfrm>
            <a:custGeom>
              <a:avLst/>
              <a:gdLst/>
              <a:ahLst/>
              <a:cxnLst/>
              <a:rect r="r" b="b" t="t" l="l"/>
              <a:pathLst>
                <a:path h="1098138" w="1098138">
                  <a:moveTo>
                    <a:pt x="0" y="0"/>
                  </a:moveTo>
                  <a:lnTo>
                    <a:pt x="1098138" y="0"/>
                  </a:lnTo>
                  <a:lnTo>
                    <a:pt x="1098138" y="1098138"/>
                  </a:lnTo>
                  <a:lnTo>
                    <a:pt x="0" y="1098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098144" cy="1107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€F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811931" y="676808"/>
            <a:ext cx="12354049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FINDING 01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11931" y="1070686"/>
            <a:ext cx="14413059" cy="82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3"/>
              </a:lnSpc>
            </a:pPr>
            <a:r>
              <a:rPr lang="en-US" sz="375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The budget gap is volume, not price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472068" y="745446"/>
            <a:ext cx="1235402" cy="558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1"/>
              </a:lnSpc>
            </a:pPr>
            <a:r>
              <a:rPr lang="en-US" sz="1951" b="true">
                <a:solidFill>
                  <a:srgbClr val="C9C4CF"/>
                </a:solidFill>
                <a:latin typeface="Inter Bold"/>
                <a:ea typeface="Inter Bold"/>
                <a:cs typeface="Inter Bold"/>
                <a:sym typeface="Inter Bold"/>
              </a:rPr>
              <a:t>04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811931" y="1949196"/>
            <a:ext cx="14962127" cy="24708"/>
            <a:chOff x="0" y="0"/>
            <a:chExt cx="19949503" cy="3294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49540" cy="32893"/>
            </a:xfrm>
            <a:custGeom>
              <a:avLst/>
              <a:gdLst/>
              <a:ahLst/>
              <a:cxnLst/>
              <a:rect r="r" b="b" t="t" l="l"/>
              <a:pathLst>
                <a:path h="32893" w="19949540">
                  <a:moveTo>
                    <a:pt x="0" y="0"/>
                  </a:moveTo>
                  <a:lnTo>
                    <a:pt x="19949540" y="0"/>
                  </a:lnTo>
                  <a:lnTo>
                    <a:pt x="1994954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ECE9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804778" y="2395023"/>
            <a:ext cx="7289463" cy="6328591"/>
            <a:chOff x="0" y="0"/>
            <a:chExt cx="9719285" cy="843812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719310" cy="8438134"/>
            </a:xfrm>
            <a:custGeom>
              <a:avLst/>
              <a:gdLst/>
              <a:ahLst/>
              <a:cxnLst/>
              <a:rect r="r" b="b" t="t" l="l"/>
              <a:pathLst>
                <a:path h="8438134" w="9719310">
                  <a:moveTo>
                    <a:pt x="0" y="506349"/>
                  </a:moveTo>
                  <a:cubicBezTo>
                    <a:pt x="0" y="226695"/>
                    <a:pt x="226695" y="0"/>
                    <a:pt x="506349" y="0"/>
                  </a:cubicBezTo>
                  <a:lnTo>
                    <a:pt x="9212961" y="0"/>
                  </a:lnTo>
                  <a:cubicBezTo>
                    <a:pt x="9492615" y="0"/>
                    <a:pt x="9719310" y="226695"/>
                    <a:pt x="9719310" y="506349"/>
                  </a:cubicBezTo>
                  <a:lnTo>
                    <a:pt x="9719310" y="7931785"/>
                  </a:lnTo>
                  <a:cubicBezTo>
                    <a:pt x="9719310" y="8211439"/>
                    <a:pt x="9492615" y="8438134"/>
                    <a:pt x="9212961" y="8438134"/>
                  </a:cubicBezTo>
                  <a:lnTo>
                    <a:pt x="506349" y="8438134"/>
                  </a:lnTo>
                  <a:cubicBezTo>
                    <a:pt x="226695" y="8438134"/>
                    <a:pt x="0" y="8211439"/>
                    <a:pt x="0" y="7931785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2196274" y="2745343"/>
            <a:ext cx="6588824" cy="54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THE PRICE–VOLUME BRIDGE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196274" y="3363049"/>
            <a:ext cx="6588824" cy="1372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286"/>
              </a:lnSpc>
            </a:pPr>
            <a:r>
              <a:rPr lang="en-US" sz="6905" b="true">
                <a:solidFill>
                  <a:srgbClr val="F0384B"/>
                </a:solidFill>
                <a:latin typeface="Inter Bold"/>
                <a:ea typeface="Inter Bold"/>
                <a:cs typeface="Inter Bold"/>
                <a:sym typeface="Inter Bold"/>
              </a:rPr>
              <a:t>−€226k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volume effect (selling fewer units)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196274" y="5147520"/>
            <a:ext cx="6588824" cy="1372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5"/>
              </a:lnSpc>
            </a:pPr>
            <a:r>
              <a:rPr lang="en-US" sz="6004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≈ €0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price / mix effect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2189131" y="6787582"/>
            <a:ext cx="6465856" cy="1661503"/>
            <a:chOff x="0" y="0"/>
            <a:chExt cx="8621141" cy="2215337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621268" cy="2215388"/>
            </a:xfrm>
            <a:custGeom>
              <a:avLst/>
              <a:gdLst/>
              <a:ahLst/>
              <a:cxnLst/>
              <a:rect r="r" b="b" t="t" l="l"/>
              <a:pathLst>
                <a:path h="2215388" w="8621268">
                  <a:moveTo>
                    <a:pt x="0" y="132969"/>
                  </a:moveTo>
                  <a:cubicBezTo>
                    <a:pt x="0" y="59563"/>
                    <a:pt x="59563" y="0"/>
                    <a:pt x="132969" y="0"/>
                  </a:cubicBezTo>
                  <a:lnTo>
                    <a:pt x="8488299" y="0"/>
                  </a:lnTo>
                  <a:cubicBezTo>
                    <a:pt x="8561705" y="0"/>
                    <a:pt x="8621268" y="59563"/>
                    <a:pt x="8621268" y="132969"/>
                  </a:cubicBezTo>
                  <a:lnTo>
                    <a:pt x="8621268" y="2082419"/>
                  </a:lnTo>
                  <a:cubicBezTo>
                    <a:pt x="8621268" y="2155825"/>
                    <a:pt x="8561705" y="2215388"/>
                    <a:pt x="8488299" y="2215388"/>
                  </a:cubicBezTo>
                  <a:lnTo>
                    <a:pt x="132969" y="2215388"/>
                  </a:lnTo>
                  <a:cubicBezTo>
                    <a:pt x="59563" y="2215388"/>
                    <a:pt x="0" y="2155825"/>
                    <a:pt x="0" y="2082419"/>
                  </a:cubicBezTo>
                  <a:close/>
                </a:path>
              </a:pathLst>
            </a:custGeom>
            <a:solidFill>
              <a:srgbClr val="FFFFFF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2443353" y="6963651"/>
            <a:ext cx="6039755" cy="1382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1A1625"/>
                </a:solidFill>
                <a:latin typeface="Inter"/>
                <a:ea typeface="Inter"/>
                <a:cs typeface="Inter"/>
                <a:sym typeface="Inter"/>
              </a:rPr>
              <a:t>Actual prices landed on target. The entire shortfall is ~4.7% fewer units than planned — a planning error, not a discounting problem.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608706" y="2402176"/>
            <a:ext cx="7275166" cy="4118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1"/>
              </a:lnSpc>
            </a:pPr>
            <a:r>
              <a:rPr lang="en-US" sz="1726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Variance is uniform across every market (% vs budget)</a:t>
            </a:r>
          </a:p>
        </p:txBody>
      </p:sp>
      <p:pic>
        <p:nvPicPr>
          <p:cNvPr name="Picture 25" id="2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8867464" y="2210003"/>
            <a:ext cx="8894917" cy="71104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219627" cy="10295039"/>
            <a:chOff x="0" y="0"/>
            <a:chExt cx="292837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2735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92735">
                  <a:moveTo>
                    <a:pt x="0" y="17526"/>
                  </a:moveTo>
                  <a:cubicBezTo>
                    <a:pt x="0" y="7874"/>
                    <a:pt x="7874" y="0"/>
                    <a:pt x="17526" y="0"/>
                  </a:cubicBezTo>
                  <a:lnTo>
                    <a:pt x="275209" y="0"/>
                  </a:lnTo>
                  <a:cubicBezTo>
                    <a:pt x="284861" y="0"/>
                    <a:pt x="292735" y="7874"/>
                    <a:pt x="292735" y="17526"/>
                  </a:cubicBezTo>
                  <a:lnTo>
                    <a:pt x="292735" y="13709142"/>
                  </a:lnTo>
                  <a:cubicBezTo>
                    <a:pt x="292735" y="13718794"/>
                    <a:pt x="284861" y="13726668"/>
                    <a:pt x="275209" y="13726668"/>
                  </a:cubicBezTo>
                  <a:lnTo>
                    <a:pt x="17526" y="13726668"/>
                  </a:lnTo>
                  <a:cubicBezTo>
                    <a:pt x="7874" y="13726668"/>
                    <a:pt x="0" y="13718794"/>
                    <a:pt x="0" y="1370914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6200000"/>
            </a:gra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8169" cy="1098169"/>
            </a:xfrm>
            <a:custGeom>
              <a:avLst/>
              <a:gdLst/>
              <a:ahLst/>
              <a:cxnLst/>
              <a:rect r="r" b="b" t="t" l="l"/>
              <a:pathLst>
                <a:path h="1098169" w="1098169">
                  <a:moveTo>
                    <a:pt x="0" y="307467"/>
                  </a:moveTo>
                  <a:cubicBezTo>
                    <a:pt x="0" y="137668"/>
                    <a:pt x="137668" y="0"/>
                    <a:pt x="307467" y="0"/>
                  </a:cubicBezTo>
                  <a:lnTo>
                    <a:pt x="790702" y="0"/>
                  </a:lnTo>
                  <a:cubicBezTo>
                    <a:pt x="960501" y="0"/>
                    <a:pt x="1098169" y="137668"/>
                    <a:pt x="1098169" y="307467"/>
                  </a:cubicBezTo>
                  <a:lnTo>
                    <a:pt x="1098169" y="790702"/>
                  </a:lnTo>
                  <a:cubicBezTo>
                    <a:pt x="1098169" y="960501"/>
                    <a:pt x="960501" y="1098169"/>
                    <a:pt x="790702" y="1098169"/>
                  </a:cubicBezTo>
                  <a:lnTo>
                    <a:pt x="307467" y="1098169"/>
                  </a:lnTo>
                  <a:cubicBezTo>
                    <a:pt x="137668" y="1098169"/>
                    <a:pt x="0" y="960501"/>
                    <a:pt x="0" y="79070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8900000"/>
            </a:gra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8138" cy="1098138"/>
            </a:xfrm>
            <a:custGeom>
              <a:avLst/>
              <a:gdLst/>
              <a:ahLst/>
              <a:cxnLst/>
              <a:rect r="r" b="b" t="t" l="l"/>
              <a:pathLst>
                <a:path h="1098138" w="1098138">
                  <a:moveTo>
                    <a:pt x="0" y="0"/>
                  </a:moveTo>
                  <a:lnTo>
                    <a:pt x="1098138" y="0"/>
                  </a:lnTo>
                  <a:lnTo>
                    <a:pt x="1098138" y="1098138"/>
                  </a:lnTo>
                  <a:lnTo>
                    <a:pt x="0" y="1098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098144" cy="1107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€F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811931" y="676808"/>
            <a:ext cx="12354049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FINDING 02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11931" y="1070686"/>
            <a:ext cx="14413059" cy="82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3"/>
              </a:lnSpc>
            </a:pPr>
            <a:r>
              <a:rPr lang="en-US" sz="375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Online is the slowest channel, not the fastest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472068" y="745446"/>
            <a:ext cx="1235402" cy="558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1"/>
              </a:lnSpc>
            </a:pPr>
            <a:r>
              <a:rPr lang="en-US" sz="1951" b="true">
                <a:solidFill>
                  <a:srgbClr val="C9C4CF"/>
                </a:solidFill>
                <a:latin typeface="Inter Bold"/>
                <a:ea typeface="Inter Bold"/>
                <a:cs typeface="Inter Bold"/>
                <a:sym typeface="Inter Bold"/>
              </a:rPr>
              <a:t>05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811931" y="1949196"/>
            <a:ext cx="14962127" cy="24708"/>
            <a:chOff x="0" y="0"/>
            <a:chExt cx="19949503" cy="3294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49540" cy="32893"/>
            </a:xfrm>
            <a:custGeom>
              <a:avLst/>
              <a:gdLst/>
              <a:ahLst/>
              <a:cxnLst/>
              <a:rect r="r" b="b" t="t" l="l"/>
              <a:pathLst>
                <a:path h="32893" w="19949540">
                  <a:moveTo>
                    <a:pt x="0" y="0"/>
                  </a:moveTo>
                  <a:lnTo>
                    <a:pt x="19949540" y="0"/>
                  </a:lnTo>
                  <a:lnTo>
                    <a:pt x="1994954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ECE9E4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811931" y="2333539"/>
            <a:ext cx="8236039" cy="4118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Revenue growth 2023 → 2024 by segment</a:t>
            </a:r>
          </a:p>
        </p:txBody>
      </p:sp>
      <p:pic>
        <p:nvPicPr>
          <p:cNvPr name="Picture 17" id="17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960871" y="2031555"/>
            <a:ext cx="10212683" cy="7467338"/>
          </a:xfrm>
          <a:prstGeom prst="rect">
            <a:avLst/>
          </a:prstGeom>
        </p:spPr>
      </p:pic>
      <p:grpSp>
        <p:nvGrpSpPr>
          <p:cNvPr name="Group 18" id="18"/>
          <p:cNvGrpSpPr/>
          <p:nvPr/>
        </p:nvGrpSpPr>
        <p:grpSpPr>
          <a:xfrm rot="0">
            <a:off x="10974229" y="2600925"/>
            <a:ext cx="5916787" cy="5916787"/>
            <a:chOff x="0" y="0"/>
            <a:chExt cx="7889049" cy="788904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888986" cy="7888986"/>
            </a:xfrm>
            <a:custGeom>
              <a:avLst/>
              <a:gdLst/>
              <a:ahLst/>
              <a:cxnLst/>
              <a:rect r="r" b="b" t="t" l="l"/>
              <a:pathLst>
                <a:path h="7888986" w="7888986">
                  <a:moveTo>
                    <a:pt x="0" y="473329"/>
                  </a:moveTo>
                  <a:cubicBezTo>
                    <a:pt x="0" y="211963"/>
                    <a:pt x="211963" y="0"/>
                    <a:pt x="473329" y="0"/>
                  </a:cubicBezTo>
                  <a:lnTo>
                    <a:pt x="7415657" y="0"/>
                  </a:lnTo>
                  <a:cubicBezTo>
                    <a:pt x="7677023" y="0"/>
                    <a:pt x="7888986" y="211963"/>
                    <a:pt x="7888986" y="473329"/>
                  </a:cubicBezTo>
                  <a:lnTo>
                    <a:pt x="7888986" y="7415657"/>
                  </a:lnTo>
                  <a:cubicBezTo>
                    <a:pt x="7888986" y="7677023"/>
                    <a:pt x="7677023" y="7888986"/>
                    <a:pt x="7415657" y="7888986"/>
                  </a:cubicBezTo>
                  <a:lnTo>
                    <a:pt x="473329" y="7888986"/>
                  </a:lnTo>
                  <a:cubicBezTo>
                    <a:pt x="211963" y="7889113"/>
                    <a:pt x="0" y="7677150"/>
                    <a:pt x="0" y="7415657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1324549" y="2951245"/>
            <a:ext cx="5284784" cy="54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WHY IT MATTERS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324549" y="3568951"/>
            <a:ext cx="164725" cy="905961"/>
            <a:chOff x="0" y="0"/>
            <a:chExt cx="219634" cy="120794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9583" cy="1207897"/>
            </a:xfrm>
            <a:custGeom>
              <a:avLst/>
              <a:gdLst/>
              <a:ahLst/>
              <a:cxnLst/>
              <a:rect r="r" b="b" t="t" l="l"/>
              <a:pathLst>
                <a:path h="1207897" w="219583">
                  <a:moveTo>
                    <a:pt x="0" y="0"/>
                  </a:moveTo>
                  <a:lnTo>
                    <a:pt x="219583" y="0"/>
                  </a:lnTo>
                  <a:lnTo>
                    <a:pt x="219583" y="1207897"/>
                  </a:lnTo>
                  <a:lnTo>
                    <a:pt x="0" y="1207897"/>
                  </a:lnTo>
                  <a:close/>
                </a:path>
              </a:pathLst>
            </a:custGeom>
            <a:solidFill>
              <a:srgbClr val="16B364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1667715" y="3559426"/>
            <a:ext cx="4941618" cy="9703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Supermarket leads  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+5.9% — 33.6% of revenue, the real growth engine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1324549" y="4776902"/>
            <a:ext cx="164725" cy="905961"/>
            <a:chOff x="0" y="0"/>
            <a:chExt cx="219634" cy="120794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9583" cy="1207897"/>
            </a:xfrm>
            <a:custGeom>
              <a:avLst/>
              <a:gdLst/>
              <a:ahLst/>
              <a:cxnLst/>
              <a:rect r="r" b="b" t="t" l="l"/>
              <a:pathLst>
                <a:path h="1207897" w="219583">
                  <a:moveTo>
                    <a:pt x="0" y="0"/>
                  </a:moveTo>
                  <a:lnTo>
                    <a:pt x="219583" y="0"/>
                  </a:lnTo>
                  <a:lnTo>
                    <a:pt x="219583" y="1207897"/>
                  </a:lnTo>
                  <a:lnTo>
                    <a:pt x="0" y="1207897"/>
                  </a:lnTo>
                  <a:close/>
                </a:path>
              </a:pathLst>
            </a:custGeom>
            <a:solidFill>
              <a:srgbClr val="F0384B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1667715" y="4767377"/>
            <a:ext cx="4941618" cy="9703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Online lags  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+4.9%, the slowest of all four channels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1324549" y="5984853"/>
            <a:ext cx="164725" cy="905961"/>
            <a:chOff x="0" y="0"/>
            <a:chExt cx="219634" cy="120794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19583" cy="1207897"/>
            </a:xfrm>
            <a:custGeom>
              <a:avLst/>
              <a:gdLst/>
              <a:ahLst/>
              <a:cxnLst/>
              <a:rect r="r" b="b" t="t" l="l"/>
              <a:pathLst>
                <a:path h="1207897" w="219583">
                  <a:moveTo>
                    <a:pt x="0" y="0"/>
                  </a:moveTo>
                  <a:lnTo>
                    <a:pt x="219583" y="0"/>
                  </a:lnTo>
                  <a:lnTo>
                    <a:pt x="219583" y="1207897"/>
                  </a:lnTo>
                  <a:lnTo>
                    <a:pt x="0" y="1207897"/>
                  </a:lnTo>
                  <a:close/>
                </a:path>
              </a:pathLst>
            </a:custGeom>
            <a:solidFill>
              <a:srgbClr val="06B6D4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1667715" y="5975328"/>
            <a:ext cx="4941618" cy="9703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Brick-and-mortar +6.0%  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actually outgrew Online (+5.0%)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1324549" y="7192804"/>
            <a:ext cx="164725" cy="905961"/>
            <a:chOff x="0" y="0"/>
            <a:chExt cx="219634" cy="120794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583" cy="1207897"/>
            </a:xfrm>
            <a:custGeom>
              <a:avLst/>
              <a:gdLst/>
              <a:ahLst/>
              <a:cxnLst/>
              <a:rect r="r" b="b" t="t" l="l"/>
              <a:pathLst>
                <a:path h="1207897" w="219583">
                  <a:moveTo>
                    <a:pt x="0" y="0"/>
                  </a:moveTo>
                  <a:lnTo>
                    <a:pt x="219583" y="0"/>
                  </a:lnTo>
                  <a:lnTo>
                    <a:pt x="219583" y="1207897"/>
                  </a:lnTo>
                  <a:lnTo>
                    <a:pt x="0" y="1207897"/>
                  </a:lnTo>
                  <a:close/>
                </a:path>
              </a:pathLst>
            </a:custGeom>
            <a:solidFill>
              <a:srgbClr val="7C5CFF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1667715" y="7183279"/>
            <a:ext cx="4941618" cy="9703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The opportunity  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Online is 22.6% of revenue but under-invested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219627" cy="10295039"/>
            <a:chOff x="0" y="0"/>
            <a:chExt cx="292837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2735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92735">
                  <a:moveTo>
                    <a:pt x="0" y="17526"/>
                  </a:moveTo>
                  <a:cubicBezTo>
                    <a:pt x="0" y="7874"/>
                    <a:pt x="7874" y="0"/>
                    <a:pt x="17526" y="0"/>
                  </a:cubicBezTo>
                  <a:lnTo>
                    <a:pt x="275209" y="0"/>
                  </a:lnTo>
                  <a:cubicBezTo>
                    <a:pt x="284861" y="0"/>
                    <a:pt x="292735" y="7874"/>
                    <a:pt x="292735" y="17526"/>
                  </a:cubicBezTo>
                  <a:lnTo>
                    <a:pt x="292735" y="13709142"/>
                  </a:lnTo>
                  <a:cubicBezTo>
                    <a:pt x="292735" y="13718794"/>
                    <a:pt x="284861" y="13726668"/>
                    <a:pt x="275209" y="13726668"/>
                  </a:cubicBezTo>
                  <a:lnTo>
                    <a:pt x="17526" y="13726668"/>
                  </a:lnTo>
                  <a:cubicBezTo>
                    <a:pt x="7874" y="13726668"/>
                    <a:pt x="0" y="13718794"/>
                    <a:pt x="0" y="1370914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6200000"/>
            </a:gra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8169" cy="1098169"/>
            </a:xfrm>
            <a:custGeom>
              <a:avLst/>
              <a:gdLst/>
              <a:ahLst/>
              <a:cxnLst/>
              <a:rect r="r" b="b" t="t" l="l"/>
              <a:pathLst>
                <a:path h="1098169" w="1098169">
                  <a:moveTo>
                    <a:pt x="0" y="307467"/>
                  </a:moveTo>
                  <a:cubicBezTo>
                    <a:pt x="0" y="137668"/>
                    <a:pt x="137668" y="0"/>
                    <a:pt x="307467" y="0"/>
                  </a:cubicBezTo>
                  <a:lnTo>
                    <a:pt x="790702" y="0"/>
                  </a:lnTo>
                  <a:cubicBezTo>
                    <a:pt x="960501" y="0"/>
                    <a:pt x="1098169" y="137668"/>
                    <a:pt x="1098169" y="307467"/>
                  </a:cubicBezTo>
                  <a:lnTo>
                    <a:pt x="1098169" y="790702"/>
                  </a:lnTo>
                  <a:cubicBezTo>
                    <a:pt x="1098169" y="960501"/>
                    <a:pt x="960501" y="1098169"/>
                    <a:pt x="790702" y="1098169"/>
                  </a:cubicBezTo>
                  <a:lnTo>
                    <a:pt x="307467" y="1098169"/>
                  </a:lnTo>
                  <a:cubicBezTo>
                    <a:pt x="137668" y="1098169"/>
                    <a:pt x="0" y="960501"/>
                    <a:pt x="0" y="79070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8900000"/>
            </a:gra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8138" cy="1098138"/>
            </a:xfrm>
            <a:custGeom>
              <a:avLst/>
              <a:gdLst/>
              <a:ahLst/>
              <a:cxnLst/>
              <a:rect r="r" b="b" t="t" l="l"/>
              <a:pathLst>
                <a:path h="1098138" w="1098138">
                  <a:moveTo>
                    <a:pt x="0" y="0"/>
                  </a:moveTo>
                  <a:lnTo>
                    <a:pt x="1098138" y="0"/>
                  </a:lnTo>
                  <a:lnTo>
                    <a:pt x="1098138" y="1098138"/>
                  </a:lnTo>
                  <a:lnTo>
                    <a:pt x="0" y="1098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098144" cy="1107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€F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811931" y="676808"/>
            <a:ext cx="12354049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FINDING 03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11931" y="1070686"/>
            <a:ext cx="14413059" cy="82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3"/>
              </a:lnSpc>
            </a:pPr>
            <a:r>
              <a:rPr lang="en-US" sz="375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Frozen Food is the structural margin drag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472068" y="745446"/>
            <a:ext cx="1235402" cy="558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1"/>
              </a:lnSpc>
            </a:pPr>
            <a:r>
              <a:rPr lang="en-US" sz="1951" b="true">
                <a:solidFill>
                  <a:srgbClr val="C9C4CF"/>
                </a:solidFill>
                <a:latin typeface="Inter Bold"/>
                <a:ea typeface="Inter Bold"/>
                <a:cs typeface="Inter Bold"/>
                <a:sym typeface="Inter Bold"/>
              </a:rPr>
              <a:t>06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811931" y="1949196"/>
            <a:ext cx="14962127" cy="24708"/>
            <a:chOff x="0" y="0"/>
            <a:chExt cx="19949503" cy="3294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49540" cy="32893"/>
            </a:xfrm>
            <a:custGeom>
              <a:avLst/>
              <a:gdLst/>
              <a:ahLst/>
              <a:cxnLst/>
              <a:rect r="r" b="b" t="t" l="l"/>
              <a:pathLst>
                <a:path h="32893" w="19949540">
                  <a:moveTo>
                    <a:pt x="0" y="0"/>
                  </a:moveTo>
                  <a:lnTo>
                    <a:pt x="19949540" y="0"/>
                  </a:lnTo>
                  <a:lnTo>
                    <a:pt x="1994954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ECE9E4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811931" y="2333539"/>
            <a:ext cx="8236039" cy="4118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Margin % vs category target</a:t>
            </a:r>
          </a:p>
        </p:txBody>
      </p:sp>
      <p:pic>
        <p:nvPicPr>
          <p:cNvPr name="Picture 17" id="17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960871" y="2031555"/>
            <a:ext cx="10212683" cy="7467338"/>
          </a:xfrm>
          <a:prstGeom prst="rect">
            <a:avLst/>
          </a:prstGeom>
        </p:spPr>
      </p:pic>
      <p:grpSp>
        <p:nvGrpSpPr>
          <p:cNvPr name="Group 18" id="18"/>
          <p:cNvGrpSpPr/>
          <p:nvPr/>
        </p:nvGrpSpPr>
        <p:grpSpPr>
          <a:xfrm rot="0">
            <a:off x="10974229" y="2600925"/>
            <a:ext cx="5916787" cy="5916787"/>
            <a:chOff x="0" y="0"/>
            <a:chExt cx="7889049" cy="788904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888986" cy="7888986"/>
            </a:xfrm>
            <a:custGeom>
              <a:avLst/>
              <a:gdLst/>
              <a:ahLst/>
              <a:cxnLst/>
              <a:rect r="r" b="b" t="t" l="l"/>
              <a:pathLst>
                <a:path h="7888986" w="7888986">
                  <a:moveTo>
                    <a:pt x="0" y="473329"/>
                  </a:moveTo>
                  <a:cubicBezTo>
                    <a:pt x="0" y="211963"/>
                    <a:pt x="211963" y="0"/>
                    <a:pt x="473329" y="0"/>
                  </a:cubicBezTo>
                  <a:lnTo>
                    <a:pt x="7415657" y="0"/>
                  </a:lnTo>
                  <a:cubicBezTo>
                    <a:pt x="7677023" y="0"/>
                    <a:pt x="7888986" y="211963"/>
                    <a:pt x="7888986" y="473329"/>
                  </a:cubicBezTo>
                  <a:lnTo>
                    <a:pt x="7888986" y="7415657"/>
                  </a:lnTo>
                  <a:cubicBezTo>
                    <a:pt x="7888986" y="7677023"/>
                    <a:pt x="7677023" y="7888986"/>
                    <a:pt x="7415657" y="7888986"/>
                  </a:cubicBezTo>
                  <a:lnTo>
                    <a:pt x="473329" y="7888986"/>
                  </a:lnTo>
                  <a:cubicBezTo>
                    <a:pt x="211963" y="7889113"/>
                    <a:pt x="0" y="7677150"/>
                    <a:pt x="0" y="7415657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1324549" y="2951245"/>
            <a:ext cx="5284784" cy="54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THE FROZEN PROBLEM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324549" y="3549901"/>
            <a:ext cx="5284784" cy="46861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0"/>
              </a:lnSpc>
            </a:pPr>
            <a:r>
              <a:rPr lang="en-US" sz="165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All 5 </a:t>
            </a:r>
            <a:r>
              <a:rPr lang="en-US" sz="1651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Frozen Food SKUs sit below the 35% target.</a:t>
            </a:r>
          </a:p>
          <a:p>
            <a:pPr algn="l">
              <a:lnSpc>
                <a:spcPts val="1134"/>
              </a:lnSpc>
            </a:pPr>
          </a:p>
          <a:p>
            <a:pPr algn="l">
              <a:lnSpc>
                <a:spcPts val="4917"/>
              </a:lnSpc>
            </a:pPr>
            <a:r>
              <a:rPr lang="en-US" sz="3903" b="true">
                <a:solidFill>
                  <a:srgbClr val="7C5CFF"/>
                </a:solidFill>
                <a:latin typeface="Inter Bold"/>
                <a:ea typeface="Inter Bold"/>
                <a:cs typeface="Inter Bold"/>
                <a:sym typeface="Inter Bold"/>
              </a:rPr>
              <a:t>€1.42M</a:t>
            </a:r>
          </a:p>
          <a:p>
            <a:pPr algn="l">
              <a:lnSpc>
                <a:spcPts val="1891"/>
              </a:lnSpc>
            </a:pPr>
            <a:r>
              <a:rPr lang="en-US" sz="1501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largest category by revenue — yet the lowest margin band.</a:t>
            </a:r>
          </a:p>
          <a:p>
            <a:pPr algn="l">
              <a:lnSpc>
                <a:spcPts val="1134"/>
              </a:lnSpc>
            </a:pPr>
          </a:p>
          <a:p>
            <a:pPr algn="l">
              <a:lnSpc>
                <a:spcPts val="1986"/>
              </a:lnSpc>
            </a:pPr>
            <a:r>
              <a:rPr lang="en-US" sz="1576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Verdict: </a:t>
            </a:r>
            <a:r>
              <a:rPr lang="en-US" sz="157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a category-wide sourcing issue, not weak individual products. No SKU warrants discontinuation.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219627" cy="10295039"/>
            <a:chOff x="0" y="0"/>
            <a:chExt cx="292837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2735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92735">
                  <a:moveTo>
                    <a:pt x="0" y="17526"/>
                  </a:moveTo>
                  <a:cubicBezTo>
                    <a:pt x="0" y="7874"/>
                    <a:pt x="7874" y="0"/>
                    <a:pt x="17526" y="0"/>
                  </a:cubicBezTo>
                  <a:lnTo>
                    <a:pt x="275209" y="0"/>
                  </a:lnTo>
                  <a:cubicBezTo>
                    <a:pt x="284861" y="0"/>
                    <a:pt x="292735" y="7874"/>
                    <a:pt x="292735" y="17526"/>
                  </a:cubicBezTo>
                  <a:lnTo>
                    <a:pt x="292735" y="13709142"/>
                  </a:lnTo>
                  <a:cubicBezTo>
                    <a:pt x="292735" y="13718794"/>
                    <a:pt x="284861" y="13726668"/>
                    <a:pt x="275209" y="13726668"/>
                  </a:cubicBezTo>
                  <a:lnTo>
                    <a:pt x="17526" y="13726668"/>
                  </a:lnTo>
                  <a:cubicBezTo>
                    <a:pt x="7874" y="13726668"/>
                    <a:pt x="0" y="13718794"/>
                    <a:pt x="0" y="1370914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6200000"/>
            </a:gra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8169" cy="1098169"/>
            </a:xfrm>
            <a:custGeom>
              <a:avLst/>
              <a:gdLst/>
              <a:ahLst/>
              <a:cxnLst/>
              <a:rect r="r" b="b" t="t" l="l"/>
              <a:pathLst>
                <a:path h="1098169" w="1098169">
                  <a:moveTo>
                    <a:pt x="0" y="307467"/>
                  </a:moveTo>
                  <a:cubicBezTo>
                    <a:pt x="0" y="137668"/>
                    <a:pt x="137668" y="0"/>
                    <a:pt x="307467" y="0"/>
                  </a:cubicBezTo>
                  <a:lnTo>
                    <a:pt x="790702" y="0"/>
                  </a:lnTo>
                  <a:cubicBezTo>
                    <a:pt x="960501" y="0"/>
                    <a:pt x="1098169" y="137668"/>
                    <a:pt x="1098169" y="307467"/>
                  </a:cubicBezTo>
                  <a:lnTo>
                    <a:pt x="1098169" y="790702"/>
                  </a:lnTo>
                  <a:cubicBezTo>
                    <a:pt x="1098169" y="960501"/>
                    <a:pt x="960501" y="1098169"/>
                    <a:pt x="790702" y="1098169"/>
                  </a:cubicBezTo>
                  <a:lnTo>
                    <a:pt x="307467" y="1098169"/>
                  </a:lnTo>
                  <a:cubicBezTo>
                    <a:pt x="137668" y="1098169"/>
                    <a:pt x="0" y="960501"/>
                    <a:pt x="0" y="79070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8900000"/>
            </a:gra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8138" cy="1098138"/>
            </a:xfrm>
            <a:custGeom>
              <a:avLst/>
              <a:gdLst/>
              <a:ahLst/>
              <a:cxnLst/>
              <a:rect r="r" b="b" t="t" l="l"/>
              <a:pathLst>
                <a:path h="1098138" w="1098138">
                  <a:moveTo>
                    <a:pt x="0" y="0"/>
                  </a:moveTo>
                  <a:lnTo>
                    <a:pt x="1098138" y="0"/>
                  </a:lnTo>
                  <a:lnTo>
                    <a:pt x="1098138" y="1098138"/>
                  </a:lnTo>
                  <a:lnTo>
                    <a:pt x="0" y="1098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098144" cy="1107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€F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811931" y="676808"/>
            <a:ext cx="12354049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BUDGET VARIANCE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11931" y="1070686"/>
            <a:ext cx="14413059" cy="82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3"/>
              </a:lnSpc>
            </a:pPr>
            <a:r>
              <a:rPr lang="en-US" sz="375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Every market missed — by almost exactly the same %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472068" y="745446"/>
            <a:ext cx="1235402" cy="558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1"/>
              </a:lnSpc>
            </a:pPr>
            <a:r>
              <a:rPr lang="en-US" sz="1951" b="true">
                <a:solidFill>
                  <a:srgbClr val="C9C4CF"/>
                </a:solidFill>
                <a:latin typeface="Inter Bold"/>
                <a:ea typeface="Inter Bold"/>
                <a:cs typeface="Inter Bold"/>
                <a:sym typeface="Inter Bold"/>
              </a:rPr>
              <a:t>07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811931" y="1949196"/>
            <a:ext cx="14962127" cy="24708"/>
            <a:chOff x="0" y="0"/>
            <a:chExt cx="19949503" cy="3294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49540" cy="32893"/>
            </a:xfrm>
            <a:custGeom>
              <a:avLst/>
              <a:gdLst/>
              <a:ahLst/>
              <a:cxnLst/>
              <a:rect r="r" b="b" t="t" l="l"/>
              <a:pathLst>
                <a:path h="32893" w="19949540">
                  <a:moveTo>
                    <a:pt x="0" y="0"/>
                  </a:moveTo>
                  <a:lnTo>
                    <a:pt x="19949540" y="0"/>
                  </a:lnTo>
                  <a:lnTo>
                    <a:pt x="1994954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ECE9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804778" y="2395023"/>
            <a:ext cx="3995052" cy="1936042"/>
            <a:chOff x="0" y="0"/>
            <a:chExt cx="5326736" cy="258138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326761" cy="2581402"/>
            </a:xfrm>
            <a:custGeom>
              <a:avLst/>
              <a:gdLst/>
              <a:ahLst/>
              <a:cxnLst/>
              <a:rect r="r" b="b" t="t" l="l"/>
              <a:pathLst>
                <a:path h="2581402" w="5326761">
                  <a:moveTo>
                    <a:pt x="0" y="154940"/>
                  </a:moveTo>
                  <a:cubicBezTo>
                    <a:pt x="0" y="69342"/>
                    <a:pt x="69342" y="0"/>
                    <a:pt x="154940" y="0"/>
                  </a:cubicBezTo>
                  <a:lnTo>
                    <a:pt x="5171821" y="0"/>
                  </a:lnTo>
                  <a:cubicBezTo>
                    <a:pt x="5257419" y="0"/>
                    <a:pt x="5326761" y="69342"/>
                    <a:pt x="5326761" y="154940"/>
                  </a:cubicBezTo>
                  <a:lnTo>
                    <a:pt x="5326761" y="2426462"/>
                  </a:lnTo>
                  <a:cubicBezTo>
                    <a:pt x="5326761" y="2512060"/>
                    <a:pt x="5257419" y="2581402"/>
                    <a:pt x="5171821" y="2581402"/>
                  </a:cubicBezTo>
                  <a:lnTo>
                    <a:pt x="154940" y="2581402"/>
                  </a:lnTo>
                  <a:cubicBezTo>
                    <a:pt x="69342" y="2581402"/>
                    <a:pt x="0" y="2512060"/>
                    <a:pt x="0" y="2426462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811931" y="2402176"/>
            <a:ext cx="96088" cy="1921745"/>
            <a:chOff x="0" y="0"/>
            <a:chExt cx="128118" cy="2562327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8143" cy="2562352"/>
            </a:xfrm>
            <a:custGeom>
              <a:avLst/>
              <a:gdLst/>
              <a:ahLst/>
              <a:cxnLst/>
              <a:rect r="r" b="b" t="t" l="l"/>
              <a:pathLst>
                <a:path h="2562352" w="128143">
                  <a:moveTo>
                    <a:pt x="0" y="0"/>
                  </a:moveTo>
                  <a:lnTo>
                    <a:pt x="128143" y="0"/>
                  </a:lnTo>
                  <a:lnTo>
                    <a:pt x="128143" y="2562352"/>
                  </a:lnTo>
                  <a:lnTo>
                    <a:pt x="0" y="2562352"/>
                  </a:lnTo>
                  <a:close/>
                </a:path>
              </a:pathLst>
            </a:custGeom>
            <a:solidFill>
              <a:srgbClr val="06B6D4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113912" y="2612279"/>
            <a:ext cx="3568951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 b="true">
                <a:solidFill>
                  <a:srgbClr val="6B6478"/>
                </a:solidFill>
                <a:latin typeface="Inter Bold"/>
                <a:ea typeface="Inter Bold"/>
                <a:cs typeface="Inter Bold"/>
                <a:sym typeface="Inter Bold"/>
              </a:rPr>
              <a:t>ACTUAL (2YR)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113912" y="2978696"/>
            <a:ext cx="3568951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3"/>
              </a:lnSpc>
            </a:pPr>
            <a:r>
              <a:rPr lang="en-US" sz="4053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€4.60M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6060062" y="2395023"/>
            <a:ext cx="3995052" cy="1936042"/>
            <a:chOff x="0" y="0"/>
            <a:chExt cx="5326736" cy="258138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326761" cy="2581402"/>
            </a:xfrm>
            <a:custGeom>
              <a:avLst/>
              <a:gdLst/>
              <a:ahLst/>
              <a:cxnLst/>
              <a:rect r="r" b="b" t="t" l="l"/>
              <a:pathLst>
                <a:path h="2581402" w="5326761">
                  <a:moveTo>
                    <a:pt x="0" y="154940"/>
                  </a:moveTo>
                  <a:cubicBezTo>
                    <a:pt x="0" y="69342"/>
                    <a:pt x="69342" y="0"/>
                    <a:pt x="154940" y="0"/>
                  </a:cubicBezTo>
                  <a:lnTo>
                    <a:pt x="5171821" y="0"/>
                  </a:lnTo>
                  <a:cubicBezTo>
                    <a:pt x="5257419" y="0"/>
                    <a:pt x="5326761" y="69342"/>
                    <a:pt x="5326761" y="154940"/>
                  </a:cubicBezTo>
                  <a:lnTo>
                    <a:pt x="5326761" y="2426462"/>
                  </a:lnTo>
                  <a:cubicBezTo>
                    <a:pt x="5326761" y="2512060"/>
                    <a:pt x="5257419" y="2581402"/>
                    <a:pt x="5171821" y="2581402"/>
                  </a:cubicBezTo>
                  <a:lnTo>
                    <a:pt x="154940" y="2581402"/>
                  </a:lnTo>
                  <a:cubicBezTo>
                    <a:pt x="69342" y="2581402"/>
                    <a:pt x="0" y="2512060"/>
                    <a:pt x="0" y="2426462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6067215" y="2402176"/>
            <a:ext cx="96088" cy="1921745"/>
            <a:chOff x="0" y="0"/>
            <a:chExt cx="128118" cy="2562327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8143" cy="2562352"/>
            </a:xfrm>
            <a:custGeom>
              <a:avLst/>
              <a:gdLst/>
              <a:ahLst/>
              <a:cxnLst/>
              <a:rect r="r" b="b" t="t" l="l"/>
              <a:pathLst>
                <a:path h="2562352" w="128143">
                  <a:moveTo>
                    <a:pt x="0" y="0"/>
                  </a:moveTo>
                  <a:lnTo>
                    <a:pt x="128143" y="0"/>
                  </a:lnTo>
                  <a:lnTo>
                    <a:pt x="128143" y="2562352"/>
                  </a:lnTo>
                  <a:lnTo>
                    <a:pt x="0" y="2562352"/>
                  </a:lnTo>
                  <a:close/>
                </a:path>
              </a:pathLst>
            </a:custGeom>
            <a:solidFill>
              <a:srgbClr val="FF9E2C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6369196" y="2612279"/>
            <a:ext cx="3568951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 b="true">
                <a:solidFill>
                  <a:srgbClr val="6B6478"/>
                </a:solidFill>
                <a:latin typeface="Inter Bold"/>
                <a:ea typeface="Inter Bold"/>
                <a:cs typeface="Inter Bold"/>
                <a:sym typeface="Inter Bold"/>
              </a:rPr>
              <a:t>BUDGET (2YR)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369196" y="2978696"/>
            <a:ext cx="3568951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3"/>
              </a:lnSpc>
            </a:pPr>
            <a:r>
              <a:rPr lang="en-US" sz="4053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€4.83M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315346" y="2395023"/>
            <a:ext cx="3995052" cy="1936042"/>
            <a:chOff x="0" y="0"/>
            <a:chExt cx="5326736" cy="2581389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326761" cy="2581402"/>
            </a:xfrm>
            <a:custGeom>
              <a:avLst/>
              <a:gdLst/>
              <a:ahLst/>
              <a:cxnLst/>
              <a:rect r="r" b="b" t="t" l="l"/>
              <a:pathLst>
                <a:path h="2581402" w="5326761">
                  <a:moveTo>
                    <a:pt x="0" y="154940"/>
                  </a:moveTo>
                  <a:cubicBezTo>
                    <a:pt x="0" y="69342"/>
                    <a:pt x="69342" y="0"/>
                    <a:pt x="154940" y="0"/>
                  </a:cubicBezTo>
                  <a:lnTo>
                    <a:pt x="5171821" y="0"/>
                  </a:lnTo>
                  <a:cubicBezTo>
                    <a:pt x="5257419" y="0"/>
                    <a:pt x="5326761" y="69342"/>
                    <a:pt x="5326761" y="154940"/>
                  </a:cubicBezTo>
                  <a:lnTo>
                    <a:pt x="5326761" y="2426462"/>
                  </a:lnTo>
                  <a:cubicBezTo>
                    <a:pt x="5326761" y="2512060"/>
                    <a:pt x="5257419" y="2581402"/>
                    <a:pt x="5171821" y="2581402"/>
                  </a:cubicBezTo>
                  <a:lnTo>
                    <a:pt x="154940" y="2581402"/>
                  </a:lnTo>
                  <a:cubicBezTo>
                    <a:pt x="69342" y="2581402"/>
                    <a:pt x="0" y="2512060"/>
                    <a:pt x="0" y="2426462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0322500" y="2402176"/>
            <a:ext cx="96088" cy="1921745"/>
            <a:chOff x="0" y="0"/>
            <a:chExt cx="128118" cy="2562327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8143" cy="2562352"/>
            </a:xfrm>
            <a:custGeom>
              <a:avLst/>
              <a:gdLst/>
              <a:ahLst/>
              <a:cxnLst/>
              <a:rect r="r" b="b" t="t" l="l"/>
              <a:pathLst>
                <a:path h="2562352" w="128143">
                  <a:moveTo>
                    <a:pt x="0" y="0"/>
                  </a:moveTo>
                  <a:lnTo>
                    <a:pt x="128143" y="0"/>
                  </a:lnTo>
                  <a:lnTo>
                    <a:pt x="128143" y="2562352"/>
                  </a:lnTo>
                  <a:lnTo>
                    <a:pt x="0" y="2562352"/>
                  </a:lnTo>
                  <a:close/>
                </a:path>
              </a:pathLst>
            </a:custGeom>
            <a:solidFill>
              <a:srgbClr val="F0384B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0624480" y="2612279"/>
            <a:ext cx="3568951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 b="true">
                <a:solidFill>
                  <a:srgbClr val="6B6478"/>
                </a:solidFill>
                <a:latin typeface="Inter Bold"/>
                <a:ea typeface="Inter Bold"/>
                <a:cs typeface="Inter Bold"/>
                <a:sym typeface="Inter Bold"/>
              </a:rPr>
              <a:t>VARIANCE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624480" y="2978696"/>
            <a:ext cx="3568951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3"/>
              </a:lnSpc>
            </a:pPr>
            <a:r>
              <a:rPr lang="en-US" sz="4053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−€227k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624480" y="3737867"/>
            <a:ext cx="3568951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F0384B"/>
                </a:solidFill>
                <a:latin typeface="Inter Bold"/>
                <a:ea typeface="Inter Bold"/>
                <a:cs typeface="Inter Bold"/>
                <a:sym typeface="Inter Bold"/>
              </a:rPr>
              <a:t>−4.7% unfavourable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14570631" y="2395023"/>
            <a:ext cx="2210572" cy="1936042"/>
            <a:chOff x="0" y="0"/>
            <a:chExt cx="2947429" cy="258138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947543" cy="2581402"/>
            </a:xfrm>
            <a:custGeom>
              <a:avLst/>
              <a:gdLst/>
              <a:ahLst/>
              <a:cxnLst/>
              <a:rect r="r" b="b" t="t" l="l"/>
              <a:pathLst>
                <a:path h="2581402" w="2947543">
                  <a:moveTo>
                    <a:pt x="0" y="154940"/>
                  </a:moveTo>
                  <a:cubicBezTo>
                    <a:pt x="0" y="69342"/>
                    <a:pt x="69342" y="0"/>
                    <a:pt x="154940" y="0"/>
                  </a:cubicBezTo>
                  <a:lnTo>
                    <a:pt x="2792603" y="0"/>
                  </a:lnTo>
                  <a:cubicBezTo>
                    <a:pt x="2878201" y="0"/>
                    <a:pt x="2947543" y="69342"/>
                    <a:pt x="2947543" y="154940"/>
                  </a:cubicBezTo>
                  <a:lnTo>
                    <a:pt x="2947543" y="2426462"/>
                  </a:lnTo>
                  <a:cubicBezTo>
                    <a:pt x="2947543" y="2512060"/>
                    <a:pt x="2878201" y="2581402"/>
                    <a:pt x="2792603" y="2581402"/>
                  </a:cubicBezTo>
                  <a:lnTo>
                    <a:pt x="154940" y="2581402"/>
                  </a:lnTo>
                  <a:cubicBezTo>
                    <a:pt x="69342" y="2581402"/>
                    <a:pt x="0" y="2512060"/>
                    <a:pt x="0" y="2426462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4577784" y="2402176"/>
            <a:ext cx="96088" cy="1921745"/>
            <a:chOff x="0" y="0"/>
            <a:chExt cx="128118" cy="2562327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28143" cy="2562352"/>
            </a:xfrm>
            <a:custGeom>
              <a:avLst/>
              <a:gdLst/>
              <a:ahLst/>
              <a:cxnLst/>
              <a:rect r="r" b="b" t="t" l="l"/>
              <a:pathLst>
                <a:path h="2562352" w="128143">
                  <a:moveTo>
                    <a:pt x="0" y="0"/>
                  </a:moveTo>
                  <a:lnTo>
                    <a:pt x="128143" y="0"/>
                  </a:lnTo>
                  <a:lnTo>
                    <a:pt x="128143" y="2562352"/>
                  </a:lnTo>
                  <a:lnTo>
                    <a:pt x="0" y="2562352"/>
                  </a:lnTo>
                  <a:close/>
                </a:path>
              </a:pathLst>
            </a:custGeom>
            <a:solidFill>
              <a:srgbClr val="7C5CFF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14879764" y="2612279"/>
            <a:ext cx="1784471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 b="true">
                <a:solidFill>
                  <a:srgbClr val="6B6478"/>
                </a:solidFill>
                <a:latin typeface="Inter Bold"/>
                <a:ea typeface="Inter Bold"/>
                <a:cs typeface="Inter Bold"/>
                <a:sym typeface="Inter Bold"/>
              </a:rPr>
              <a:t>VOL. VAR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4879764" y="2978696"/>
            <a:ext cx="1784471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3"/>
              </a:lnSpc>
            </a:pPr>
            <a:r>
              <a:rPr lang="en-US" sz="4053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−4.7%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811931" y="4735716"/>
            <a:ext cx="8236039" cy="4118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Actual vs budget revenue by country</a:t>
            </a:r>
          </a:p>
        </p:txBody>
      </p:sp>
      <p:pic>
        <p:nvPicPr>
          <p:cNvPr name="Picture 42" id="42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56958" y="4529819"/>
            <a:ext cx="9059638" cy="5559324"/>
          </a:xfrm>
          <a:prstGeom prst="rect">
            <a:avLst/>
          </a:prstGeom>
        </p:spPr>
      </p:pic>
      <p:grpSp>
        <p:nvGrpSpPr>
          <p:cNvPr name="Group 43" id="43"/>
          <p:cNvGrpSpPr/>
          <p:nvPr/>
        </p:nvGrpSpPr>
        <p:grpSpPr>
          <a:xfrm rot="0">
            <a:off x="9738827" y="4797200"/>
            <a:ext cx="7152199" cy="4544120"/>
            <a:chOff x="0" y="0"/>
            <a:chExt cx="9536265" cy="6058827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9536176" cy="6058789"/>
            </a:xfrm>
            <a:custGeom>
              <a:avLst/>
              <a:gdLst/>
              <a:ahLst/>
              <a:cxnLst/>
              <a:rect r="r" b="b" t="t" l="l"/>
              <a:pathLst>
                <a:path h="6058789" w="9536176">
                  <a:moveTo>
                    <a:pt x="0" y="363474"/>
                  </a:moveTo>
                  <a:cubicBezTo>
                    <a:pt x="0" y="162814"/>
                    <a:pt x="162814" y="0"/>
                    <a:pt x="363474" y="0"/>
                  </a:cubicBezTo>
                  <a:lnTo>
                    <a:pt x="9172702" y="0"/>
                  </a:lnTo>
                  <a:cubicBezTo>
                    <a:pt x="9373489" y="0"/>
                    <a:pt x="9536176" y="162814"/>
                    <a:pt x="9536176" y="363474"/>
                  </a:cubicBezTo>
                  <a:lnTo>
                    <a:pt x="9536176" y="5695315"/>
                  </a:lnTo>
                  <a:cubicBezTo>
                    <a:pt x="9536176" y="5896102"/>
                    <a:pt x="9373362" y="6058789"/>
                    <a:pt x="9172702" y="6058789"/>
                  </a:cubicBezTo>
                  <a:lnTo>
                    <a:pt x="363474" y="6058789"/>
                  </a:lnTo>
                  <a:cubicBezTo>
                    <a:pt x="162814" y="6058789"/>
                    <a:pt x="0" y="5896102"/>
                    <a:pt x="0" y="5695315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sp>
        <p:nvSpPr>
          <p:cNvPr name="TextBox 45" id="45"/>
          <p:cNvSpPr txBox="true"/>
          <p:nvPr/>
        </p:nvSpPr>
        <p:spPr>
          <a:xfrm rot="0">
            <a:off x="10089147" y="5106343"/>
            <a:ext cx="6451559" cy="54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THE DIAGNOSIS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0089147" y="5687063"/>
            <a:ext cx="6520196" cy="3441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6"/>
              </a:lnSpc>
            </a:pPr>
            <a:r>
              <a:rPr lang="en-US" sz="1576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Variance band: </a:t>
            </a:r>
            <a:r>
              <a:rPr lang="en-US" sz="157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−5.0% to −3.9% across all 3 countries × 4 categories × 8 quarters.</a:t>
            </a:r>
          </a:p>
          <a:p>
            <a:pPr algn="l">
              <a:lnSpc>
                <a:spcPts val="1134"/>
              </a:lnSpc>
            </a:pPr>
          </a:p>
          <a:p>
            <a:pPr algn="l">
              <a:lnSpc>
                <a:spcPts val="1986"/>
              </a:lnSpc>
            </a:pPr>
            <a:r>
              <a:rPr lang="en-US" sz="157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Such uniformity is the signature of a </a:t>
            </a:r>
            <a:r>
              <a:rPr lang="en-US" sz="1576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top-down budget set ~5% too high</a:t>
            </a:r>
            <a:r>
              <a:rPr lang="en-US" sz="157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 — not localised execution failures.</a:t>
            </a:r>
          </a:p>
          <a:p>
            <a:pPr algn="l">
              <a:lnSpc>
                <a:spcPts val="1134"/>
              </a:lnSpc>
            </a:pPr>
          </a:p>
          <a:p>
            <a:pPr algn="l">
              <a:lnSpc>
                <a:spcPts val="1986"/>
              </a:lnSpc>
            </a:pPr>
            <a:r>
              <a:rPr lang="en-US" sz="1576" b="true">
                <a:solidFill>
                  <a:srgbClr val="0B7A45"/>
                </a:solidFill>
                <a:latin typeface="Inter Bold"/>
                <a:ea typeface="Inter Bold"/>
                <a:cs typeface="Inter Bold"/>
                <a:sym typeface="Inter Bold"/>
              </a:rPr>
              <a:t>Fix: </a:t>
            </a:r>
            <a:r>
              <a:rPr lang="en-US" sz="157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re-baseline 2025 on the real run-rate.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219627" cy="10295039"/>
            <a:chOff x="0" y="0"/>
            <a:chExt cx="292837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2735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92735">
                  <a:moveTo>
                    <a:pt x="0" y="17526"/>
                  </a:moveTo>
                  <a:cubicBezTo>
                    <a:pt x="0" y="7874"/>
                    <a:pt x="7874" y="0"/>
                    <a:pt x="17526" y="0"/>
                  </a:cubicBezTo>
                  <a:lnTo>
                    <a:pt x="275209" y="0"/>
                  </a:lnTo>
                  <a:cubicBezTo>
                    <a:pt x="284861" y="0"/>
                    <a:pt x="292735" y="7874"/>
                    <a:pt x="292735" y="17526"/>
                  </a:cubicBezTo>
                  <a:lnTo>
                    <a:pt x="292735" y="13709142"/>
                  </a:lnTo>
                  <a:cubicBezTo>
                    <a:pt x="292735" y="13718794"/>
                    <a:pt x="284861" y="13726668"/>
                    <a:pt x="275209" y="13726668"/>
                  </a:cubicBezTo>
                  <a:lnTo>
                    <a:pt x="17526" y="13726668"/>
                  </a:lnTo>
                  <a:cubicBezTo>
                    <a:pt x="7874" y="13726668"/>
                    <a:pt x="0" y="13718794"/>
                    <a:pt x="0" y="1370914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6200000"/>
            </a:gra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8169" cy="1098169"/>
            </a:xfrm>
            <a:custGeom>
              <a:avLst/>
              <a:gdLst/>
              <a:ahLst/>
              <a:cxnLst/>
              <a:rect r="r" b="b" t="t" l="l"/>
              <a:pathLst>
                <a:path h="1098169" w="1098169">
                  <a:moveTo>
                    <a:pt x="0" y="307467"/>
                  </a:moveTo>
                  <a:cubicBezTo>
                    <a:pt x="0" y="137668"/>
                    <a:pt x="137668" y="0"/>
                    <a:pt x="307467" y="0"/>
                  </a:cubicBezTo>
                  <a:lnTo>
                    <a:pt x="790702" y="0"/>
                  </a:lnTo>
                  <a:cubicBezTo>
                    <a:pt x="960501" y="0"/>
                    <a:pt x="1098169" y="137668"/>
                    <a:pt x="1098169" y="307467"/>
                  </a:cubicBezTo>
                  <a:lnTo>
                    <a:pt x="1098169" y="790702"/>
                  </a:lnTo>
                  <a:cubicBezTo>
                    <a:pt x="1098169" y="960501"/>
                    <a:pt x="960501" y="1098169"/>
                    <a:pt x="790702" y="1098169"/>
                  </a:cubicBezTo>
                  <a:lnTo>
                    <a:pt x="307467" y="1098169"/>
                  </a:lnTo>
                  <a:cubicBezTo>
                    <a:pt x="137668" y="1098169"/>
                    <a:pt x="0" y="960501"/>
                    <a:pt x="0" y="79070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8900000"/>
            </a:gra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8138" cy="1098138"/>
            </a:xfrm>
            <a:custGeom>
              <a:avLst/>
              <a:gdLst/>
              <a:ahLst/>
              <a:cxnLst/>
              <a:rect r="r" b="b" t="t" l="l"/>
              <a:pathLst>
                <a:path h="1098138" w="1098138">
                  <a:moveTo>
                    <a:pt x="0" y="0"/>
                  </a:moveTo>
                  <a:lnTo>
                    <a:pt x="1098138" y="0"/>
                  </a:lnTo>
                  <a:lnTo>
                    <a:pt x="1098138" y="1098138"/>
                  </a:lnTo>
                  <a:lnTo>
                    <a:pt x="0" y="1098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098144" cy="1107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€F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811931" y="676808"/>
            <a:ext cx="12354049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SEASONALITY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11931" y="1070686"/>
            <a:ext cx="14413059" cy="82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3"/>
              </a:lnSpc>
            </a:pPr>
            <a:r>
              <a:rPr lang="en-US" sz="375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Beverages swing hardest — a planning signal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472068" y="745446"/>
            <a:ext cx="1235402" cy="558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1"/>
              </a:lnSpc>
            </a:pPr>
            <a:r>
              <a:rPr lang="en-US" sz="1951" b="true">
                <a:solidFill>
                  <a:srgbClr val="C9C4CF"/>
                </a:solidFill>
                <a:latin typeface="Inter Bold"/>
                <a:ea typeface="Inter Bold"/>
                <a:cs typeface="Inter Bold"/>
                <a:sym typeface="Inter Bold"/>
              </a:rPr>
              <a:t>08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811931" y="1949196"/>
            <a:ext cx="14962127" cy="24708"/>
            <a:chOff x="0" y="0"/>
            <a:chExt cx="19949503" cy="3294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49540" cy="32893"/>
            </a:xfrm>
            <a:custGeom>
              <a:avLst/>
              <a:gdLst/>
              <a:ahLst/>
              <a:cxnLst/>
              <a:rect r="r" b="b" t="t" l="l"/>
              <a:pathLst>
                <a:path h="32893" w="19949540">
                  <a:moveTo>
                    <a:pt x="0" y="0"/>
                  </a:moveTo>
                  <a:lnTo>
                    <a:pt x="19949540" y="0"/>
                  </a:lnTo>
                  <a:lnTo>
                    <a:pt x="1994954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ECE9E4"/>
            </a:solidFill>
          </p:spPr>
        </p:sp>
      </p:grpSp>
      <p:pic>
        <p:nvPicPr>
          <p:cNvPr name="Picture 16" id="16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809877" y="1606027"/>
            <a:ext cx="12024611" cy="8181128"/>
          </a:xfrm>
          <a:prstGeom prst="rect">
            <a:avLst/>
          </a:prstGeom>
        </p:spPr>
      </p:pic>
      <p:grpSp>
        <p:nvGrpSpPr>
          <p:cNvPr name="Group 17" id="17"/>
          <p:cNvGrpSpPr/>
          <p:nvPr/>
        </p:nvGrpSpPr>
        <p:grpSpPr>
          <a:xfrm rot="0">
            <a:off x="12346905" y="2669562"/>
            <a:ext cx="4544120" cy="5985424"/>
            <a:chOff x="0" y="0"/>
            <a:chExt cx="6058827" cy="798056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058789" cy="7980553"/>
            </a:xfrm>
            <a:custGeom>
              <a:avLst/>
              <a:gdLst/>
              <a:ahLst/>
              <a:cxnLst/>
              <a:rect r="r" b="b" t="t" l="l"/>
              <a:pathLst>
                <a:path h="7980553" w="6058789">
                  <a:moveTo>
                    <a:pt x="0" y="363474"/>
                  </a:moveTo>
                  <a:cubicBezTo>
                    <a:pt x="0" y="162814"/>
                    <a:pt x="162814" y="0"/>
                    <a:pt x="363474" y="0"/>
                  </a:cubicBezTo>
                  <a:lnTo>
                    <a:pt x="5695315" y="0"/>
                  </a:lnTo>
                  <a:cubicBezTo>
                    <a:pt x="5896102" y="0"/>
                    <a:pt x="6058789" y="162814"/>
                    <a:pt x="6058789" y="363474"/>
                  </a:cubicBezTo>
                  <a:lnTo>
                    <a:pt x="6058789" y="7617079"/>
                  </a:lnTo>
                  <a:cubicBezTo>
                    <a:pt x="6058789" y="7817866"/>
                    <a:pt x="5895975" y="7980553"/>
                    <a:pt x="5695315" y="7980553"/>
                  </a:cubicBezTo>
                  <a:lnTo>
                    <a:pt x="363474" y="7980553"/>
                  </a:lnTo>
                  <a:cubicBezTo>
                    <a:pt x="162814" y="7980553"/>
                    <a:pt x="0" y="7817866"/>
                    <a:pt x="0" y="7617079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2697216" y="3019882"/>
            <a:ext cx="3912118" cy="54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INDEX (100 = AVG)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697216" y="3628053"/>
            <a:ext cx="3912118" cy="4813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9"/>
              </a:lnSpc>
            </a:pPr>
            <a:r>
              <a:rPr lang="en-US" sz="180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Beverages</a:t>
            </a:r>
          </a:p>
          <a:p>
            <a:pPr algn="l">
              <a:lnSpc>
                <a:spcPts val="1891"/>
              </a:lnSpc>
            </a:pPr>
            <a:r>
              <a:rPr lang="en-US" sz="1501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Peak Jul 136 · trough Feb 74 — widest swing (±62).</a:t>
            </a:r>
          </a:p>
          <a:p>
            <a:pPr algn="l">
              <a:lnSpc>
                <a:spcPts val="1324"/>
              </a:lnSpc>
            </a:pPr>
          </a:p>
          <a:p>
            <a:pPr algn="l">
              <a:lnSpc>
                <a:spcPts val="2269"/>
              </a:lnSpc>
            </a:pPr>
            <a:r>
              <a:rPr lang="en-US" sz="1801" b="true">
                <a:solidFill>
                  <a:srgbClr val="7C5CFF"/>
                </a:solidFill>
                <a:latin typeface="Inter Bold"/>
                <a:ea typeface="Inter Bold"/>
                <a:cs typeface="Inter Bold"/>
                <a:sym typeface="Inter Bold"/>
              </a:rPr>
              <a:t>Frozen Food</a:t>
            </a:r>
          </a:p>
          <a:p>
            <a:pPr algn="l">
              <a:lnSpc>
                <a:spcPts val="1891"/>
              </a:lnSpc>
            </a:pPr>
            <a:r>
              <a:rPr lang="en-US" sz="1501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Peaks Jan 122 (winter) — counter-seasonal to drinks.</a:t>
            </a:r>
          </a:p>
          <a:p>
            <a:pPr algn="l">
              <a:lnSpc>
                <a:spcPts val="1324"/>
              </a:lnSpc>
            </a:pPr>
          </a:p>
          <a:p>
            <a:pPr algn="l">
              <a:lnSpc>
                <a:spcPts val="1891"/>
              </a:lnSpc>
            </a:pPr>
            <a:r>
              <a:rPr lang="en-US" sz="150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Action: </a:t>
            </a:r>
            <a:r>
              <a:rPr lang="en-US" sz="1501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phase inventory &amp; promo by category season.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219627" cy="10295039"/>
            <a:chOff x="0" y="0"/>
            <a:chExt cx="292837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2735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92735">
                  <a:moveTo>
                    <a:pt x="0" y="17526"/>
                  </a:moveTo>
                  <a:cubicBezTo>
                    <a:pt x="0" y="7874"/>
                    <a:pt x="7874" y="0"/>
                    <a:pt x="17526" y="0"/>
                  </a:cubicBezTo>
                  <a:lnTo>
                    <a:pt x="275209" y="0"/>
                  </a:lnTo>
                  <a:cubicBezTo>
                    <a:pt x="284861" y="0"/>
                    <a:pt x="292735" y="7874"/>
                    <a:pt x="292735" y="17526"/>
                  </a:cubicBezTo>
                  <a:lnTo>
                    <a:pt x="292735" y="13709142"/>
                  </a:lnTo>
                  <a:cubicBezTo>
                    <a:pt x="292735" y="13718794"/>
                    <a:pt x="284861" y="13726668"/>
                    <a:pt x="275209" y="13726668"/>
                  </a:cubicBezTo>
                  <a:lnTo>
                    <a:pt x="17526" y="13726668"/>
                  </a:lnTo>
                  <a:cubicBezTo>
                    <a:pt x="7874" y="13726668"/>
                    <a:pt x="0" y="13718794"/>
                    <a:pt x="0" y="1370914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6200000"/>
            </a:gra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8169" cy="1098169"/>
            </a:xfrm>
            <a:custGeom>
              <a:avLst/>
              <a:gdLst/>
              <a:ahLst/>
              <a:cxnLst/>
              <a:rect r="r" b="b" t="t" l="l"/>
              <a:pathLst>
                <a:path h="1098169" w="1098169">
                  <a:moveTo>
                    <a:pt x="0" y="307467"/>
                  </a:moveTo>
                  <a:cubicBezTo>
                    <a:pt x="0" y="137668"/>
                    <a:pt x="137668" y="0"/>
                    <a:pt x="307467" y="0"/>
                  </a:cubicBezTo>
                  <a:lnTo>
                    <a:pt x="790702" y="0"/>
                  </a:lnTo>
                  <a:cubicBezTo>
                    <a:pt x="960501" y="0"/>
                    <a:pt x="1098169" y="137668"/>
                    <a:pt x="1098169" y="307467"/>
                  </a:cubicBezTo>
                  <a:lnTo>
                    <a:pt x="1098169" y="790702"/>
                  </a:lnTo>
                  <a:cubicBezTo>
                    <a:pt x="1098169" y="960501"/>
                    <a:pt x="960501" y="1098169"/>
                    <a:pt x="790702" y="1098169"/>
                  </a:cubicBezTo>
                  <a:lnTo>
                    <a:pt x="307467" y="1098169"/>
                  </a:lnTo>
                  <a:cubicBezTo>
                    <a:pt x="137668" y="1098169"/>
                    <a:pt x="0" y="960501"/>
                    <a:pt x="0" y="79070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8900000"/>
            </a:gra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8138" cy="1098138"/>
            </a:xfrm>
            <a:custGeom>
              <a:avLst/>
              <a:gdLst/>
              <a:ahLst/>
              <a:cxnLst/>
              <a:rect r="r" b="b" t="t" l="l"/>
              <a:pathLst>
                <a:path h="1098138" w="1098138">
                  <a:moveTo>
                    <a:pt x="0" y="0"/>
                  </a:moveTo>
                  <a:lnTo>
                    <a:pt x="1098138" y="0"/>
                  </a:lnTo>
                  <a:lnTo>
                    <a:pt x="1098138" y="1098138"/>
                  </a:lnTo>
                  <a:lnTo>
                    <a:pt x="0" y="1098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098144" cy="1107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€F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811931" y="676808"/>
            <a:ext cx="12354049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FORECAST &amp; WHAT-IF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11931" y="1070686"/>
            <a:ext cx="14413059" cy="82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3"/>
              </a:lnSpc>
            </a:pPr>
            <a:r>
              <a:rPr lang="en-US" sz="375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Reaching €2.5M in 2025 is within reach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472068" y="745446"/>
            <a:ext cx="1235402" cy="558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1"/>
              </a:lnSpc>
            </a:pPr>
            <a:r>
              <a:rPr lang="en-US" sz="1951" b="true">
                <a:solidFill>
                  <a:srgbClr val="C9C4CF"/>
                </a:solidFill>
                <a:latin typeface="Inter Bold"/>
                <a:ea typeface="Inter Bold"/>
                <a:cs typeface="Inter Bold"/>
                <a:sym typeface="Inter Bold"/>
              </a:rPr>
              <a:t>09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811931" y="1949196"/>
            <a:ext cx="14962127" cy="24708"/>
            <a:chOff x="0" y="0"/>
            <a:chExt cx="19949503" cy="3294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49540" cy="32893"/>
            </a:xfrm>
            <a:custGeom>
              <a:avLst/>
              <a:gdLst/>
              <a:ahLst/>
              <a:cxnLst/>
              <a:rect r="r" b="b" t="t" l="l"/>
              <a:pathLst>
                <a:path h="32893" w="19949540">
                  <a:moveTo>
                    <a:pt x="0" y="0"/>
                  </a:moveTo>
                  <a:lnTo>
                    <a:pt x="19949540" y="0"/>
                  </a:lnTo>
                  <a:lnTo>
                    <a:pt x="1994954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ECE9E4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811931" y="2333539"/>
            <a:ext cx="8236039" cy="4118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Monthly revenue + Q1-2025 projection (central +5%)</a:t>
            </a:r>
          </a:p>
        </p:txBody>
      </p:sp>
      <p:pic>
        <p:nvPicPr>
          <p:cNvPr name="Picture 17" id="17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933418" y="2004102"/>
            <a:ext cx="10542124" cy="7522245"/>
          </a:xfrm>
          <a:prstGeom prst="rect">
            <a:avLst/>
          </a:prstGeom>
        </p:spPr>
      </p:pic>
      <p:grpSp>
        <p:nvGrpSpPr>
          <p:cNvPr name="Group 18" id="18"/>
          <p:cNvGrpSpPr/>
          <p:nvPr/>
        </p:nvGrpSpPr>
        <p:grpSpPr>
          <a:xfrm rot="0">
            <a:off x="11111494" y="2600925"/>
            <a:ext cx="5779522" cy="6054061"/>
            <a:chOff x="0" y="0"/>
            <a:chExt cx="7706030" cy="807208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706106" cy="8072120"/>
            </a:xfrm>
            <a:custGeom>
              <a:avLst/>
              <a:gdLst/>
              <a:ahLst/>
              <a:cxnLst/>
              <a:rect r="r" b="b" t="t" l="l"/>
              <a:pathLst>
                <a:path h="8072120" w="7706106">
                  <a:moveTo>
                    <a:pt x="0" y="462407"/>
                  </a:moveTo>
                  <a:cubicBezTo>
                    <a:pt x="0" y="207010"/>
                    <a:pt x="207010" y="0"/>
                    <a:pt x="462407" y="0"/>
                  </a:cubicBezTo>
                  <a:lnTo>
                    <a:pt x="7243699" y="0"/>
                  </a:lnTo>
                  <a:cubicBezTo>
                    <a:pt x="7499096" y="0"/>
                    <a:pt x="7706106" y="207010"/>
                    <a:pt x="7706106" y="462407"/>
                  </a:cubicBezTo>
                  <a:lnTo>
                    <a:pt x="7706106" y="7609713"/>
                  </a:lnTo>
                  <a:cubicBezTo>
                    <a:pt x="7706106" y="7865110"/>
                    <a:pt x="7499096" y="8072120"/>
                    <a:pt x="7243699" y="8072120"/>
                  </a:cubicBezTo>
                  <a:lnTo>
                    <a:pt x="462407" y="8072120"/>
                  </a:lnTo>
                  <a:cubicBezTo>
                    <a:pt x="207010" y="8072120"/>
                    <a:pt x="0" y="7865110"/>
                    <a:pt x="0" y="7609713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1461813" y="2910068"/>
            <a:ext cx="5078892" cy="54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SCENARIO MODELLING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461813" y="3490789"/>
            <a:ext cx="5147520" cy="13135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Online +20% &amp; Convenience −10%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net impact on 2024 revenue: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461813" y="4794828"/>
            <a:ext cx="5147520" cy="9703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0B7A45"/>
                </a:solidFill>
                <a:latin typeface="Inter Bold"/>
                <a:ea typeface="Inter Bold"/>
                <a:cs typeface="Inter Bold"/>
                <a:sym typeface="Inter Bold"/>
              </a:rPr>
              <a:t>+€68k</a:t>
            </a:r>
            <a:r>
              <a:rPr lang="en-US" sz="2251" b="true">
                <a:solidFill>
                  <a:srgbClr val="16B364"/>
                </a:solidFill>
                <a:latin typeface="Inter Bold"/>
                <a:ea typeface="Inter Bold"/>
                <a:cs typeface="Inter Bold"/>
                <a:sym typeface="Inter Bold"/>
              </a:rPr>
              <a:t>  +2.9%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1461813" y="5971127"/>
            <a:ext cx="5078892" cy="27451"/>
            <a:chOff x="0" y="0"/>
            <a:chExt cx="6771856" cy="3660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771894" cy="36576"/>
            </a:xfrm>
            <a:custGeom>
              <a:avLst/>
              <a:gdLst/>
              <a:ahLst/>
              <a:cxnLst/>
              <a:rect r="r" b="b" t="t" l="l"/>
              <a:pathLst>
                <a:path h="36576" w="6771894">
                  <a:moveTo>
                    <a:pt x="0" y="0"/>
                  </a:moveTo>
                  <a:lnTo>
                    <a:pt x="6771894" y="0"/>
                  </a:lnTo>
                  <a:lnTo>
                    <a:pt x="6771894" y="36576"/>
                  </a:lnTo>
                  <a:lnTo>
                    <a:pt x="0" y="36576"/>
                  </a:lnTo>
                  <a:close/>
                </a:path>
              </a:pathLst>
            </a:custGeom>
            <a:solidFill>
              <a:srgbClr val="ECE9E4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1461813" y="6157979"/>
            <a:ext cx="5147520" cy="2352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0"/>
              </a:lnSpc>
            </a:pPr>
            <a:r>
              <a:rPr lang="en-US" sz="165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To hit €2.5M in 2025</a:t>
            </a:r>
          </a:p>
          <a:p>
            <a:pPr algn="l">
              <a:lnSpc>
                <a:spcPts val="1891"/>
              </a:lnSpc>
            </a:pPr>
            <a:r>
              <a:rPr lang="en-US" sz="1501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requires </a:t>
            </a:r>
            <a:r>
              <a:rPr lang="en-US" sz="150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+5.8%</a:t>
            </a:r>
            <a:r>
              <a:rPr lang="en-US" sz="1501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 growth — just above the +5.4% delivered in 2024.</a:t>
            </a:r>
          </a:p>
          <a:p>
            <a:pPr algn="l">
              <a:lnSpc>
                <a:spcPts val="945"/>
              </a:lnSpc>
            </a:pPr>
          </a:p>
          <a:p>
            <a:pPr algn="l">
              <a:lnSpc>
                <a:spcPts val="1891"/>
              </a:lnSpc>
            </a:pPr>
            <a:r>
              <a:rPr lang="en-US" sz="1501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The Online push alone bridges most of that gap.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219627" cy="10295039"/>
            <a:chOff x="0" y="0"/>
            <a:chExt cx="292837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2735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92735">
                  <a:moveTo>
                    <a:pt x="0" y="17526"/>
                  </a:moveTo>
                  <a:cubicBezTo>
                    <a:pt x="0" y="7874"/>
                    <a:pt x="7874" y="0"/>
                    <a:pt x="17526" y="0"/>
                  </a:cubicBezTo>
                  <a:lnTo>
                    <a:pt x="275209" y="0"/>
                  </a:lnTo>
                  <a:cubicBezTo>
                    <a:pt x="284861" y="0"/>
                    <a:pt x="292735" y="7874"/>
                    <a:pt x="292735" y="17526"/>
                  </a:cubicBezTo>
                  <a:lnTo>
                    <a:pt x="292735" y="13709142"/>
                  </a:lnTo>
                  <a:cubicBezTo>
                    <a:pt x="292735" y="13718794"/>
                    <a:pt x="284861" y="13726668"/>
                    <a:pt x="275209" y="13726668"/>
                  </a:cubicBezTo>
                  <a:lnTo>
                    <a:pt x="17526" y="13726668"/>
                  </a:lnTo>
                  <a:cubicBezTo>
                    <a:pt x="7874" y="13726668"/>
                    <a:pt x="0" y="13718794"/>
                    <a:pt x="0" y="1370914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6200000"/>
            </a:gra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8169" cy="1098169"/>
            </a:xfrm>
            <a:custGeom>
              <a:avLst/>
              <a:gdLst/>
              <a:ahLst/>
              <a:cxnLst/>
              <a:rect r="r" b="b" t="t" l="l"/>
              <a:pathLst>
                <a:path h="1098169" w="1098169">
                  <a:moveTo>
                    <a:pt x="0" y="307467"/>
                  </a:moveTo>
                  <a:cubicBezTo>
                    <a:pt x="0" y="137668"/>
                    <a:pt x="137668" y="0"/>
                    <a:pt x="307467" y="0"/>
                  </a:cubicBezTo>
                  <a:lnTo>
                    <a:pt x="790702" y="0"/>
                  </a:lnTo>
                  <a:cubicBezTo>
                    <a:pt x="960501" y="0"/>
                    <a:pt x="1098169" y="137668"/>
                    <a:pt x="1098169" y="307467"/>
                  </a:cubicBezTo>
                  <a:lnTo>
                    <a:pt x="1098169" y="790702"/>
                  </a:lnTo>
                  <a:cubicBezTo>
                    <a:pt x="1098169" y="960501"/>
                    <a:pt x="960501" y="1098169"/>
                    <a:pt x="790702" y="1098169"/>
                  </a:cubicBezTo>
                  <a:lnTo>
                    <a:pt x="307467" y="1098169"/>
                  </a:lnTo>
                  <a:cubicBezTo>
                    <a:pt x="137668" y="1098169"/>
                    <a:pt x="0" y="960501"/>
                    <a:pt x="0" y="79070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8900000"/>
            </a:gra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8138" cy="1098138"/>
            </a:xfrm>
            <a:custGeom>
              <a:avLst/>
              <a:gdLst/>
              <a:ahLst/>
              <a:cxnLst/>
              <a:rect r="r" b="b" t="t" l="l"/>
              <a:pathLst>
                <a:path h="1098138" w="1098138">
                  <a:moveTo>
                    <a:pt x="0" y="0"/>
                  </a:moveTo>
                  <a:lnTo>
                    <a:pt x="1098138" y="0"/>
                  </a:lnTo>
                  <a:lnTo>
                    <a:pt x="1098138" y="1098138"/>
                  </a:lnTo>
                  <a:lnTo>
                    <a:pt x="0" y="1098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098144" cy="1107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€F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811931" y="676808"/>
            <a:ext cx="12354049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RECOMMENDATIONS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11931" y="1070686"/>
            <a:ext cx="14413059" cy="82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3"/>
              </a:lnSpc>
            </a:pPr>
            <a:r>
              <a:rPr lang="en-US" sz="375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Three actions, quantified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472068" y="745446"/>
            <a:ext cx="1235402" cy="558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1"/>
              </a:lnSpc>
            </a:pPr>
            <a:r>
              <a:rPr lang="en-US" sz="1951" b="true">
                <a:solidFill>
                  <a:srgbClr val="C9C4CF"/>
                </a:solidFill>
                <a:latin typeface="Inter Bold"/>
                <a:ea typeface="Inter Bold"/>
                <a:cs typeface="Inter Bold"/>
                <a:sym typeface="Inter Bold"/>
              </a:rPr>
              <a:t>10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811931" y="1949196"/>
            <a:ext cx="14962127" cy="24708"/>
            <a:chOff x="0" y="0"/>
            <a:chExt cx="19949503" cy="3294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49540" cy="32893"/>
            </a:xfrm>
            <a:custGeom>
              <a:avLst/>
              <a:gdLst/>
              <a:ahLst/>
              <a:cxnLst/>
              <a:rect r="r" b="b" t="t" l="l"/>
              <a:pathLst>
                <a:path h="32893" w="19949540">
                  <a:moveTo>
                    <a:pt x="0" y="0"/>
                  </a:moveTo>
                  <a:lnTo>
                    <a:pt x="19949540" y="0"/>
                  </a:lnTo>
                  <a:lnTo>
                    <a:pt x="1994954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ECE9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803349" y="2393594"/>
            <a:ext cx="15116556" cy="1938899"/>
            <a:chOff x="0" y="0"/>
            <a:chExt cx="20155408" cy="258519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0155407" cy="2585212"/>
            </a:xfrm>
            <a:custGeom>
              <a:avLst/>
              <a:gdLst/>
              <a:ahLst/>
              <a:cxnLst/>
              <a:rect r="r" b="b" t="t" l="l"/>
              <a:pathLst>
                <a:path h="2585212" w="20155407">
                  <a:moveTo>
                    <a:pt x="0" y="155067"/>
                  </a:moveTo>
                  <a:cubicBezTo>
                    <a:pt x="0" y="69469"/>
                    <a:pt x="69469" y="0"/>
                    <a:pt x="155067" y="0"/>
                  </a:cubicBezTo>
                  <a:lnTo>
                    <a:pt x="20000340" y="0"/>
                  </a:lnTo>
                  <a:cubicBezTo>
                    <a:pt x="20086065" y="0"/>
                    <a:pt x="20155407" y="69469"/>
                    <a:pt x="20155407" y="155067"/>
                  </a:cubicBezTo>
                  <a:lnTo>
                    <a:pt x="20155407" y="2430145"/>
                  </a:lnTo>
                  <a:cubicBezTo>
                    <a:pt x="20155407" y="2515870"/>
                    <a:pt x="20085938" y="2585212"/>
                    <a:pt x="20000340" y="2585212"/>
                  </a:cubicBezTo>
                  <a:lnTo>
                    <a:pt x="155067" y="2585212"/>
                  </a:lnTo>
                  <a:cubicBezTo>
                    <a:pt x="69469" y="2585212"/>
                    <a:pt x="0" y="2515743"/>
                    <a:pt x="0" y="2430145"/>
                  </a:cubicBezTo>
                  <a:close/>
                </a:path>
              </a:pathLst>
            </a:custGeom>
            <a:solidFill>
              <a:srgbClr val="FFFFFF"/>
            </a:solidFill>
            <a:ln w="17158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811931" y="2402176"/>
            <a:ext cx="123539" cy="1921745"/>
            <a:chOff x="0" y="0"/>
            <a:chExt cx="164719" cy="2562327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64719" cy="2562352"/>
            </a:xfrm>
            <a:custGeom>
              <a:avLst/>
              <a:gdLst/>
              <a:ahLst/>
              <a:cxnLst/>
              <a:rect r="r" b="b" t="t" l="l"/>
              <a:pathLst>
                <a:path h="2562352" w="164719">
                  <a:moveTo>
                    <a:pt x="0" y="0"/>
                  </a:moveTo>
                  <a:lnTo>
                    <a:pt x="164719" y="0"/>
                  </a:lnTo>
                  <a:lnTo>
                    <a:pt x="164719" y="2562352"/>
                  </a:lnTo>
                  <a:lnTo>
                    <a:pt x="0" y="2562352"/>
                  </a:lnTo>
                  <a:close/>
                </a:path>
              </a:pathLst>
            </a:custGeom>
            <a:solidFill>
              <a:srgbClr val="16B364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196274" y="2667191"/>
            <a:ext cx="1235402" cy="1382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 b="true">
                <a:solidFill>
                  <a:srgbClr val="E3E0DB"/>
                </a:solidFill>
                <a:latin typeface="Inter Bold"/>
                <a:ea typeface="Inter Bold"/>
                <a:cs typeface="Inter Bold"/>
                <a:sym typeface="Inter Bold"/>
              </a:rPr>
              <a:t>01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3500314" y="2704167"/>
            <a:ext cx="1853108" cy="466706"/>
            <a:chOff x="0" y="0"/>
            <a:chExt cx="2470810" cy="62227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470785" cy="622300"/>
            </a:xfrm>
            <a:custGeom>
              <a:avLst/>
              <a:gdLst/>
              <a:ahLst/>
              <a:cxnLst/>
              <a:rect r="r" b="b" t="t" l="l"/>
              <a:pathLst>
                <a:path h="622300" w="2470785">
                  <a:moveTo>
                    <a:pt x="0" y="311150"/>
                  </a:moveTo>
                  <a:cubicBezTo>
                    <a:pt x="0" y="139319"/>
                    <a:pt x="139319" y="0"/>
                    <a:pt x="311150" y="0"/>
                  </a:cubicBezTo>
                  <a:lnTo>
                    <a:pt x="2159635" y="0"/>
                  </a:lnTo>
                  <a:cubicBezTo>
                    <a:pt x="2331466" y="0"/>
                    <a:pt x="2470785" y="139319"/>
                    <a:pt x="2470785" y="311150"/>
                  </a:cubicBezTo>
                  <a:cubicBezTo>
                    <a:pt x="2470785" y="482981"/>
                    <a:pt x="2331466" y="622300"/>
                    <a:pt x="2159635" y="622300"/>
                  </a:cubicBezTo>
                  <a:lnTo>
                    <a:pt x="311150" y="622300"/>
                  </a:lnTo>
                  <a:cubicBezTo>
                    <a:pt x="139319" y="622300"/>
                    <a:pt x="0" y="482981"/>
                    <a:pt x="0" y="311150"/>
                  </a:cubicBezTo>
                  <a:close/>
                </a:path>
              </a:pathLst>
            </a:custGeom>
            <a:solidFill>
              <a:srgbClr val="16B364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3500314" y="2731618"/>
            <a:ext cx="1853108" cy="411804"/>
            <a:chOff x="0" y="0"/>
            <a:chExt cx="2470810" cy="54907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470810" cy="549069"/>
            </a:xfrm>
            <a:custGeom>
              <a:avLst/>
              <a:gdLst/>
              <a:ahLst/>
              <a:cxnLst/>
              <a:rect r="r" b="b" t="t" l="l"/>
              <a:pathLst>
                <a:path h="549069" w="2470810">
                  <a:moveTo>
                    <a:pt x="0" y="0"/>
                  </a:moveTo>
                  <a:lnTo>
                    <a:pt x="2470810" y="0"/>
                  </a:lnTo>
                  <a:lnTo>
                    <a:pt x="2470810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682" r="0" b="-37682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2470810" cy="5585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11"/>
                </a:lnSpc>
              </a:pPr>
              <a:r>
                <a:rPr lang="en-US" sz="1426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ACT NOW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3500314" y="3298612"/>
            <a:ext cx="6863363" cy="8331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Re-baseline the 2025 budget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627951" y="2676716"/>
            <a:ext cx="6177029" cy="1441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Rebuild plan volumes on the actual run-rate, not the +5% top-down assumption that missed every cell.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1932720" y="2804446"/>
            <a:ext cx="4686148" cy="1117206"/>
            <a:chOff x="0" y="0"/>
            <a:chExt cx="6248197" cy="148960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248273" cy="1489583"/>
            </a:xfrm>
            <a:custGeom>
              <a:avLst/>
              <a:gdLst/>
              <a:ahLst/>
              <a:cxnLst/>
              <a:rect r="r" b="b" t="t" l="l"/>
              <a:pathLst>
                <a:path h="1489583" w="6248273">
                  <a:moveTo>
                    <a:pt x="0" y="89408"/>
                  </a:moveTo>
                  <a:cubicBezTo>
                    <a:pt x="0" y="40005"/>
                    <a:pt x="40005" y="0"/>
                    <a:pt x="89408" y="0"/>
                  </a:cubicBezTo>
                  <a:lnTo>
                    <a:pt x="6158865" y="0"/>
                  </a:lnTo>
                  <a:cubicBezTo>
                    <a:pt x="6208268" y="0"/>
                    <a:pt x="6248273" y="40005"/>
                    <a:pt x="6248273" y="89408"/>
                  </a:cubicBezTo>
                  <a:lnTo>
                    <a:pt x="6248273" y="1400175"/>
                  </a:lnTo>
                  <a:cubicBezTo>
                    <a:pt x="6248273" y="1449578"/>
                    <a:pt x="6208268" y="1489583"/>
                    <a:pt x="6158865" y="1489583"/>
                  </a:cubicBezTo>
                  <a:lnTo>
                    <a:pt x="89408" y="1489583"/>
                  </a:lnTo>
                  <a:cubicBezTo>
                    <a:pt x="40005" y="1489583"/>
                    <a:pt x="0" y="1449578"/>
                    <a:pt x="0" y="1400175"/>
                  </a:cubicBezTo>
                  <a:close/>
                </a:path>
              </a:pathLst>
            </a:custGeom>
            <a:solidFill>
              <a:srgbClr val="FBFAF9"/>
            </a:solidFill>
            <a:ln w="19065" cap="sq">
              <a:solidFill>
                <a:srgbClr val="16B364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12148147" y="2867768"/>
            <a:ext cx="4255284" cy="9894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 b="true">
                <a:solidFill>
                  <a:srgbClr val="16B36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▲ IMPACT  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1A1625"/>
                </a:solidFill>
                <a:latin typeface="Inter"/>
                <a:ea typeface="Inter"/>
                <a:cs typeface="Inter"/>
                <a:sym typeface="Inter"/>
              </a:rPr>
              <a:t>Removes the chronic ≈€115k/yr unfavourable variance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803349" y="4521241"/>
            <a:ext cx="15116556" cy="1938899"/>
            <a:chOff x="0" y="0"/>
            <a:chExt cx="20155408" cy="258519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0155407" cy="2585212"/>
            </a:xfrm>
            <a:custGeom>
              <a:avLst/>
              <a:gdLst/>
              <a:ahLst/>
              <a:cxnLst/>
              <a:rect r="r" b="b" t="t" l="l"/>
              <a:pathLst>
                <a:path h="2585212" w="20155407">
                  <a:moveTo>
                    <a:pt x="0" y="155067"/>
                  </a:moveTo>
                  <a:cubicBezTo>
                    <a:pt x="0" y="69469"/>
                    <a:pt x="69469" y="0"/>
                    <a:pt x="155067" y="0"/>
                  </a:cubicBezTo>
                  <a:lnTo>
                    <a:pt x="20000340" y="0"/>
                  </a:lnTo>
                  <a:cubicBezTo>
                    <a:pt x="20086065" y="0"/>
                    <a:pt x="20155407" y="69469"/>
                    <a:pt x="20155407" y="155067"/>
                  </a:cubicBezTo>
                  <a:lnTo>
                    <a:pt x="20155407" y="2430145"/>
                  </a:lnTo>
                  <a:cubicBezTo>
                    <a:pt x="20155407" y="2515870"/>
                    <a:pt x="20085938" y="2585212"/>
                    <a:pt x="20000340" y="2585212"/>
                  </a:cubicBezTo>
                  <a:lnTo>
                    <a:pt x="155067" y="2585212"/>
                  </a:lnTo>
                  <a:cubicBezTo>
                    <a:pt x="69469" y="2585212"/>
                    <a:pt x="0" y="2515743"/>
                    <a:pt x="0" y="2430145"/>
                  </a:cubicBezTo>
                  <a:close/>
                </a:path>
              </a:pathLst>
            </a:custGeom>
            <a:solidFill>
              <a:srgbClr val="FFFFFF"/>
            </a:solidFill>
            <a:ln w="17158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1811931" y="4529823"/>
            <a:ext cx="123539" cy="1921745"/>
            <a:chOff x="0" y="0"/>
            <a:chExt cx="164719" cy="2562327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64719" cy="2562352"/>
            </a:xfrm>
            <a:custGeom>
              <a:avLst/>
              <a:gdLst/>
              <a:ahLst/>
              <a:cxnLst/>
              <a:rect r="r" b="b" t="t" l="l"/>
              <a:pathLst>
                <a:path h="2562352" w="164719">
                  <a:moveTo>
                    <a:pt x="0" y="0"/>
                  </a:moveTo>
                  <a:lnTo>
                    <a:pt x="164719" y="0"/>
                  </a:lnTo>
                  <a:lnTo>
                    <a:pt x="164719" y="2562352"/>
                  </a:lnTo>
                  <a:lnTo>
                    <a:pt x="0" y="2562352"/>
                  </a:lnTo>
                  <a:close/>
                </a:path>
              </a:pathLst>
            </a:custGeom>
            <a:solidFill>
              <a:srgbClr val="06B6D4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2196274" y="4794828"/>
            <a:ext cx="1235402" cy="1382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 b="true">
                <a:solidFill>
                  <a:srgbClr val="E3E0DB"/>
                </a:solidFill>
                <a:latin typeface="Inter Bold"/>
                <a:ea typeface="Inter Bold"/>
                <a:cs typeface="Inter Bold"/>
                <a:sym typeface="Inter Bold"/>
              </a:rPr>
              <a:t>02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3500314" y="4831804"/>
            <a:ext cx="1853108" cy="466706"/>
            <a:chOff x="0" y="0"/>
            <a:chExt cx="2470810" cy="622275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470785" cy="622300"/>
            </a:xfrm>
            <a:custGeom>
              <a:avLst/>
              <a:gdLst/>
              <a:ahLst/>
              <a:cxnLst/>
              <a:rect r="r" b="b" t="t" l="l"/>
              <a:pathLst>
                <a:path h="622300" w="2470785">
                  <a:moveTo>
                    <a:pt x="0" y="311150"/>
                  </a:moveTo>
                  <a:cubicBezTo>
                    <a:pt x="0" y="139319"/>
                    <a:pt x="139319" y="0"/>
                    <a:pt x="311150" y="0"/>
                  </a:cubicBezTo>
                  <a:lnTo>
                    <a:pt x="2159635" y="0"/>
                  </a:lnTo>
                  <a:cubicBezTo>
                    <a:pt x="2331466" y="0"/>
                    <a:pt x="2470785" y="139319"/>
                    <a:pt x="2470785" y="311150"/>
                  </a:cubicBezTo>
                  <a:cubicBezTo>
                    <a:pt x="2470785" y="482981"/>
                    <a:pt x="2331466" y="622300"/>
                    <a:pt x="2159635" y="622300"/>
                  </a:cubicBezTo>
                  <a:lnTo>
                    <a:pt x="311150" y="622300"/>
                  </a:lnTo>
                  <a:cubicBezTo>
                    <a:pt x="139319" y="622300"/>
                    <a:pt x="0" y="482981"/>
                    <a:pt x="0" y="311150"/>
                  </a:cubicBezTo>
                  <a:close/>
                </a:path>
              </a:pathLst>
            </a:custGeom>
            <a:solidFill>
              <a:srgbClr val="06B6D4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3500314" y="4859264"/>
            <a:ext cx="1853108" cy="411804"/>
            <a:chOff x="0" y="0"/>
            <a:chExt cx="2470810" cy="549072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470810" cy="549069"/>
            </a:xfrm>
            <a:custGeom>
              <a:avLst/>
              <a:gdLst/>
              <a:ahLst/>
              <a:cxnLst/>
              <a:rect r="r" b="b" t="t" l="l"/>
              <a:pathLst>
                <a:path h="549069" w="2470810">
                  <a:moveTo>
                    <a:pt x="0" y="0"/>
                  </a:moveTo>
                  <a:lnTo>
                    <a:pt x="2470810" y="0"/>
                  </a:lnTo>
                  <a:lnTo>
                    <a:pt x="2470810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682" r="0" b="-37682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2470810" cy="5585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11"/>
                </a:lnSpc>
              </a:pPr>
              <a:r>
                <a:rPr lang="en-US" sz="1426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GROW</a:t>
              </a: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3500314" y="5426259"/>
            <a:ext cx="6863363" cy="8331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Push Supermarket &amp; fix Online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5627951" y="4804353"/>
            <a:ext cx="6177029" cy="1441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Reinvest behind the fastest channel and rehabilitate Online with promo &amp; assortment.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1932720" y="4932083"/>
            <a:ext cx="4686148" cy="1117206"/>
            <a:chOff x="0" y="0"/>
            <a:chExt cx="6248197" cy="148960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248273" cy="1489583"/>
            </a:xfrm>
            <a:custGeom>
              <a:avLst/>
              <a:gdLst/>
              <a:ahLst/>
              <a:cxnLst/>
              <a:rect r="r" b="b" t="t" l="l"/>
              <a:pathLst>
                <a:path h="1489583" w="6248273">
                  <a:moveTo>
                    <a:pt x="0" y="89408"/>
                  </a:moveTo>
                  <a:cubicBezTo>
                    <a:pt x="0" y="40005"/>
                    <a:pt x="40005" y="0"/>
                    <a:pt x="89408" y="0"/>
                  </a:cubicBezTo>
                  <a:lnTo>
                    <a:pt x="6158865" y="0"/>
                  </a:lnTo>
                  <a:cubicBezTo>
                    <a:pt x="6208268" y="0"/>
                    <a:pt x="6248273" y="40005"/>
                    <a:pt x="6248273" y="89408"/>
                  </a:cubicBezTo>
                  <a:lnTo>
                    <a:pt x="6248273" y="1400175"/>
                  </a:lnTo>
                  <a:cubicBezTo>
                    <a:pt x="6248273" y="1449578"/>
                    <a:pt x="6208268" y="1489583"/>
                    <a:pt x="6158865" y="1489583"/>
                  </a:cubicBezTo>
                  <a:lnTo>
                    <a:pt x="89408" y="1489583"/>
                  </a:lnTo>
                  <a:cubicBezTo>
                    <a:pt x="40005" y="1489583"/>
                    <a:pt x="0" y="1449578"/>
                    <a:pt x="0" y="1400175"/>
                  </a:cubicBezTo>
                  <a:close/>
                </a:path>
              </a:pathLst>
            </a:custGeom>
            <a:solidFill>
              <a:srgbClr val="FBFAF9"/>
            </a:solidFill>
            <a:ln w="19065" cap="sq">
              <a:solidFill>
                <a:srgbClr val="06B6D4"/>
              </a:solidFill>
              <a:prstDash val="solid"/>
              <a:miter/>
            </a:ln>
          </p:spPr>
        </p:sp>
      </p:grpSp>
      <p:sp>
        <p:nvSpPr>
          <p:cNvPr name="TextBox 45" id="45"/>
          <p:cNvSpPr txBox="true"/>
          <p:nvPr/>
        </p:nvSpPr>
        <p:spPr>
          <a:xfrm rot="0">
            <a:off x="12148147" y="4995405"/>
            <a:ext cx="4255284" cy="9894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▲ IMPACT  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1A1625"/>
                </a:solidFill>
                <a:latin typeface="Inter"/>
                <a:ea typeface="Inter"/>
                <a:cs typeface="Inter"/>
                <a:sym typeface="Inter"/>
              </a:rPr>
              <a:t>Online +20% nets +€68k (+2.9%) — covers the gap to €2.5M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1803349" y="6648879"/>
            <a:ext cx="15116556" cy="1938899"/>
            <a:chOff x="0" y="0"/>
            <a:chExt cx="20155408" cy="2585199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0155407" cy="2585212"/>
            </a:xfrm>
            <a:custGeom>
              <a:avLst/>
              <a:gdLst/>
              <a:ahLst/>
              <a:cxnLst/>
              <a:rect r="r" b="b" t="t" l="l"/>
              <a:pathLst>
                <a:path h="2585212" w="20155407">
                  <a:moveTo>
                    <a:pt x="0" y="155067"/>
                  </a:moveTo>
                  <a:cubicBezTo>
                    <a:pt x="0" y="69469"/>
                    <a:pt x="69469" y="0"/>
                    <a:pt x="155067" y="0"/>
                  </a:cubicBezTo>
                  <a:lnTo>
                    <a:pt x="20000340" y="0"/>
                  </a:lnTo>
                  <a:cubicBezTo>
                    <a:pt x="20086065" y="0"/>
                    <a:pt x="20155407" y="69469"/>
                    <a:pt x="20155407" y="155067"/>
                  </a:cubicBezTo>
                  <a:lnTo>
                    <a:pt x="20155407" y="2430145"/>
                  </a:lnTo>
                  <a:cubicBezTo>
                    <a:pt x="20155407" y="2515870"/>
                    <a:pt x="20085938" y="2585212"/>
                    <a:pt x="20000340" y="2585212"/>
                  </a:cubicBezTo>
                  <a:lnTo>
                    <a:pt x="155067" y="2585212"/>
                  </a:lnTo>
                  <a:cubicBezTo>
                    <a:pt x="69469" y="2585212"/>
                    <a:pt x="0" y="2515743"/>
                    <a:pt x="0" y="2430145"/>
                  </a:cubicBezTo>
                  <a:close/>
                </a:path>
              </a:pathLst>
            </a:custGeom>
            <a:solidFill>
              <a:srgbClr val="FFFFFF"/>
            </a:solidFill>
            <a:ln w="17158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1811931" y="6657461"/>
            <a:ext cx="123539" cy="1921745"/>
            <a:chOff x="0" y="0"/>
            <a:chExt cx="164719" cy="2562327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64719" cy="2562352"/>
            </a:xfrm>
            <a:custGeom>
              <a:avLst/>
              <a:gdLst/>
              <a:ahLst/>
              <a:cxnLst/>
              <a:rect r="r" b="b" t="t" l="l"/>
              <a:pathLst>
                <a:path h="2562352" w="164719">
                  <a:moveTo>
                    <a:pt x="0" y="0"/>
                  </a:moveTo>
                  <a:lnTo>
                    <a:pt x="164719" y="0"/>
                  </a:lnTo>
                  <a:lnTo>
                    <a:pt x="164719" y="2562352"/>
                  </a:lnTo>
                  <a:lnTo>
                    <a:pt x="0" y="2562352"/>
                  </a:lnTo>
                  <a:close/>
                </a:path>
              </a:pathLst>
            </a:custGeom>
            <a:solidFill>
              <a:srgbClr val="FF9E2C"/>
            </a:solid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2196274" y="6922475"/>
            <a:ext cx="1235402" cy="1382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 b="true">
                <a:solidFill>
                  <a:srgbClr val="E3E0DB"/>
                </a:solidFill>
                <a:latin typeface="Inter Bold"/>
                <a:ea typeface="Inter Bold"/>
                <a:cs typeface="Inter Bold"/>
                <a:sym typeface="Inter Bold"/>
              </a:rPr>
              <a:t>03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3500314" y="6959451"/>
            <a:ext cx="1853108" cy="466706"/>
            <a:chOff x="0" y="0"/>
            <a:chExt cx="2470810" cy="622275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470785" cy="622300"/>
            </a:xfrm>
            <a:custGeom>
              <a:avLst/>
              <a:gdLst/>
              <a:ahLst/>
              <a:cxnLst/>
              <a:rect r="r" b="b" t="t" l="l"/>
              <a:pathLst>
                <a:path h="622300" w="2470785">
                  <a:moveTo>
                    <a:pt x="0" y="311150"/>
                  </a:moveTo>
                  <a:cubicBezTo>
                    <a:pt x="0" y="139319"/>
                    <a:pt x="139319" y="0"/>
                    <a:pt x="311150" y="0"/>
                  </a:cubicBezTo>
                  <a:lnTo>
                    <a:pt x="2159635" y="0"/>
                  </a:lnTo>
                  <a:cubicBezTo>
                    <a:pt x="2331466" y="0"/>
                    <a:pt x="2470785" y="139319"/>
                    <a:pt x="2470785" y="311150"/>
                  </a:cubicBezTo>
                  <a:cubicBezTo>
                    <a:pt x="2470785" y="482981"/>
                    <a:pt x="2331466" y="622300"/>
                    <a:pt x="2159635" y="622300"/>
                  </a:cubicBezTo>
                  <a:lnTo>
                    <a:pt x="311150" y="622300"/>
                  </a:lnTo>
                  <a:cubicBezTo>
                    <a:pt x="139319" y="622300"/>
                    <a:pt x="0" y="482981"/>
                    <a:pt x="0" y="311150"/>
                  </a:cubicBezTo>
                  <a:close/>
                </a:path>
              </a:pathLst>
            </a:custGeom>
            <a:solidFill>
              <a:srgbClr val="FF9E2C"/>
            </a:solid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3500314" y="6986902"/>
            <a:ext cx="1853108" cy="411804"/>
            <a:chOff x="0" y="0"/>
            <a:chExt cx="2470810" cy="54907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470810" cy="549069"/>
            </a:xfrm>
            <a:custGeom>
              <a:avLst/>
              <a:gdLst/>
              <a:ahLst/>
              <a:cxnLst/>
              <a:rect r="r" b="b" t="t" l="l"/>
              <a:pathLst>
                <a:path h="549069" w="2470810">
                  <a:moveTo>
                    <a:pt x="0" y="0"/>
                  </a:moveTo>
                  <a:lnTo>
                    <a:pt x="2470810" y="0"/>
                  </a:lnTo>
                  <a:lnTo>
                    <a:pt x="2470810" y="549069"/>
                  </a:lnTo>
                  <a:lnTo>
                    <a:pt x="0" y="54906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682" r="0" b="-37682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9525"/>
              <a:ext cx="2470810" cy="5585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11"/>
                </a:lnSpc>
              </a:pPr>
              <a:r>
                <a:rPr lang="en-US" sz="1426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PROTECT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3500314" y="7553896"/>
            <a:ext cx="6863363" cy="8331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Fix Frozen margin &amp; hedge GBP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5627951" y="6932000"/>
            <a:ext cx="6177029" cy="1441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Renegotiate Frozen sourcing to the 35% target; hedge sterling on the 27%-of-revenue UK book.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11932720" y="7059730"/>
            <a:ext cx="4686148" cy="1117206"/>
            <a:chOff x="0" y="0"/>
            <a:chExt cx="6248197" cy="1489608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248273" cy="1489583"/>
            </a:xfrm>
            <a:custGeom>
              <a:avLst/>
              <a:gdLst/>
              <a:ahLst/>
              <a:cxnLst/>
              <a:rect r="r" b="b" t="t" l="l"/>
              <a:pathLst>
                <a:path h="1489583" w="6248273">
                  <a:moveTo>
                    <a:pt x="0" y="89408"/>
                  </a:moveTo>
                  <a:cubicBezTo>
                    <a:pt x="0" y="40005"/>
                    <a:pt x="40005" y="0"/>
                    <a:pt x="89408" y="0"/>
                  </a:cubicBezTo>
                  <a:lnTo>
                    <a:pt x="6158865" y="0"/>
                  </a:lnTo>
                  <a:cubicBezTo>
                    <a:pt x="6208268" y="0"/>
                    <a:pt x="6248273" y="40005"/>
                    <a:pt x="6248273" y="89408"/>
                  </a:cubicBezTo>
                  <a:lnTo>
                    <a:pt x="6248273" y="1400175"/>
                  </a:lnTo>
                  <a:cubicBezTo>
                    <a:pt x="6248273" y="1449578"/>
                    <a:pt x="6208268" y="1489583"/>
                    <a:pt x="6158865" y="1489583"/>
                  </a:cubicBezTo>
                  <a:lnTo>
                    <a:pt x="89408" y="1489583"/>
                  </a:lnTo>
                  <a:cubicBezTo>
                    <a:pt x="40005" y="1489583"/>
                    <a:pt x="0" y="1449578"/>
                    <a:pt x="0" y="1400175"/>
                  </a:cubicBezTo>
                  <a:close/>
                </a:path>
              </a:pathLst>
            </a:custGeom>
            <a:solidFill>
              <a:srgbClr val="FBFAF9"/>
            </a:solidFill>
            <a:ln w="19065" cap="sq">
              <a:solidFill>
                <a:srgbClr val="FF9E2C"/>
              </a:solidFill>
              <a:prstDash val="solid"/>
              <a:miter/>
            </a:ln>
          </p:spPr>
        </p:sp>
      </p:grpSp>
      <p:sp>
        <p:nvSpPr>
          <p:cNvPr name="TextBox 60" id="60"/>
          <p:cNvSpPr txBox="true"/>
          <p:nvPr/>
        </p:nvSpPr>
        <p:spPr>
          <a:xfrm rot="0">
            <a:off x="12148147" y="7123052"/>
            <a:ext cx="4255284" cy="9894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 b="true">
                <a:solidFill>
                  <a:srgbClr val="FF9E2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▲ IMPACT  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1A1625"/>
                </a:solidFill>
                <a:latin typeface="Inter"/>
                <a:ea typeface="Inter"/>
                <a:cs typeface="Inter"/>
                <a:sym typeface="Inter"/>
              </a:rPr>
              <a:t>+2pp on €1.42M ≈ +€28k GM; caps a ~6% FX swing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219627" cy="10295039"/>
            <a:chOff x="0" y="0"/>
            <a:chExt cx="292837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92735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92735">
                  <a:moveTo>
                    <a:pt x="0" y="17526"/>
                  </a:moveTo>
                  <a:cubicBezTo>
                    <a:pt x="0" y="7874"/>
                    <a:pt x="7874" y="0"/>
                    <a:pt x="17526" y="0"/>
                  </a:cubicBezTo>
                  <a:lnTo>
                    <a:pt x="275209" y="0"/>
                  </a:lnTo>
                  <a:cubicBezTo>
                    <a:pt x="284861" y="0"/>
                    <a:pt x="292735" y="7874"/>
                    <a:pt x="292735" y="17526"/>
                  </a:cubicBezTo>
                  <a:lnTo>
                    <a:pt x="292735" y="13709142"/>
                  </a:lnTo>
                  <a:cubicBezTo>
                    <a:pt x="292735" y="13718794"/>
                    <a:pt x="284861" y="13726668"/>
                    <a:pt x="275209" y="13726668"/>
                  </a:cubicBezTo>
                  <a:lnTo>
                    <a:pt x="17526" y="13726668"/>
                  </a:lnTo>
                  <a:cubicBezTo>
                    <a:pt x="7874" y="13726668"/>
                    <a:pt x="0" y="13718794"/>
                    <a:pt x="0" y="1370914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6200000"/>
            </a:grad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8169" cy="1098169"/>
            </a:xfrm>
            <a:custGeom>
              <a:avLst/>
              <a:gdLst/>
              <a:ahLst/>
              <a:cxnLst/>
              <a:rect r="r" b="b" t="t" l="l"/>
              <a:pathLst>
                <a:path h="1098169" w="1098169">
                  <a:moveTo>
                    <a:pt x="0" y="307467"/>
                  </a:moveTo>
                  <a:cubicBezTo>
                    <a:pt x="0" y="137668"/>
                    <a:pt x="137668" y="0"/>
                    <a:pt x="307467" y="0"/>
                  </a:cubicBezTo>
                  <a:lnTo>
                    <a:pt x="790702" y="0"/>
                  </a:lnTo>
                  <a:cubicBezTo>
                    <a:pt x="960501" y="0"/>
                    <a:pt x="1098169" y="137668"/>
                    <a:pt x="1098169" y="307467"/>
                  </a:cubicBezTo>
                  <a:lnTo>
                    <a:pt x="1098169" y="790702"/>
                  </a:lnTo>
                  <a:cubicBezTo>
                    <a:pt x="1098169" y="960501"/>
                    <a:pt x="960501" y="1098169"/>
                    <a:pt x="790702" y="1098169"/>
                  </a:cubicBezTo>
                  <a:lnTo>
                    <a:pt x="307467" y="1098169"/>
                  </a:lnTo>
                  <a:cubicBezTo>
                    <a:pt x="137668" y="1098169"/>
                    <a:pt x="0" y="960501"/>
                    <a:pt x="0" y="79070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4D8D">
                    <a:alpha val="100000"/>
                  </a:srgbClr>
                </a:gs>
                <a:gs pos="100000">
                  <a:srgbClr val="FF7A45">
                    <a:alpha val="100000"/>
                  </a:srgbClr>
                </a:gs>
              </a:gsLst>
              <a:lin ang="18900000"/>
            </a:gra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54971" y="686333"/>
            <a:ext cx="823608" cy="823608"/>
            <a:chOff x="0" y="0"/>
            <a:chExt cx="1098144" cy="109814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8138" cy="1098138"/>
            </a:xfrm>
            <a:custGeom>
              <a:avLst/>
              <a:gdLst/>
              <a:ahLst/>
              <a:cxnLst/>
              <a:rect r="r" b="b" t="t" l="l"/>
              <a:pathLst>
                <a:path h="1098138" w="1098138">
                  <a:moveTo>
                    <a:pt x="0" y="0"/>
                  </a:moveTo>
                  <a:lnTo>
                    <a:pt x="1098138" y="0"/>
                  </a:lnTo>
                  <a:lnTo>
                    <a:pt x="1098138" y="1098138"/>
                  </a:lnTo>
                  <a:lnTo>
                    <a:pt x="0" y="10981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098144" cy="11076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2"/>
                </a:lnSpc>
              </a:pPr>
              <a:r>
                <a:rPr lang="en-US" sz="2251" b="true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€F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811931" y="676808"/>
            <a:ext cx="12354049" cy="421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7490"/>
                </a:solidFill>
                <a:latin typeface="Inter Bold"/>
                <a:ea typeface="Inter Bold"/>
                <a:cs typeface="Inter Bold"/>
                <a:sym typeface="Inter Bold"/>
              </a:rPr>
              <a:t>RISKS &amp; CLOSE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11931" y="1070686"/>
            <a:ext cx="14413059" cy="82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3"/>
              </a:lnSpc>
            </a:pPr>
            <a:r>
              <a:rPr lang="en-US" sz="375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What could go wrong — and the bottom line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472068" y="745446"/>
            <a:ext cx="1235402" cy="558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41"/>
              </a:lnSpc>
            </a:pPr>
            <a:r>
              <a:rPr lang="en-US" sz="1951" b="true">
                <a:solidFill>
                  <a:srgbClr val="C9C4CF"/>
                </a:solidFill>
                <a:latin typeface="Inter Bold"/>
                <a:ea typeface="Inter Bold"/>
                <a:cs typeface="Inter Bold"/>
                <a:sym typeface="Inter Bold"/>
              </a:rPr>
              <a:t>11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811931" y="1949196"/>
            <a:ext cx="14962127" cy="24708"/>
            <a:chOff x="0" y="0"/>
            <a:chExt cx="19949503" cy="3294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949540" cy="32893"/>
            </a:xfrm>
            <a:custGeom>
              <a:avLst/>
              <a:gdLst/>
              <a:ahLst/>
              <a:cxnLst/>
              <a:rect r="r" b="b" t="t" l="l"/>
              <a:pathLst>
                <a:path h="32893" w="19949540">
                  <a:moveTo>
                    <a:pt x="0" y="0"/>
                  </a:moveTo>
                  <a:lnTo>
                    <a:pt x="19949540" y="0"/>
                  </a:lnTo>
                  <a:lnTo>
                    <a:pt x="19949540" y="32893"/>
                  </a:lnTo>
                  <a:lnTo>
                    <a:pt x="0" y="32893"/>
                  </a:lnTo>
                  <a:close/>
                </a:path>
              </a:pathLst>
            </a:custGeom>
            <a:solidFill>
              <a:srgbClr val="ECE9E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804778" y="2463660"/>
            <a:ext cx="8250336" cy="1277160"/>
            <a:chOff x="0" y="0"/>
            <a:chExt cx="11000448" cy="17028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000486" cy="1702943"/>
            </a:xfrm>
            <a:custGeom>
              <a:avLst/>
              <a:gdLst/>
              <a:ahLst/>
              <a:cxnLst/>
              <a:rect r="r" b="b" t="t" l="l"/>
              <a:pathLst>
                <a:path h="1702943" w="11000486">
                  <a:moveTo>
                    <a:pt x="0" y="102235"/>
                  </a:moveTo>
                  <a:cubicBezTo>
                    <a:pt x="0" y="45720"/>
                    <a:pt x="45720" y="0"/>
                    <a:pt x="102235" y="0"/>
                  </a:cubicBezTo>
                  <a:lnTo>
                    <a:pt x="10898251" y="0"/>
                  </a:lnTo>
                  <a:cubicBezTo>
                    <a:pt x="10954639" y="0"/>
                    <a:pt x="11000486" y="45720"/>
                    <a:pt x="11000486" y="102235"/>
                  </a:cubicBezTo>
                  <a:lnTo>
                    <a:pt x="11000486" y="1600708"/>
                  </a:lnTo>
                  <a:cubicBezTo>
                    <a:pt x="11000486" y="1657096"/>
                    <a:pt x="10954766" y="1702943"/>
                    <a:pt x="10898251" y="1702943"/>
                  </a:cubicBezTo>
                  <a:lnTo>
                    <a:pt x="102235" y="1702943"/>
                  </a:lnTo>
                  <a:cubicBezTo>
                    <a:pt x="45847" y="1702943"/>
                    <a:pt x="0" y="1657223"/>
                    <a:pt x="0" y="1600708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811931" y="2470814"/>
            <a:ext cx="137265" cy="1262863"/>
            <a:chOff x="0" y="0"/>
            <a:chExt cx="183020" cy="1683817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83007" cy="1683766"/>
            </a:xfrm>
            <a:custGeom>
              <a:avLst/>
              <a:gdLst/>
              <a:ahLst/>
              <a:cxnLst/>
              <a:rect r="r" b="b" t="t" l="l"/>
              <a:pathLst>
                <a:path h="1683766" w="183007">
                  <a:moveTo>
                    <a:pt x="0" y="0"/>
                  </a:moveTo>
                  <a:lnTo>
                    <a:pt x="183007" y="0"/>
                  </a:lnTo>
                  <a:lnTo>
                    <a:pt x="183007" y="1683766"/>
                  </a:lnTo>
                  <a:lnTo>
                    <a:pt x="0" y="1683766"/>
                  </a:lnTo>
                  <a:close/>
                </a:path>
              </a:pathLst>
            </a:custGeom>
            <a:solidFill>
              <a:srgbClr val="F0384B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168823" y="2635529"/>
            <a:ext cx="7686961" cy="4118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1"/>
              </a:lnSpc>
            </a:pPr>
            <a:r>
              <a:rPr lang="en-US" sz="1726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Budget premise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168823" y="3010357"/>
            <a:ext cx="7686961" cy="695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Assumes the uniform 5% gap is planning optimism, not demand erosion. Monitor the volume trend monthly.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804778" y="3904964"/>
            <a:ext cx="8250336" cy="1277160"/>
            <a:chOff x="0" y="0"/>
            <a:chExt cx="11000448" cy="17028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1000486" cy="1702943"/>
            </a:xfrm>
            <a:custGeom>
              <a:avLst/>
              <a:gdLst/>
              <a:ahLst/>
              <a:cxnLst/>
              <a:rect r="r" b="b" t="t" l="l"/>
              <a:pathLst>
                <a:path h="1702943" w="11000486">
                  <a:moveTo>
                    <a:pt x="0" y="102235"/>
                  </a:moveTo>
                  <a:cubicBezTo>
                    <a:pt x="0" y="45720"/>
                    <a:pt x="45720" y="0"/>
                    <a:pt x="102235" y="0"/>
                  </a:cubicBezTo>
                  <a:lnTo>
                    <a:pt x="10898251" y="0"/>
                  </a:lnTo>
                  <a:cubicBezTo>
                    <a:pt x="10954639" y="0"/>
                    <a:pt x="11000486" y="45720"/>
                    <a:pt x="11000486" y="102235"/>
                  </a:cubicBezTo>
                  <a:lnTo>
                    <a:pt x="11000486" y="1600708"/>
                  </a:lnTo>
                  <a:cubicBezTo>
                    <a:pt x="11000486" y="1657096"/>
                    <a:pt x="10954766" y="1702943"/>
                    <a:pt x="10898251" y="1702943"/>
                  </a:cubicBezTo>
                  <a:lnTo>
                    <a:pt x="102235" y="1702943"/>
                  </a:lnTo>
                  <a:cubicBezTo>
                    <a:pt x="45847" y="1702943"/>
                    <a:pt x="0" y="1657223"/>
                    <a:pt x="0" y="1600708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811931" y="3912118"/>
            <a:ext cx="137265" cy="1262863"/>
            <a:chOff x="0" y="0"/>
            <a:chExt cx="183020" cy="1683817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83007" cy="1683766"/>
            </a:xfrm>
            <a:custGeom>
              <a:avLst/>
              <a:gdLst/>
              <a:ahLst/>
              <a:cxnLst/>
              <a:rect r="r" b="b" t="t" l="l"/>
              <a:pathLst>
                <a:path h="1683766" w="183007">
                  <a:moveTo>
                    <a:pt x="0" y="0"/>
                  </a:moveTo>
                  <a:lnTo>
                    <a:pt x="183007" y="0"/>
                  </a:lnTo>
                  <a:lnTo>
                    <a:pt x="183007" y="1683766"/>
                  </a:lnTo>
                  <a:lnTo>
                    <a:pt x="0" y="1683766"/>
                  </a:lnTo>
                  <a:close/>
                </a:path>
              </a:pathLst>
            </a:custGeom>
            <a:solidFill>
              <a:srgbClr val="FF9E2C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2168823" y="4076833"/>
            <a:ext cx="7686961" cy="4118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1"/>
              </a:lnSpc>
            </a:pPr>
            <a:r>
              <a:rPr lang="en-US" sz="1726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Scenario independence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168823" y="4451661"/>
            <a:ext cx="7686961" cy="695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The +€68k uplift treats segments as independent; real Online/Convenience cannibalisation would reduce it.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804778" y="5346278"/>
            <a:ext cx="8250336" cy="1277160"/>
            <a:chOff x="0" y="0"/>
            <a:chExt cx="11000448" cy="17028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000486" cy="1702943"/>
            </a:xfrm>
            <a:custGeom>
              <a:avLst/>
              <a:gdLst/>
              <a:ahLst/>
              <a:cxnLst/>
              <a:rect r="r" b="b" t="t" l="l"/>
              <a:pathLst>
                <a:path h="1702943" w="11000486">
                  <a:moveTo>
                    <a:pt x="0" y="102235"/>
                  </a:moveTo>
                  <a:cubicBezTo>
                    <a:pt x="0" y="45720"/>
                    <a:pt x="45720" y="0"/>
                    <a:pt x="102235" y="0"/>
                  </a:cubicBezTo>
                  <a:lnTo>
                    <a:pt x="10898251" y="0"/>
                  </a:lnTo>
                  <a:cubicBezTo>
                    <a:pt x="10954639" y="0"/>
                    <a:pt x="11000486" y="45720"/>
                    <a:pt x="11000486" y="102235"/>
                  </a:cubicBezTo>
                  <a:lnTo>
                    <a:pt x="11000486" y="1600708"/>
                  </a:lnTo>
                  <a:cubicBezTo>
                    <a:pt x="11000486" y="1657096"/>
                    <a:pt x="10954766" y="1702943"/>
                    <a:pt x="10898251" y="1702943"/>
                  </a:cubicBezTo>
                  <a:lnTo>
                    <a:pt x="102235" y="1702943"/>
                  </a:lnTo>
                  <a:cubicBezTo>
                    <a:pt x="45847" y="1702943"/>
                    <a:pt x="0" y="1657223"/>
                    <a:pt x="0" y="1600708"/>
                  </a:cubicBezTo>
                  <a:close/>
                </a:path>
              </a:pathLst>
            </a:custGeom>
            <a:solidFill>
              <a:srgbClr val="FBFAF9"/>
            </a:solidFill>
            <a:ln w="14299" cap="sq">
              <a:solidFill>
                <a:srgbClr val="ECE9E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811931" y="5353421"/>
            <a:ext cx="137265" cy="1262863"/>
            <a:chOff x="0" y="0"/>
            <a:chExt cx="183020" cy="1683817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83007" cy="1683766"/>
            </a:xfrm>
            <a:custGeom>
              <a:avLst/>
              <a:gdLst/>
              <a:ahLst/>
              <a:cxnLst/>
              <a:rect r="r" b="b" t="t" l="l"/>
              <a:pathLst>
                <a:path h="1683766" w="183007">
                  <a:moveTo>
                    <a:pt x="0" y="0"/>
                  </a:moveTo>
                  <a:lnTo>
                    <a:pt x="183007" y="0"/>
                  </a:lnTo>
                  <a:lnTo>
                    <a:pt x="183007" y="1683766"/>
                  </a:lnTo>
                  <a:lnTo>
                    <a:pt x="0" y="1683766"/>
                  </a:lnTo>
                  <a:close/>
                </a:path>
              </a:pathLst>
            </a:custGeom>
            <a:solidFill>
              <a:srgbClr val="7C5CFF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2168823" y="5518147"/>
            <a:ext cx="7686961" cy="4118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1"/>
              </a:lnSpc>
            </a:pPr>
            <a:r>
              <a:rPr lang="en-US" sz="1726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Margin &amp; FX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168823" y="5892965"/>
            <a:ext cx="7686961" cy="695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Forecasts hold margin at 38.7% and assume no FX shock. EUR/GBP swung ~6% — a weaker pound compresses 27% of revenue.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0569578" y="2470814"/>
            <a:ext cx="6314294" cy="4461186"/>
            <a:chOff x="0" y="0"/>
            <a:chExt cx="8419059" cy="5948248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419084" cy="5948172"/>
            </a:xfrm>
            <a:custGeom>
              <a:avLst/>
              <a:gdLst/>
              <a:ahLst/>
              <a:cxnLst/>
              <a:rect r="r" b="b" t="t" l="l"/>
              <a:pathLst>
                <a:path h="5948172" w="8419084">
                  <a:moveTo>
                    <a:pt x="0" y="356870"/>
                  </a:moveTo>
                  <a:cubicBezTo>
                    <a:pt x="0" y="159766"/>
                    <a:pt x="159766" y="0"/>
                    <a:pt x="356870" y="0"/>
                  </a:cubicBezTo>
                  <a:lnTo>
                    <a:pt x="8062214" y="0"/>
                  </a:lnTo>
                  <a:cubicBezTo>
                    <a:pt x="8259318" y="0"/>
                    <a:pt x="8419084" y="159766"/>
                    <a:pt x="8419084" y="356870"/>
                  </a:cubicBezTo>
                  <a:lnTo>
                    <a:pt x="8419084" y="5591302"/>
                  </a:lnTo>
                  <a:cubicBezTo>
                    <a:pt x="8419084" y="5788406"/>
                    <a:pt x="8259318" y="5948172"/>
                    <a:pt x="8062214" y="5948172"/>
                  </a:cubicBezTo>
                  <a:lnTo>
                    <a:pt x="356870" y="5948172"/>
                  </a:lnTo>
                  <a:cubicBezTo>
                    <a:pt x="159766" y="5948172"/>
                    <a:pt x="0" y="5788406"/>
                    <a:pt x="0" y="5591302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6B6D4">
                    <a:alpha val="100000"/>
                  </a:srgbClr>
                </a:gs>
                <a:gs pos="100000">
                  <a:srgbClr val="22D3EE">
                    <a:alpha val="100000"/>
                  </a:srgbClr>
                </a:gs>
              </a:gsLst>
              <a:lin ang="18900000"/>
            </a:gra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10981382" y="2882608"/>
            <a:ext cx="5490686" cy="54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THE BOTTOM LINE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0981382" y="3549901"/>
            <a:ext cx="5559323" cy="3176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2"/>
              </a:lnSpc>
            </a:pPr>
            <a:r>
              <a:rPr lang="en-US" sz="1951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 profitable, growing business</a:t>
            </a:r>
          </a:p>
          <a:p>
            <a:pPr algn="l">
              <a:lnSpc>
                <a:spcPts val="2100"/>
              </a:lnSpc>
            </a:pPr>
            <a:r>
              <a:rPr lang="en-US" sz="165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held back by an over-optimistic plan, not by execution.</a:t>
            </a:r>
          </a:p>
          <a:p>
            <a:pPr algn="l">
              <a:lnSpc>
                <a:spcPts val="1336"/>
              </a:lnSpc>
            </a:pPr>
          </a:p>
          <a:p>
            <a:pPr algn="l">
              <a:lnSpc>
                <a:spcPts val="2100"/>
              </a:lnSpc>
            </a:pPr>
            <a:r>
              <a:rPr lang="en-US" sz="1651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Rebaseline, back the winners, protect margin → €2.5M in 2025.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811931" y="7608808"/>
            <a:ext cx="15099392" cy="1656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3"/>
              </a:lnSpc>
            </a:pPr>
            <a:r>
              <a:rPr lang="en-US" sz="3302" b="true">
                <a:solidFill>
                  <a:srgbClr val="1A1625"/>
                </a:solidFill>
                <a:latin typeface="Inter Bold"/>
                <a:ea typeface="Inter Bold"/>
                <a:cs typeface="Inter Bold"/>
                <a:sym typeface="Inter Bold"/>
              </a:rPr>
              <a:t>Thank you.  </a:t>
            </a:r>
            <a:r>
              <a:rPr lang="en-US" sz="3302" b="true">
                <a:solidFill>
                  <a:srgbClr val="FF4D8D"/>
                </a:solidFill>
                <a:latin typeface="Inter Bold"/>
                <a:ea typeface="Inter Bold"/>
                <a:cs typeface="Inter Bold"/>
                <a:sym typeface="Inter Bold"/>
              </a:rPr>
              <a:t>Questions?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839382" y="8716470"/>
            <a:ext cx="15099392" cy="549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EuroFoods S.A. · FP&amp;A Analytics · Live Power BI dashboard + interactive companion available on screen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839382" y="9094175"/>
            <a:ext cx="15099392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1"/>
              </a:lnSpc>
            </a:pPr>
            <a:r>
              <a:rPr lang="en-US" sz="157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Matté</a:t>
            </a:r>
            <a:r>
              <a:rPr lang="en-US" sz="1576">
                <a:solidFill>
                  <a:srgbClr val="6B6478"/>
                </a:solidFill>
                <a:latin typeface="Inter"/>
                <a:ea typeface="Inter"/>
                <a:cs typeface="Inter"/>
                <a:sym typeface="Inter"/>
              </a:rPr>
              <a:t>o DAVID, James WILLEMS, Corentin CHARPENTIER, Kirsten CHANG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DAHM6_faLm8</dc:identifier>
  <dcterms:modified xsi:type="dcterms:W3CDTF">2011-08-01T06:04:30Z</dcterms:modified>
  <cp:revision>1</cp:revision>
  <dc:title>Monthly revenue</dc:title>
</cp:coreProperties>
</file>